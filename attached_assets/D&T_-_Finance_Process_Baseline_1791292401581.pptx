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notesSlides/notesSlide6.xml" ContentType="application/vnd.openxmlformats-officedocument.presentationml.notesSlide+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notesSlides/notesSlide9.xml" ContentType="application/vnd.openxmlformats-officedocument.presentationml.notesSlide+xml"/>
  <Override PartName="/ppt/tags/tag21.xml" ContentType="application/vnd.openxmlformats-officedocument.presentationml.tags+xml"/>
  <Override PartName="/ppt/notesSlides/notesSlide10.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 id="2147483752" r:id="rId5"/>
  </p:sldMasterIdLst>
  <p:notesMasterIdLst>
    <p:notesMasterId r:id="rId29"/>
  </p:notesMasterIdLst>
  <p:handoutMasterIdLst>
    <p:handoutMasterId r:id="rId30"/>
  </p:handoutMasterIdLst>
  <p:sldIdLst>
    <p:sldId id="2147481997" r:id="rId6"/>
    <p:sldId id="2147482138" r:id="rId7"/>
    <p:sldId id="2147482131" r:id="rId8"/>
    <p:sldId id="2147482121" r:id="rId9"/>
    <p:sldId id="2147482133" r:id="rId10"/>
    <p:sldId id="2147482134" r:id="rId11"/>
    <p:sldId id="2147482135" r:id="rId12"/>
    <p:sldId id="2147482136" r:id="rId13"/>
    <p:sldId id="2147481988" r:id="rId14"/>
    <p:sldId id="2147481989" r:id="rId15"/>
    <p:sldId id="2147481983" r:id="rId16"/>
    <p:sldId id="2147481990" r:id="rId17"/>
    <p:sldId id="2147481991" r:id="rId18"/>
    <p:sldId id="2147481992" r:id="rId19"/>
    <p:sldId id="2147481993" r:id="rId20"/>
    <p:sldId id="2147481994" r:id="rId21"/>
    <p:sldId id="2147481995" r:id="rId22"/>
    <p:sldId id="2147481996" r:id="rId23"/>
    <p:sldId id="2147482087" r:id="rId24"/>
    <p:sldId id="2147482128" r:id="rId25"/>
    <p:sldId id="2147482120" r:id="rId26"/>
    <p:sldId id="2147482129" r:id="rId27"/>
    <p:sldId id="2147482130" r:id="rId28"/>
  </p:sldIdLst>
  <p:sldSz cx="12192000" cy="6858000"/>
  <p:notesSz cx="6858000" cy="9144000"/>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E21CE9-32C6-4CAB-9B81-9148319A6873}">
          <p14:sldIdLst>
            <p14:sldId id="2147481997"/>
            <p14:sldId id="2147482138"/>
            <p14:sldId id="2147482131"/>
            <p14:sldId id="2147482121"/>
            <p14:sldId id="2147482133"/>
            <p14:sldId id="2147482134"/>
            <p14:sldId id="2147482135"/>
            <p14:sldId id="2147482136"/>
          </p14:sldIdLst>
        </p14:section>
        <p14:section name="Detailed process" id="{CF85F64C-C873-4331-989A-24E63B0A5154}">
          <p14:sldIdLst>
            <p14:sldId id="2147481988"/>
            <p14:sldId id="2147481989"/>
            <p14:sldId id="2147481983"/>
            <p14:sldId id="2147481990"/>
            <p14:sldId id="2147481991"/>
            <p14:sldId id="2147481992"/>
            <p14:sldId id="2147481993"/>
            <p14:sldId id="2147481994"/>
            <p14:sldId id="2147481995"/>
            <p14:sldId id="2147481996"/>
            <p14:sldId id="2147482087"/>
          </p14:sldIdLst>
        </p14:section>
        <p14:section name="Graveyard" id="{6D8D487C-307C-43D1-AA7E-BC5CA22A3734}">
          <p14:sldIdLst>
            <p14:sldId id="2147482128"/>
            <p14:sldId id="2147482120"/>
            <p14:sldId id="2147482129"/>
            <p14:sldId id="2147482130"/>
          </p14:sldIdLst>
        </p14:section>
      </p14:sectionLst>
    </p:ext>
    <p:ext uri="{EFAFB233-063F-42B5-8137-9DF3F51BA10A}">
      <p15:sldGuideLst xmlns:p15="http://schemas.microsoft.com/office/powerpoint/2012/main">
        <p15:guide id="1" pos="302" userDrawn="1">
          <p15:clr>
            <a:srgbClr val="A4A3A4"/>
          </p15:clr>
        </p15:guide>
        <p15:guide id="2" pos="7378" userDrawn="1">
          <p15:clr>
            <a:srgbClr val="A4A3A4"/>
          </p15:clr>
        </p15:guide>
        <p15:guide id="3" orient="horz" pos="3936" userDrawn="1">
          <p15:clr>
            <a:srgbClr val="A4A3A4"/>
          </p15:clr>
        </p15:guide>
        <p15:guide id="4" orient="horz" pos="960" userDrawn="1">
          <p15:clr>
            <a:srgbClr val="A4A3A4"/>
          </p15:clr>
        </p15:guide>
        <p15:guide id="5" orient="horz" pos="6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9D40AF-406E-D54C-5043-56D435D5B117}" name="Esther Vazquez" initials="" userId="S::estrodri7@publicisgroupe.net::8177cad9-db58-4563-b770-ec6ebf12d609" providerId="AD"/>
  <p188:author id="{DA701BEF-3669-7756-D321-4D287F61E0DE}" name="Firat Sik" initials="FS" userId="S::firsik@publicisgroupe.net::5fac431f-4a35-4d2b-b9a9-f8b9029bf91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FFE"/>
    <a:srgbClr val="D7D7D7"/>
    <a:srgbClr val="F5C8A7"/>
    <a:srgbClr val="C1BCFC"/>
    <a:srgbClr val="CCCCDF"/>
    <a:srgbClr val="F0F0F0"/>
    <a:srgbClr val="E1ECE7"/>
    <a:srgbClr val="EDEDED"/>
    <a:srgbClr val="A7A7A7"/>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howGuides="1">
      <p:cViewPr varScale="1">
        <p:scale>
          <a:sx n="66" d="100"/>
          <a:sy n="66" d="100"/>
        </p:scale>
        <p:origin x="0" y="0"/>
      </p:cViewPr>
      <p:guideLst>
        <p:guide pos="302"/>
        <p:guide pos="7378"/>
        <p:guide orient="horz" pos="3936"/>
        <p:guide orient="horz" pos="960"/>
        <p:guide orient="horz" pos="600"/>
      </p:guideLst>
    </p:cSldViewPr>
  </p:slide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Vazquez" userId="8177cad9-db58-4563-b770-ec6ebf12d609" providerId="ADAL" clId="{80DA6D0F-DAAE-4BDF-B265-45CD52805FD5}"/>
    <pc:docChg chg="undo redo custSel addSld delSld modSld sldOrd delMainMaster modSection">
      <pc:chgData name="Esther Vazquez" userId="8177cad9-db58-4563-b770-ec6ebf12d609" providerId="ADAL" clId="{80DA6D0F-DAAE-4BDF-B265-45CD52805FD5}" dt="2025-10-08T07:07:09.011" v="3179" actId="478"/>
      <pc:docMkLst>
        <pc:docMk/>
      </pc:docMkLst>
      <pc:sldChg chg="addSp delSp modSp add mod">
        <pc:chgData name="Esther Vazquez" userId="8177cad9-db58-4563-b770-ec6ebf12d609" providerId="ADAL" clId="{80DA6D0F-DAAE-4BDF-B265-45CD52805FD5}" dt="2025-10-08T07:07:09.011" v="3179" actId="478"/>
        <pc:sldMkLst>
          <pc:docMk/>
          <pc:sldMk cId="2215936941" sldId="214748199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FC3760-E832-F090-4D15-958678598D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B1DCAA-9C58-7A87-FE87-B24573A3680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D82B6A-9DC9-475C-A370-6BC4A02A635A}" type="datetimeFigureOut">
              <a:rPr lang="en-US" smtClean="0"/>
              <a:t>11/17/2025</a:t>
            </a:fld>
            <a:endParaRPr lang="en-US"/>
          </a:p>
        </p:txBody>
      </p:sp>
      <p:sp>
        <p:nvSpPr>
          <p:cNvPr id="4" name="Footer Placeholder 3">
            <a:extLst>
              <a:ext uri="{FF2B5EF4-FFF2-40B4-BE49-F238E27FC236}">
                <a16:creationId xmlns:a16="http://schemas.microsoft.com/office/drawing/2014/main" id="{69ACDA74-4B04-93B0-754A-DBB02C2EDF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83A47F7-22F5-949C-E683-B7CFB14C78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919D4D-19CF-4D2E-8C41-B8FCFDFBAD6D}" type="slidenum">
              <a:rPr lang="en-US" smtClean="0"/>
              <a:t>‹#›</a:t>
            </a:fld>
            <a:endParaRPr lang="en-US"/>
          </a:p>
        </p:txBody>
      </p:sp>
    </p:spTree>
    <p:extLst>
      <p:ext uri="{BB962C8B-B14F-4D97-AF65-F5344CB8AC3E}">
        <p14:creationId xmlns:p14="http://schemas.microsoft.com/office/powerpoint/2010/main" val="114397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12DF9-2CDE-2E43-B5DF-5C58268E0EC1}" type="datetimeFigureOut">
              <a:rPr lang="en-SA" smtClean="0"/>
              <a:t>11/17/2025</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8DE19-52FC-3C4D-83B4-7A2749B5095C}" type="slidenum">
              <a:rPr lang="en-SA" smtClean="0"/>
              <a:t>‹#›</a:t>
            </a:fld>
            <a:endParaRPr lang="en-SA"/>
          </a:p>
        </p:txBody>
      </p:sp>
    </p:spTree>
    <p:extLst>
      <p:ext uri="{BB962C8B-B14F-4D97-AF65-F5344CB8AC3E}">
        <p14:creationId xmlns:p14="http://schemas.microsoft.com/office/powerpoint/2010/main" val="2557457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AAEBF-D16E-7EDF-506D-CB8E1CE07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3F87B-8285-FF76-7814-57BEFD7C6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266C6-0ED7-447E-49A5-DB6D27B801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C74416-AFC3-D0FC-5873-826585CDB9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0137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6B5D5-370B-9146-E7E4-F71709A3B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6B1E9-DA9F-1082-DF9B-6A957D109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F7FF8-8732-6A0E-4E48-B1197932A2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E96EB9-A679-C0D8-2F2B-D963806C53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219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DD85-F8B1-AD03-9622-486742DE2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6538C-346F-9C78-AB57-AF7658BA69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8DFF9-7BAB-76AF-D16D-D351C41110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409A31-0A09-3204-D312-7F21CC0AFF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73175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6C4D-FADD-A40B-0E45-BE61B75B9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0213-A9D1-F390-F8B2-3BD876C029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B05E3-BD86-05BB-1987-E29EAFA6BE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FF9BAF-8485-1B7C-414D-2144D4C9B5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826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7D440-692E-5D25-0F74-8D6993067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AE5A6-578A-285B-4D61-B4DB35B96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18F35-C408-B68C-A36F-87C06850E1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8C4C4B-EE0B-0535-519F-26BB986AA1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807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C72E0-2726-DE71-36F5-5710D54F0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CB14A-C95F-8941-9CB2-B32591005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2D99AD-8F84-0ABA-F5C5-FAF4A0E895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9DC3AE-1E71-84F1-3827-467E382587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7292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2C613-C026-20DD-29A7-B0DA6A946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B69EA-6B05-0B30-09AD-EC4BBB3E7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C5102-2EA3-C0B1-812E-651DBDF56B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16D7EC-B85E-9B66-4FCF-C061DF430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5571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D203A-DE1B-4224-B226-D9BFBB9F1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06D4B-4CD4-DA95-3973-6F9083FE8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99530-9610-D232-2B37-CC1BD89F5F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FF6A30-C047-349D-0AF6-E08EAD28EA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37274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A046-A197-0C1E-2DB1-73C2C4D4F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88518-185C-3347-1C53-FEE69D81A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77501-8552-15BF-B315-B1244D084C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9066BD-18AD-FD59-DF59-1A97F74D6B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7038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D33E2-2EA3-2DDB-F0DE-18C810947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1EFCF-C5E2-8B6F-102C-9469EDD8A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A497C-2F0E-32B0-227E-07B4027043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C6AC89-4E35-33E6-0DC2-8332D593C1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8DE19-52FC-3C4D-83B4-7A2749B5095C}" type="slidenum">
              <a:rPr kumimoji="0" lang="en-S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S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38707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blue and white background&#10;&#10;Description automatically generated with medium confidence">
            <a:extLst>
              <a:ext uri="{FF2B5EF4-FFF2-40B4-BE49-F238E27FC236}">
                <a16:creationId xmlns:a16="http://schemas.microsoft.com/office/drawing/2014/main" id="{9857F163-B5F3-EEF6-D247-A92647770AB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F2B1FAB-5387-3E55-E48B-5FF0597AB175}"/>
              </a:ext>
            </a:extLst>
          </p:cNvPr>
          <p:cNvSpPr>
            <a:spLocks noGrp="1"/>
          </p:cNvSpPr>
          <p:nvPr>
            <p:ph type="ctrTitle"/>
          </p:nvPr>
        </p:nvSpPr>
        <p:spPr>
          <a:xfrm>
            <a:off x="1524000" y="1122363"/>
            <a:ext cx="9144000" cy="2387600"/>
          </a:xfrm>
        </p:spPr>
        <p:txBody>
          <a:bodyPr anchor="b"/>
          <a:lstStyle>
            <a:lvl1pPr algn="l">
              <a:defRPr sz="4400">
                <a:solidFill>
                  <a:schemeClr val="bg1"/>
                </a:solidFill>
              </a:defRPr>
            </a:lvl1pPr>
          </a:lstStyle>
          <a:p>
            <a:r>
              <a:rPr lang="en-US"/>
              <a:t>Click to edit Master title style</a:t>
            </a:r>
            <a:endParaRPr lang="en-SA"/>
          </a:p>
        </p:txBody>
      </p:sp>
      <p:sp>
        <p:nvSpPr>
          <p:cNvPr id="3" name="Subtitle 2">
            <a:extLst>
              <a:ext uri="{FF2B5EF4-FFF2-40B4-BE49-F238E27FC236}">
                <a16:creationId xmlns:a16="http://schemas.microsoft.com/office/drawing/2014/main" id="{139170BE-4757-AA74-B4D0-450BE577589D}"/>
              </a:ext>
            </a:extLst>
          </p:cNvPr>
          <p:cNvSpPr>
            <a:spLocks noGrp="1"/>
          </p:cNvSpPr>
          <p:nvPr>
            <p:ph type="subTitle" idx="1"/>
          </p:nvPr>
        </p:nvSpPr>
        <p:spPr>
          <a:xfrm>
            <a:off x="1524000" y="3602038"/>
            <a:ext cx="9144000" cy="1655762"/>
          </a:xfrm>
        </p:spPr>
        <p:txBody>
          <a:bodyPr>
            <a:normAutofit/>
          </a:bodyPr>
          <a:lstStyle>
            <a:lvl1pPr marL="0" indent="0" algn="l">
              <a:buNone/>
              <a:defRPr sz="16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A"/>
          </a:p>
        </p:txBody>
      </p:sp>
      <p:sp>
        <p:nvSpPr>
          <p:cNvPr id="4" name="Date Placeholder 3">
            <a:extLst>
              <a:ext uri="{FF2B5EF4-FFF2-40B4-BE49-F238E27FC236}">
                <a16:creationId xmlns:a16="http://schemas.microsoft.com/office/drawing/2014/main" id="{BEF8781B-61D3-D2C8-18B5-874D07266AF9}"/>
              </a:ext>
            </a:extLst>
          </p:cNvPr>
          <p:cNvSpPr>
            <a:spLocks noGrp="1"/>
          </p:cNvSpPr>
          <p:nvPr>
            <p:ph type="dt" sz="half" idx="10"/>
          </p:nvPr>
        </p:nvSpPr>
        <p:spPr/>
        <p:txBody>
          <a:bodyPr/>
          <a:lstStyle/>
          <a:p>
            <a:endParaRPr lang="en-SA"/>
          </a:p>
        </p:txBody>
      </p:sp>
      <p:sp>
        <p:nvSpPr>
          <p:cNvPr id="5" name="Footer Placeholder 4">
            <a:extLst>
              <a:ext uri="{FF2B5EF4-FFF2-40B4-BE49-F238E27FC236}">
                <a16:creationId xmlns:a16="http://schemas.microsoft.com/office/drawing/2014/main" id="{707D1239-0339-A9C5-8004-A7DD3F325867}"/>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527905A9-E44E-F6F6-627A-F3357F741DBA}"/>
              </a:ext>
            </a:extLst>
          </p:cNvPr>
          <p:cNvSpPr>
            <a:spLocks noGrp="1"/>
          </p:cNvSpPr>
          <p:nvPr>
            <p:ph type="sldNum" sz="quarter" idx="12"/>
          </p:nvPr>
        </p:nvSpPr>
        <p:spPr/>
        <p:txBody>
          <a:bodyPr/>
          <a:lstStyle/>
          <a:p>
            <a:fld id="{0B5D68DA-F15D-0F40-9055-781099452C22}" type="slidenum">
              <a:rPr lang="en-SA" smtClean="0"/>
              <a:t>‹#›</a:t>
            </a:fld>
            <a:endParaRPr lang="en-SA"/>
          </a:p>
        </p:txBody>
      </p:sp>
      <p:sp>
        <p:nvSpPr>
          <p:cNvPr id="7" name="Rectangle 6">
            <a:extLst>
              <a:ext uri="{FF2B5EF4-FFF2-40B4-BE49-F238E27FC236}">
                <a16:creationId xmlns:a16="http://schemas.microsoft.com/office/drawing/2014/main" id="{3841B8D9-690F-B087-9DBB-C6C4FF854296}"/>
              </a:ext>
            </a:extLst>
          </p:cNvPr>
          <p:cNvSpPr/>
          <p:nvPr userDrawn="1"/>
        </p:nvSpPr>
        <p:spPr>
          <a:xfrm>
            <a:off x="530492" y="530492"/>
            <a:ext cx="2024244" cy="43276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pic>
        <p:nvPicPr>
          <p:cNvPr id="9" name="Graphic 8">
            <a:extLst>
              <a:ext uri="{FF2B5EF4-FFF2-40B4-BE49-F238E27FC236}">
                <a16:creationId xmlns:a16="http://schemas.microsoft.com/office/drawing/2014/main" id="{E8B77062-F795-689A-832B-359170D3FD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875531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5348-5C71-3BFD-02EB-E268182BB260}"/>
              </a:ext>
            </a:extLst>
          </p:cNvPr>
          <p:cNvSpPr>
            <a:spLocks noGrp="1"/>
          </p:cNvSpPr>
          <p:nvPr>
            <p:ph type="title"/>
          </p:nvPr>
        </p:nvSpPr>
        <p:spPr>
          <a:xfrm>
            <a:off x="1128698" y="4762803"/>
            <a:ext cx="10581439" cy="1205058"/>
          </a:xfrm>
        </p:spPr>
        <p:txBody>
          <a:bodyPr vert="horz" lIns="91440" tIns="45720" rIns="91440" bIns="45720" rtlCol="0" anchor="ctr">
            <a:normAutofit/>
          </a:bodyPr>
          <a:lstStyle>
            <a:lvl1pPr>
              <a:defRPr lang="en-SA" sz="5400" dirty="0">
                <a:solidFill>
                  <a:schemeClr val="accent2"/>
                </a:solidFill>
                <a:latin typeface="Montserrat-Arabic" pitchFamily="2" charset="-78"/>
                <a:cs typeface="Montserrat-Arabic" pitchFamily="2" charset="-78"/>
              </a:defRPr>
            </a:lvl1pPr>
          </a:lstStyle>
          <a:p>
            <a:pPr marL="0" lvl="0" rtl="1"/>
            <a:r>
              <a:rPr lang="en-US"/>
              <a:t>Click to edit Master title style</a:t>
            </a:r>
            <a:endParaRPr lang="en-SA"/>
          </a:p>
        </p:txBody>
      </p:sp>
      <p:sp>
        <p:nvSpPr>
          <p:cNvPr id="3" name="Text Placeholder 2">
            <a:extLst>
              <a:ext uri="{FF2B5EF4-FFF2-40B4-BE49-F238E27FC236}">
                <a16:creationId xmlns:a16="http://schemas.microsoft.com/office/drawing/2014/main" id="{1932AAC7-3F76-2905-A3CF-9FA2243AAFBE}"/>
              </a:ext>
            </a:extLst>
          </p:cNvPr>
          <p:cNvSpPr>
            <a:spLocks noGrp="1"/>
          </p:cNvSpPr>
          <p:nvPr>
            <p:ph type="body" idx="1"/>
          </p:nvPr>
        </p:nvSpPr>
        <p:spPr>
          <a:xfrm>
            <a:off x="481863" y="2474914"/>
            <a:ext cx="1137387" cy="654050"/>
          </a:xfrm>
        </p:spPr>
        <p:txBody>
          <a:bodyPr>
            <a:normAutofit/>
          </a:bodyPr>
          <a:lstStyle>
            <a:lvl1pPr marL="0" indent="0">
              <a:buNone/>
              <a:defRPr sz="1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28A84-FA36-784B-7BCB-B2DCBB702DE8}"/>
              </a:ext>
            </a:extLst>
          </p:cNvPr>
          <p:cNvSpPr>
            <a:spLocks noGrp="1"/>
          </p:cNvSpPr>
          <p:nvPr>
            <p:ph type="dt" sz="half" idx="10"/>
          </p:nvPr>
        </p:nvSpPr>
        <p:spPr>
          <a:xfrm>
            <a:off x="1128698" y="6227339"/>
            <a:ext cx="2743200" cy="365125"/>
          </a:xfrm>
        </p:spPr>
        <p:txBody>
          <a:bodyPr/>
          <a:lstStyle/>
          <a:p>
            <a:endParaRPr lang="en-SA"/>
          </a:p>
        </p:txBody>
      </p:sp>
      <p:sp>
        <p:nvSpPr>
          <p:cNvPr id="5" name="Footer Placeholder 4">
            <a:extLst>
              <a:ext uri="{FF2B5EF4-FFF2-40B4-BE49-F238E27FC236}">
                <a16:creationId xmlns:a16="http://schemas.microsoft.com/office/drawing/2014/main" id="{301077E0-8186-A593-4069-12A615FBF87A}"/>
              </a:ext>
            </a:extLst>
          </p:cNvPr>
          <p:cNvSpPr>
            <a:spLocks noGrp="1"/>
          </p:cNvSpPr>
          <p:nvPr>
            <p:ph type="ftr" sz="quarter" idx="11"/>
          </p:nvPr>
        </p:nvSpPr>
        <p:spPr>
          <a:xfrm>
            <a:off x="4329098" y="6227339"/>
            <a:ext cx="4114800" cy="365125"/>
          </a:xfrm>
        </p:spPr>
        <p:txBody>
          <a:bodyPr/>
          <a:lstStyle/>
          <a:p>
            <a:endParaRPr lang="en-SA"/>
          </a:p>
        </p:txBody>
      </p:sp>
      <p:sp>
        <p:nvSpPr>
          <p:cNvPr id="6" name="Slide Number Placeholder 5">
            <a:extLst>
              <a:ext uri="{FF2B5EF4-FFF2-40B4-BE49-F238E27FC236}">
                <a16:creationId xmlns:a16="http://schemas.microsoft.com/office/drawing/2014/main" id="{54F6EF12-47BF-361E-6FF0-603059C2D9AE}"/>
              </a:ext>
            </a:extLst>
          </p:cNvPr>
          <p:cNvSpPr>
            <a:spLocks noGrp="1"/>
          </p:cNvSpPr>
          <p:nvPr>
            <p:ph type="sldNum" sz="quarter" idx="12"/>
          </p:nvPr>
        </p:nvSpPr>
        <p:spPr>
          <a:xfrm>
            <a:off x="11282926" y="6227339"/>
            <a:ext cx="495618" cy="365125"/>
          </a:xfrm>
        </p:spPr>
        <p:txBody>
          <a:bodyPr/>
          <a:lstStyle>
            <a:lvl1pPr>
              <a:defRPr lang="en-SA" sz="1800" smtClean="0">
                <a:solidFill>
                  <a:schemeClr val="tx1"/>
                </a:solidFill>
              </a:defRPr>
            </a:lvl1pPr>
          </a:lstStyle>
          <a:p>
            <a:pPr algn="l"/>
            <a:fld id="{0B5D68DA-F15D-0F40-9055-781099452C22}" type="slidenum">
              <a:rPr lang="en-US" smtClean="0"/>
              <a:pPr algn="l"/>
              <a:t>‹#›</a:t>
            </a:fld>
            <a:endParaRPr lang="en-US"/>
          </a:p>
        </p:txBody>
      </p:sp>
      <p:grpSp>
        <p:nvGrpSpPr>
          <p:cNvPr id="12" name="Graphic 9">
            <a:extLst>
              <a:ext uri="{FF2B5EF4-FFF2-40B4-BE49-F238E27FC236}">
                <a16:creationId xmlns:a16="http://schemas.microsoft.com/office/drawing/2014/main" id="{74655B69-6D60-B801-20C4-E6D410E810B9}"/>
              </a:ext>
            </a:extLst>
          </p:cNvPr>
          <p:cNvGrpSpPr/>
          <p:nvPr userDrawn="1"/>
        </p:nvGrpSpPr>
        <p:grpSpPr>
          <a:xfrm>
            <a:off x="2316035" y="1029181"/>
            <a:ext cx="9875964" cy="3457828"/>
            <a:chOff x="2316035" y="1029181"/>
            <a:chExt cx="9875964" cy="3457828"/>
          </a:xfrm>
          <a:noFill/>
        </p:grpSpPr>
        <p:grpSp>
          <p:nvGrpSpPr>
            <p:cNvPr id="13" name="Graphic 9">
              <a:extLst>
                <a:ext uri="{FF2B5EF4-FFF2-40B4-BE49-F238E27FC236}">
                  <a16:creationId xmlns:a16="http://schemas.microsoft.com/office/drawing/2014/main" id="{4E08D199-635A-CC67-3B7C-DC098CB94EBB}"/>
                </a:ext>
              </a:extLst>
            </p:cNvPr>
            <p:cNvGrpSpPr/>
            <p:nvPr/>
          </p:nvGrpSpPr>
          <p:grpSpPr>
            <a:xfrm>
              <a:off x="7971663" y="1029181"/>
              <a:ext cx="4220336" cy="3457828"/>
              <a:chOff x="7971663" y="1029181"/>
              <a:chExt cx="4220336" cy="3457828"/>
            </a:xfrm>
            <a:noFill/>
          </p:grpSpPr>
          <p:sp>
            <p:nvSpPr>
              <p:cNvPr id="18" name="Freeform: Shape 17">
                <a:extLst>
                  <a:ext uri="{FF2B5EF4-FFF2-40B4-BE49-F238E27FC236}">
                    <a16:creationId xmlns:a16="http://schemas.microsoft.com/office/drawing/2014/main" id="{109AC4E3-CE3F-6DAB-2BBF-B5533B7A431F}"/>
                  </a:ext>
                </a:extLst>
              </p:cNvPr>
              <p:cNvSpPr/>
              <p:nvPr/>
            </p:nvSpPr>
            <p:spPr>
              <a:xfrm>
                <a:off x="11568493" y="2436277"/>
                <a:ext cx="623506" cy="2050732"/>
              </a:xfrm>
              <a:custGeom>
                <a:avLst/>
                <a:gdLst>
                  <a:gd name="connsiteX0" fmla="*/ 0 w 623506"/>
                  <a:gd name="connsiteY0" fmla="*/ 2050732 h 2050732"/>
                  <a:gd name="connsiteX1" fmla="*/ 825 w 623506"/>
                  <a:gd name="connsiteY1" fmla="*/ 88075 h 2050732"/>
                  <a:gd name="connsiteX2" fmla="*/ 623506 w 623506"/>
                  <a:gd name="connsiteY2" fmla="*/ 0 h 2050732"/>
                </a:gdLst>
                <a:ahLst/>
                <a:cxnLst>
                  <a:cxn ang="0">
                    <a:pos x="connsiteX0" y="connsiteY0"/>
                  </a:cxn>
                  <a:cxn ang="0">
                    <a:pos x="connsiteX1" y="connsiteY1"/>
                  </a:cxn>
                  <a:cxn ang="0">
                    <a:pos x="connsiteX2" y="connsiteY2"/>
                  </a:cxn>
                </a:cxnLst>
                <a:rect l="l" t="t" r="r" b="b"/>
                <a:pathLst>
                  <a:path w="623506" h="2050732">
                    <a:moveTo>
                      <a:pt x="0" y="2050732"/>
                    </a:moveTo>
                    <a:lnTo>
                      <a:pt x="825" y="88075"/>
                    </a:lnTo>
                    <a:lnTo>
                      <a:pt x="623506" y="0"/>
                    </a:lnTo>
                  </a:path>
                </a:pathLst>
              </a:custGeom>
              <a:noFill/>
              <a:ln w="10287" cap="flat">
                <a:solidFill>
                  <a:srgbClr val="ADDC91"/>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43ED661A-F945-8A23-2E55-61CD0388DB5F}"/>
                  </a:ext>
                </a:extLst>
              </p:cNvPr>
              <p:cNvSpPr/>
              <p:nvPr/>
            </p:nvSpPr>
            <p:spPr>
              <a:xfrm>
                <a:off x="9348025" y="1029181"/>
                <a:ext cx="2053970" cy="3457828"/>
              </a:xfrm>
              <a:custGeom>
                <a:avLst/>
                <a:gdLst>
                  <a:gd name="connsiteX0" fmla="*/ 2053971 w 2053970"/>
                  <a:gd name="connsiteY0" fmla="*/ 0 h 3457828"/>
                  <a:gd name="connsiteX1" fmla="*/ 1331278 w 2053970"/>
                  <a:gd name="connsiteY1" fmla="*/ 776542 h 3457828"/>
                  <a:gd name="connsiteX2" fmla="*/ 1199769 w 2053970"/>
                  <a:gd name="connsiteY2" fmla="*/ 946658 h 3457828"/>
                  <a:gd name="connsiteX3" fmla="*/ 1050227 w 2053970"/>
                  <a:gd name="connsiteY3" fmla="*/ 1154176 h 3457828"/>
                  <a:gd name="connsiteX4" fmla="*/ 976185 w 2053970"/>
                  <a:gd name="connsiteY4" fmla="*/ 1263206 h 3457828"/>
                  <a:gd name="connsiteX5" fmla="*/ 976185 w 2053970"/>
                  <a:gd name="connsiteY5" fmla="*/ 1263206 h 3457828"/>
                  <a:gd name="connsiteX6" fmla="*/ 0 w 2053970"/>
                  <a:gd name="connsiteY6" fmla="*/ 3457829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970" h="3457828">
                    <a:moveTo>
                      <a:pt x="2053971" y="0"/>
                    </a:moveTo>
                    <a:cubicBezTo>
                      <a:pt x="1793431" y="239713"/>
                      <a:pt x="1551686" y="500063"/>
                      <a:pt x="1331278" y="776542"/>
                    </a:cubicBezTo>
                    <a:cubicBezTo>
                      <a:pt x="1286510" y="832549"/>
                      <a:pt x="1242695" y="889318"/>
                      <a:pt x="1199769" y="946658"/>
                    </a:cubicBezTo>
                    <a:cubicBezTo>
                      <a:pt x="1148652" y="1014984"/>
                      <a:pt x="1098804" y="1084136"/>
                      <a:pt x="1050227" y="1154176"/>
                    </a:cubicBezTo>
                    <a:cubicBezTo>
                      <a:pt x="1025207" y="1190308"/>
                      <a:pt x="1000506" y="1226630"/>
                      <a:pt x="976185" y="1263206"/>
                    </a:cubicBezTo>
                    <a:lnTo>
                      <a:pt x="976185" y="1263206"/>
                    </a:lnTo>
                    <a:cubicBezTo>
                      <a:pt x="529463" y="1933385"/>
                      <a:pt x="196406" y="2677986"/>
                      <a:pt x="0" y="3457829"/>
                    </a:cubicBezTo>
                  </a:path>
                </a:pathLst>
              </a:custGeom>
              <a:noFill/>
              <a:ln w="10287" cap="flat">
                <a:solidFill>
                  <a:srgbClr val="ADDC91"/>
                </a:solid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E989601E-0290-9055-ACEC-326F02F5037F}"/>
                  </a:ext>
                </a:extLst>
              </p:cNvPr>
              <p:cNvSpPr/>
              <p:nvPr/>
            </p:nvSpPr>
            <p:spPr>
              <a:xfrm>
                <a:off x="7971663" y="1029181"/>
                <a:ext cx="1552193" cy="3457828"/>
              </a:xfrm>
              <a:custGeom>
                <a:avLst/>
                <a:gdLst>
                  <a:gd name="connsiteX0" fmla="*/ 0 w 1552193"/>
                  <a:gd name="connsiteY0" fmla="*/ 3457829 h 3457828"/>
                  <a:gd name="connsiteX1" fmla="*/ 11620 w 1552193"/>
                  <a:gd name="connsiteY1" fmla="*/ 3381312 h 3457828"/>
                  <a:gd name="connsiteX2" fmla="*/ 402781 w 1552193"/>
                  <a:gd name="connsiteY2" fmla="*/ 1947164 h 3457828"/>
                  <a:gd name="connsiteX3" fmla="*/ 585216 w 1552193"/>
                  <a:gd name="connsiteY3" fmla="*/ 1522413 h 3457828"/>
                  <a:gd name="connsiteX4" fmla="*/ 1171766 w 1552193"/>
                  <a:gd name="connsiteY4" fmla="*/ 501269 h 3457828"/>
                  <a:gd name="connsiteX5" fmla="*/ 1434402 w 1552193"/>
                  <a:gd name="connsiteY5" fmla="*/ 145415 h 3457828"/>
                  <a:gd name="connsiteX6" fmla="*/ 1552194 w 1552193"/>
                  <a:gd name="connsiteY6" fmla="*/ 0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2193" h="3457828">
                    <a:moveTo>
                      <a:pt x="0" y="3457829"/>
                    </a:moveTo>
                    <a:cubicBezTo>
                      <a:pt x="3683" y="3432302"/>
                      <a:pt x="7556" y="3406839"/>
                      <a:pt x="11620" y="3381312"/>
                    </a:cubicBezTo>
                    <a:cubicBezTo>
                      <a:pt x="89726" y="2890457"/>
                      <a:pt x="221806" y="2409254"/>
                      <a:pt x="402781" y="1947164"/>
                    </a:cubicBezTo>
                    <a:cubicBezTo>
                      <a:pt x="458851" y="1803654"/>
                      <a:pt x="519747" y="1661922"/>
                      <a:pt x="585216" y="1522413"/>
                    </a:cubicBezTo>
                    <a:cubicBezTo>
                      <a:pt x="751967" y="1166622"/>
                      <a:pt x="948309" y="824674"/>
                      <a:pt x="1171766" y="501269"/>
                    </a:cubicBezTo>
                    <a:cubicBezTo>
                      <a:pt x="1255522" y="379921"/>
                      <a:pt x="1343152" y="261239"/>
                      <a:pt x="1434402" y="145415"/>
                    </a:cubicBezTo>
                    <a:cubicBezTo>
                      <a:pt x="1472946" y="96457"/>
                      <a:pt x="1512253" y="47942"/>
                      <a:pt x="1552194" y="0"/>
                    </a:cubicBezTo>
                  </a:path>
                </a:pathLst>
              </a:custGeom>
              <a:noFill/>
              <a:ln w="10287" cap="flat">
                <a:solidFill>
                  <a:srgbClr val="ADDC91"/>
                </a:solid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44B82900-B82A-DEAC-4B0C-2DC9C7277B6C}"/>
                  </a:ext>
                </a:extLst>
              </p:cNvPr>
              <p:cNvSpPr/>
              <p:nvPr/>
            </p:nvSpPr>
            <p:spPr>
              <a:xfrm>
                <a:off x="10323766" y="1592172"/>
                <a:ext cx="1868233" cy="2894774"/>
              </a:xfrm>
              <a:custGeom>
                <a:avLst/>
                <a:gdLst>
                  <a:gd name="connsiteX0" fmla="*/ 1868233 w 1868233"/>
                  <a:gd name="connsiteY0" fmla="*/ 0 h 2894774"/>
                  <a:gd name="connsiteX1" fmla="*/ 355536 w 1868233"/>
                  <a:gd name="connsiteY1" fmla="*/ 213550 h 2894774"/>
                  <a:gd name="connsiteX2" fmla="*/ 508 w 1868233"/>
                  <a:gd name="connsiteY2" fmla="*/ 263652 h 2894774"/>
                  <a:gd name="connsiteX3" fmla="*/ 508 w 1868233"/>
                  <a:gd name="connsiteY3" fmla="*/ 700215 h 2894774"/>
                  <a:gd name="connsiteX4" fmla="*/ 508 w 1868233"/>
                  <a:gd name="connsiteY4" fmla="*/ 700215 h 2894774"/>
                  <a:gd name="connsiteX5" fmla="*/ 0 w 1868233"/>
                  <a:gd name="connsiteY5" fmla="*/ 2894775 h 2894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8233" h="2894774">
                    <a:moveTo>
                      <a:pt x="1868233" y="0"/>
                    </a:moveTo>
                    <a:cubicBezTo>
                      <a:pt x="1363980" y="71183"/>
                      <a:pt x="859727" y="142367"/>
                      <a:pt x="355536" y="213550"/>
                    </a:cubicBezTo>
                    <a:cubicBezTo>
                      <a:pt x="237172" y="230251"/>
                      <a:pt x="118872" y="246952"/>
                      <a:pt x="508" y="263652"/>
                    </a:cubicBezTo>
                    <a:lnTo>
                      <a:pt x="508" y="700215"/>
                    </a:lnTo>
                    <a:cubicBezTo>
                      <a:pt x="508" y="700215"/>
                      <a:pt x="508" y="700215"/>
                      <a:pt x="508" y="700215"/>
                    </a:cubicBezTo>
                    <a:lnTo>
                      <a:pt x="0" y="2894775"/>
                    </a:lnTo>
                  </a:path>
                </a:pathLst>
              </a:custGeom>
              <a:noFill/>
              <a:ln w="10287" cap="flat">
                <a:solidFill>
                  <a:srgbClr val="ADDC91"/>
                </a:solidFill>
                <a:prstDash val="solid"/>
                <a:round/>
              </a:ln>
            </p:spPr>
            <p:txBody>
              <a:bodyPr rtlCol="0" anchor="ctr"/>
              <a:lstStyle/>
              <a:p>
                <a:endParaRPr lang="en-US"/>
              </a:p>
            </p:txBody>
          </p:sp>
          <p:sp>
            <p:nvSpPr>
              <p:cNvPr id="22" name="Freeform: Shape 21">
                <a:extLst>
                  <a:ext uri="{FF2B5EF4-FFF2-40B4-BE49-F238E27FC236}">
                    <a16:creationId xmlns:a16="http://schemas.microsoft.com/office/drawing/2014/main" id="{D11C454F-0F59-9272-CA03-CDF505D91EFC}"/>
                  </a:ext>
                </a:extLst>
              </p:cNvPr>
              <p:cNvSpPr/>
              <p:nvPr/>
            </p:nvSpPr>
            <p:spPr>
              <a:xfrm>
                <a:off x="10324274" y="1855824"/>
                <a:ext cx="1245044" cy="668528"/>
              </a:xfrm>
              <a:custGeom>
                <a:avLst/>
                <a:gdLst>
                  <a:gd name="connsiteX0" fmla="*/ 0 w 1245044"/>
                  <a:gd name="connsiteY0" fmla="*/ 0 h 668528"/>
                  <a:gd name="connsiteX1" fmla="*/ 1245044 w 1245044"/>
                  <a:gd name="connsiteY1" fmla="*/ 668528 h 668528"/>
                </a:gdLst>
                <a:ahLst/>
                <a:cxnLst>
                  <a:cxn ang="0">
                    <a:pos x="connsiteX0" y="connsiteY0"/>
                  </a:cxn>
                  <a:cxn ang="0">
                    <a:pos x="connsiteX1" y="connsiteY1"/>
                  </a:cxn>
                </a:cxnLst>
                <a:rect l="l" t="t" r="r" b="b"/>
                <a:pathLst>
                  <a:path w="1245044" h="668528">
                    <a:moveTo>
                      <a:pt x="0" y="0"/>
                    </a:moveTo>
                    <a:lnTo>
                      <a:pt x="1245044" y="668528"/>
                    </a:lnTo>
                  </a:path>
                </a:pathLst>
              </a:custGeom>
              <a:ln w="10287" cap="flat">
                <a:solidFill>
                  <a:srgbClr val="ADDC91"/>
                </a:solidFill>
                <a:prstDash val="solid"/>
                <a:round/>
              </a:ln>
            </p:spPr>
            <p:txBody>
              <a:bodyPr rtlCol="0" anchor="ctr"/>
              <a:lstStyle/>
              <a:p>
                <a:endParaRPr lang="en-US"/>
              </a:p>
            </p:txBody>
          </p:sp>
        </p:grpSp>
        <p:sp>
          <p:nvSpPr>
            <p:cNvPr id="14" name="Freeform: Shape 13">
              <a:extLst>
                <a:ext uri="{FF2B5EF4-FFF2-40B4-BE49-F238E27FC236}">
                  <a16:creationId xmlns:a16="http://schemas.microsoft.com/office/drawing/2014/main" id="{C92C94D7-7F29-0A73-7429-3A51441933A0}"/>
                </a:ext>
              </a:extLst>
            </p:cNvPr>
            <p:cNvSpPr/>
            <p:nvPr/>
          </p:nvSpPr>
          <p:spPr>
            <a:xfrm>
              <a:off x="3558666" y="1029181"/>
              <a:ext cx="5584761" cy="2627820"/>
            </a:xfrm>
            <a:custGeom>
              <a:avLst/>
              <a:gdLst>
                <a:gd name="connsiteX0" fmla="*/ 5584762 w 5584761"/>
                <a:gd name="connsiteY0" fmla="*/ 0 h 2627820"/>
                <a:gd name="connsiteX1" fmla="*/ 5584762 w 5584761"/>
                <a:gd name="connsiteY1" fmla="*/ 1838389 h 2627820"/>
                <a:gd name="connsiteX2" fmla="*/ 4815777 w 5584761"/>
                <a:gd name="connsiteY2" fmla="*/ 1947164 h 2627820"/>
                <a:gd name="connsiteX3" fmla="*/ 2477 w 5584761"/>
                <a:gd name="connsiteY3" fmla="*/ 2627821 h 2627820"/>
                <a:gd name="connsiteX4" fmla="*/ 1651 w 5584761"/>
                <a:gd name="connsiteY4" fmla="*/ 1781683 h 2627820"/>
                <a:gd name="connsiteX5" fmla="*/ 0 w 5584761"/>
                <a:gd name="connsiteY5" fmla="*/ 0 h 2627820"/>
                <a:gd name="connsiteX6" fmla="*/ 5584762 w 5584761"/>
                <a:gd name="connsiteY6" fmla="*/ 0 h 262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4761" h="2627820">
                  <a:moveTo>
                    <a:pt x="5584762" y="0"/>
                  </a:moveTo>
                  <a:lnTo>
                    <a:pt x="5584762" y="1838389"/>
                  </a:lnTo>
                  <a:lnTo>
                    <a:pt x="4815777" y="1947164"/>
                  </a:lnTo>
                  <a:lnTo>
                    <a:pt x="2477" y="2627821"/>
                  </a:lnTo>
                  <a:lnTo>
                    <a:pt x="1651" y="1781683"/>
                  </a:lnTo>
                  <a:lnTo>
                    <a:pt x="0" y="0"/>
                  </a:lnTo>
                  <a:lnTo>
                    <a:pt x="5584762" y="0"/>
                  </a:lnTo>
                  <a:close/>
                </a:path>
              </a:pathLst>
            </a:custGeom>
            <a:noFill/>
            <a:ln w="10287" cap="flat">
              <a:solidFill>
                <a:srgbClr val="ADDC91"/>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040CDCB6-8905-1313-4BD4-5B30394E9A4A}"/>
                </a:ext>
              </a:extLst>
            </p:cNvPr>
            <p:cNvSpPr/>
            <p:nvPr/>
          </p:nvSpPr>
          <p:spPr>
            <a:xfrm>
              <a:off x="2321941" y="1029181"/>
              <a:ext cx="5578855" cy="1956180"/>
            </a:xfrm>
            <a:custGeom>
              <a:avLst/>
              <a:gdLst>
                <a:gd name="connsiteX0" fmla="*/ 5578856 w 5578855"/>
                <a:gd name="connsiteY0" fmla="*/ 1168908 h 1956180"/>
                <a:gd name="connsiteX1" fmla="*/ 4878134 w 5578855"/>
                <a:gd name="connsiteY1" fmla="*/ 1267841 h 1956180"/>
                <a:gd name="connsiteX2" fmla="*/ 1238377 w 5578855"/>
                <a:gd name="connsiteY2" fmla="*/ 1781683 h 1956180"/>
                <a:gd name="connsiteX3" fmla="*/ 2223 w 5578855"/>
                <a:gd name="connsiteY3" fmla="*/ 1956181 h 1956180"/>
                <a:gd name="connsiteX4" fmla="*/ 0 w 5578855"/>
                <a:gd name="connsiteY4" fmla="*/ 0 h 1956180"/>
                <a:gd name="connsiteX5" fmla="*/ 5578603 w 5578855"/>
                <a:gd name="connsiteY5" fmla="*/ 0 h 1956180"/>
                <a:gd name="connsiteX6" fmla="*/ 5578856 w 5578855"/>
                <a:gd name="connsiteY6" fmla="*/ 1168908 h 195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8855" h="1956180">
                  <a:moveTo>
                    <a:pt x="5578856" y="1168908"/>
                  </a:moveTo>
                  <a:cubicBezTo>
                    <a:pt x="5345240" y="1201865"/>
                    <a:pt x="5111687" y="1234885"/>
                    <a:pt x="4878134" y="1267841"/>
                  </a:cubicBezTo>
                  <a:cubicBezTo>
                    <a:pt x="3664839" y="1439101"/>
                    <a:pt x="2451608" y="1610424"/>
                    <a:pt x="1238377" y="1781683"/>
                  </a:cubicBezTo>
                  <a:cubicBezTo>
                    <a:pt x="826326" y="1839849"/>
                    <a:pt x="414274" y="1898015"/>
                    <a:pt x="2223" y="1956181"/>
                  </a:cubicBezTo>
                  <a:lnTo>
                    <a:pt x="0" y="0"/>
                  </a:lnTo>
                  <a:lnTo>
                    <a:pt x="5578603" y="0"/>
                  </a:lnTo>
                  <a:lnTo>
                    <a:pt x="5578856" y="1168908"/>
                  </a:lnTo>
                  <a:close/>
                </a:path>
              </a:pathLst>
            </a:custGeom>
            <a:noFill/>
            <a:ln w="10287" cap="flat">
              <a:solidFill>
                <a:srgbClr val="ADDC91"/>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820C3116-694F-7482-DA20-E0E11D43C373}"/>
                </a:ext>
              </a:extLst>
            </p:cNvPr>
            <p:cNvSpPr/>
            <p:nvPr/>
          </p:nvSpPr>
          <p:spPr>
            <a:xfrm>
              <a:off x="7900797" y="2198089"/>
              <a:ext cx="1242631" cy="669417"/>
            </a:xfrm>
            <a:custGeom>
              <a:avLst/>
              <a:gdLst>
                <a:gd name="connsiteX0" fmla="*/ 0 w 1242631"/>
                <a:gd name="connsiteY0" fmla="*/ 0 h 669417"/>
                <a:gd name="connsiteX1" fmla="*/ 1242632 w 1242631"/>
                <a:gd name="connsiteY1" fmla="*/ 669417 h 669417"/>
              </a:gdLst>
              <a:ahLst/>
              <a:cxnLst>
                <a:cxn ang="0">
                  <a:pos x="connsiteX0" y="connsiteY0"/>
                </a:cxn>
                <a:cxn ang="0">
                  <a:pos x="connsiteX1" y="connsiteY1"/>
                </a:cxn>
              </a:cxnLst>
              <a:rect l="l" t="t" r="r" b="b"/>
              <a:pathLst>
                <a:path w="1242631" h="669417">
                  <a:moveTo>
                    <a:pt x="0" y="0"/>
                  </a:moveTo>
                  <a:lnTo>
                    <a:pt x="1242632" y="669417"/>
                  </a:lnTo>
                </a:path>
              </a:pathLst>
            </a:custGeom>
            <a:ln w="10287" cap="flat">
              <a:solidFill>
                <a:srgbClr val="ADDC91"/>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7E98BF7D-9740-2B57-ADC5-63C8D3A13C2B}"/>
                </a:ext>
              </a:extLst>
            </p:cNvPr>
            <p:cNvSpPr/>
            <p:nvPr/>
          </p:nvSpPr>
          <p:spPr>
            <a:xfrm>
              <a:off x="2316035" y="2983648"/>
              <a:ext cx="1242567" cy="669480"/>
            </a:xfrm>
            <a:custGeom>
              <a:avLst/>
              <a:gdLst>
                <a:gd name="connsiteX0" fmla="*/ 0 w 1242567"/>
                <a:gd name="connsiteY0" fmla="*/ 0 h 669480"/>
                <a:gd name="connsiteX1" fmla="*/ 1242568 w 1242567"/>
                <a:gd name="connsiteY1" fmla="*/ 669481 h 669480"/>
              </a:gdLst>
              <a:ahLst/>
              <a:cxnLst>
                <a:cxn ang="0">
                  <a:pos x="connsiteX0" y="connsiteY0"/>
                </a:cxn>
                <a:cxn ang="0">
                  <a:pos x="connsiteX1" y="connsiteY1"/>
                </a:cxn>
              </a:cxnLst>
              <a:rect l="l" t="t" r="r" b="b"/>
              <a:pathLst>
                <a:path w="1242567" h="669480">
                  <a:moveTo>
                    <a:pt x="0" y="0"/>
                  </a:moveTo>
                  <a:lnTo>
                    <a:pt x="1242568" y="669481"/>
                  </a:lnTo>
                </a:path>
              </a:pathLst>
            </a:custGeom>
            <a:ln w="10287" cap="flat">
              <a:solidFill>
                <a:srgbClr val="ADDC91"/>
              </a:solidFill>
              <a:prstDash val="solid"/>
              <a:round/>
            </a:ln>
          </p:spPr>
          <p:txBody>
            <a:bodyPr rtlCol="0" anchor="ctr"/>
            <a:lstStyle/>
            <a:p>
              <a:endParaRPr lang="en-US"/>
            </a:p>
          </p:txBody>
        </p:sp>
      </p:grpSp>
      <p:sp>
        <p:nvSpPr>
          <p:cNvPr id="23" name="Freeform: Shape 22">
            <a:extLst>
              <a:ext uri="{FF2B5EF4-FFF2-40B4-BE49-F238E27FC236}">
                <a16:creationId xmlns:a16="http://schemas.microsoft.com/office/drawing/2014/main" id="{90D5BD27-EF1D-9FB4-136D-37F8907DC7BC}"/>
              </a:ext>
            </a:extLst>
          </p:cNvPr>
          <p:cNvSpPr/>
          <p:nvPr userDrawn="1"/>
        </p:nvSpPr>
        <p:spPr>
          <a:xfrm>
            <a:off x="0" y="4487010"/>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81DBEA8A-0011-0525-9CD4-E7C5C91BD48B}"/>
              </a:ext>
            </a:extLst>
          </p:cNvPr>
          <p:cNvSpPr/>
          <p:nvPr userDrawn="1"/>
        </p:nvSpPr>
        <p:spPr>
          <a:xfrm>
            <a:off x="0" y="1028358"/>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pic>
        <p:nvPicPr>
          <p:cNvPr id="9" name="Graphic 8">
            <a:extLst>
              <a:ext uri="{FF2B5EF4-FFF2-40B4-BE49-F238E27FC236}">
                <a16:creationId xmlns:a16="http://schemas.microsoft.com/office/drawing/2014/main" id="{592F76EC-5E71-D281-C560-D0C51C53F24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54147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5348-5C71-3BFD-02EB-E268182BB260}"/>
              </a:ext>
            </a:extLst>
          </p:cNvPr>
          <p:cNvSpPr>
            <a:spLocks noGrp="1"/>
          </p:cNvSpPr>
          <p:nvPr>
            <p:ph type="title"/>
          </p:nvPr>
        </p:nvSpPr>
        <p:spPr>
          <a:xfrm>
            <a:off x="1128698" y="4762803"/>
            <a:ext cx="10581439" cy="1205058"/>
          </a:xfrm>
        </p:spPr>
        <p:txBody>
          <a:bodyPr vert="horz" lIns="91440" tIns="45720" rIns="91440" bIns="45720" rtlCol="0" anchor="ctr">
            <a:normAutofit/>
          </a:bodyPr>
          <a:lstStyle>
            <a:lvl1pPr>
              <a:defRPr lang="en-SA" sz="5400" dirty="0">
                <a:solidFill>
                  <a:schemeClr val="accent2"/>
                </a:solidFill>
                <a:latin typeface="Montserrat-Arabic" pitchFamily="2" charset="-78"/>
                <a:cs typeface="Montserrat-Arabic" pitchFamily="2" charset="-78"/>
              </a:defRPr>
            </a:lvl1pPr>
          </a:lstStyle>
          <a:p>
            <a:pPr marL="0" lvl="0" rtl="1"/>
            <a:r>
              <a:rPr lang="en-US"/>
              <a:t>Click to edit Master title style</a:t>
            </a:r>
            <a:endParaRPr lang="en-SA"/>
          </a:p>
        </p:txBody>
      </p:sp>
      <p:sp>
        <p:nvSpPr>
          <p:cNvPr id="3" name="Text Placeholder 2">
            <a:extLst>
              <a:ext uri="{FF2B5EF4-FFF2-40B4-BE49-F238E27FC236}">
                <a16:creationId xmlns:a16="http://schemas.microsoft.com/office/drawing/2014/main" id="{1932AAC7-3F76-2905-A3CF-9FA2243AAFBE}"/>
              </a:ext>
            </a:extLst>
          </p:cNvPr>
          <p:cNvSpPr>
            <a:spLocks noGrp="1"/>
          </p:cNvSpPr>
          <p:nvPr>
            <p:ph type="body" idx="1"/>
          </p:nvPr>
        </p:nvSpPr>
        <p:spPr>
          <a:xfrm>
            <a:off x="481863" y="2474914"/>
            <a:ext cx="1137387" cy="654050"/>
          </a:xfrm>
        </p:spPr>
        <p:txBody>
          <a:bodyPr>
            <a:normAutofit/>
          </a:bodyPr>
          <a:lstStyle>
            <a:lvl1pPr marL="0" indent="0">
              <a:buNone/>
              <a:defRPr sz="1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28A84-FA36-784B-7BCB-B2DCBB702DE8}"/>
              </a:ext>
            </a:extLst>
          </p:cNvPr>
          <p:cNvSpPr>
            <a:spLocks noGrp="1"/>
          </p:cNvSpPr>
          <p:nvPr>
            <p:ph type="dt" sz="half" idx="10"/>
          </p:nvPr>
        </p:nvSpPr>
        <p:spPr>
          <a:xfrm>
            <a:off x="1128698" y="6227339"/>
            <a:ext cx="2743200" cy="365125"/>
          </a:xfrm>
        </p:spPr>
        <p:txBody>
          <a:bodyPr/>
          <a:lstStyle/>
          <a:p>
            <a:endParaRPr lang="en-SA"/>
          </a:p>
        </p:txBody>
      </p:sp>
      <p:sp>
        <p:nvSpPr>
          <p:cNvPr id="5" name="Footer Placeholder 4">
            <a:extLst>
              <a:ext uri="{FF2B5EF4-FFF2-40B4-BE49-F238E27FC236}">
                <a16:creationId xmlns:a16="http://schemas.microsoft.com/office/drawing/2014/main" id="{301077E0-8186-A593-4069-12A615FBF87A}"/>
              </a:ext>
            </a:extLst>
          </p:cNvPr>
          <p:cNvSpPr>
            <a:spLocks noGrp="1"/>
          </p:cNvSpPr>
          <p:nvPr>
            <p:ph type="ftr" sz="quarter" idx="11"/>
          </p:nvPr>
        </p:nvSpPr>
        <p:spPr>
          <a:xfrm>
            <a:off x="4329098" y="6227339"/>
            <a:ext cx="4114800" cy="365125"/>
          </a:xfrm>
        </p:spPr>
        <p:txBody>
          <a:bodyPr/>
          <a:lstStyle/>
          <a:p>
            <a:endParaRPr lang="en-SA"/>
          </a:p>
        </p:txBody>
      </p:sp>
      <p:sp>
        <p:nvSpPr>
          <p:cNvPr id="6" name="Slide Number Placeholder 5">
            <a:extLst>
              <a:ext uri="{FF2B5EF4-FFF2-40B4-BE49-F238E27FC236}">
                <a16:creationId xmlns:a16="http://schemas.microsoft.com/office/drawing/2014/main" id="{54F6EF12-47BF-361E-6FF0-603059C2D9AE}"/>
              </a:ext>
            </a:extLst>
          </p:cNvPr>
          <p:cNvSpPr>
            <a:spLocks noGrp="1"/>
          </p:cNvSpPr>
          <p:nvPr>
            <p:ph type="sldNum" sz="quarter" idx="12"/>
          </p:nvPr>
        </p:nvSpPr>
        <p:spPr>
          <a:xfrm>
            <a:off x="11282926" y="6227339"/>
            <a:ext cx="495618" cy="365125"/>
          </a:xfrm>
        </p:spPr>
        <p:txBody>
          <a:bodyPr/>
          <a:lstStyle>
            <a:lvl1pPr>
              <a:defRPr lang="en-SA" sz="1800" smtClean="0">
                <a:solidFill>
                  <a:schemeClr val="bg1"/>
                </a:solidFill>
              </a:defRPr>
            </a:lvl1pPr>
          </a:lstStyle>
          <a:p>
            <a:pPr algn="l"/>
            <a:fld id="{0B5D68DA-F15D-0F40-9055-781099452C22}" type="slidenum">
              <a:rPr lang="en-US" smtClean="0"/>
              <a:pPr algn="l"/>
              <a:t>‹#›</a:t>
            </a:fld>
            <a:endParaRPr lang="en-US"/>
          </a:p>
        </p:txBody>
      </p:sp>
      <p:grpSp>
        <p:nvGrpSpPr>
          <p:cNvPr id="12" name="Graphic 9">
            <a:extLst>
              <a:ext uri="{FF2B5EF4-FFF2-40B4-BE49-F238E27FC236}">
                <a16:creationId xmlns:a16="http://schemas.microsoft.com/office/drawing/2014/main" id="{74655B69-6D60-B801-20C4-E6D410E810B9}"/>
              </a:ext>
            </a:extLst>
          </p:cNvPr>
          <p:cNvGrpSpPr/>
          <p:nvPr userDrawn="1"/>
        </p:nvGrpSpPr>
        <p:grpSpPr>
          <a:xfrm>
            <a:off x="2316035" y="1029181"/>
            <a:ext cx="9875964" cy="3457828"/>
            <a:chOff x="2316035" y="1029181"/>
            <a:chExt cx="9875964" cy="3457828"/>
          </a:xfrm>
          <a:noFill/>
        </p:grpSpPr>
        <p:grpSp>
          <p:nvGrpSpPr>
            <p:cNvPr id="13" name="Graphic 9">
              <a:extLst>
                <a:ext uri="{FF2B5EF4-FFF2-40B4-BE49-F238E27FC236}">
                  <a16:creationId xmlns:a16="http://schemas.microsoft.com/office/drawing/2014/main" id="{4E08D199-635A-CC67-3B7C-DC098CB94EBB}"/>
                </a:ext>
              </a:extLst>
            </p:cNvPr>
            <p:cNvGrpSpPr/>
            <p:nvPr/>
          </p:nvGrpSpPr>
          <p:grpSpPr>
            <a:xfrm>
              <a:off x="7971663" y="1029181"/>
              <a:ext cx="4220336" cy="3457828"/>
              <a:chOff x="7971663" y="1029181"/>
              <a:chExt cx="4220336" cy="3457828"/>
            </a:xfrm>
            <a:noFill/>
          </p:grpSpPr>
          <p:sp>
            <p:nvSpPr>
              <p:cNvPr id="18" name="Freeform: Shape 17">
                <a:extLst>
                  <a:ext uri="{FF2B5EF4-FFF2-40B4-BE49-F238E27FC236}">
                    <a16:creationId xmlns:a16="http://schemas.microsoft.com/office/drawing/2014/main" id="{109AC4E3-CE3F-6DAB-2BBF-B5533B7A431F}"/>
                  </a:ext>
                </a:extLst>
              </p:cNvPr>
              <p:cNvSpPr/>
              <p:nvPr/>
            </p:nvSpPr>
            <p:spPr>
              <a:xfrm>
                <a:off x="11568493" y="2436277"/>
                <a:ext cx="623506" cy="2050732"/>
              </a:xfrm>
              <a:custGeom>
                <a:avLst/>
                <a:gdLst>
                  <a:gd name="connsiteX0" fmla="*/ 0 w 623506"/>
                  <a:gd name="connsiteY0" fmla="*/ 2050732 h 2050732"/>
                  <a:gd name="connsiteX1" fmla="*/ 825 w 623506"/>
                  <a:gd name="connsiteY1" fmla="*/ 88075 h 2050732"/>
                  <a:gd name="connsiteX2" fmla="*/ 623506 w 623506"/>
                  <a:gd name="connsiteY2" fmla="*/ 0 h 2050732"/>
                </a:gdLst>
                <a:ahLst/>
                <a:cxnLst>
                  <a:cxn ang="0">
                    <a:pos x="connsiteX0" y="connsiteY0"/>
                  </a:cxn>
                  <a:cxn ang="0">
                    <a:pos x="connsiteX1" y="connsiteY1"/>
                  </a:cxn>
                  <a:cxn ang="0">
                    <a:pos x="connsiteX2" y="connsiteY2"/>
                  </a:cxn>
                </a:cxnLst>
                <a:rect l="l" t="t" r="r" b="b"/>
                <a:pathLst>
                  <a:path w="623506" h="2050732">
                    <a:moveTo>
                      <a:pt x="0" y="2050732"/>
                    </a:moveTo>
                    <a:lnTo>
                      <a:pt x="825" y="88075"/>
                    </a:lnTo>
                    <a:lnTo>
                      <a:pt x="623506" y="0"/>
                    </a:lnTo>
                  </a:path>
                </a:pathLst>
              </a:custGeom>
              <a:noFill/>
              <a:ln w="10287" cap="flat">
                <a:solidFill>
                  <a:srgbClr val="ADDC91"/>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43ED661A-F945-8A23-2E55-61CD0388DB5F}"/>
                  </a:ext>
                </a:extLst>
              </p:cNvPr>
              <p:cNvSpPr/>
              <p:nvPr/>
            </p:nvSpPr>
            <p:spPr>
              <a:xfrm>
                <a:off x="9348025" y="1029181"/>
                <a:ext cx="2053970" cy="3457828"/>
              </a:xfrm>
              <a:custGeom>
                <a:avLst/>
                <a:gdLst>
                  <a:gd name="connsiteX0" fmla="*/ 2053971 w 2053970"/>
                  <a:gd name="connsiteY0" fmla="*/ 0 h 3457828"/>
                  <a:gd name="connsiteX1" fmla="*/ 1331278 w 2053970"/>
                  <a:gd name="connsiteY1" fmla="*/ 776542 h 3457828"/>
                  <a:gd name="connsiteX2" fmla="*/ 1199769 w 2053970"/>
                  <a:gd name="connsiteY2" fmla="*/ 946658 h 3457828"/>
                  <a:gd name="connsiteX3" fmla="*/ 1050227 w 2053970"/>
                  <a:gd name="connsiteY3" fmla="*/ 1154176 h 3457828"/>
                  <a:gd name="connsiteX4" fmla="*/ 976185 w 2053970"/>
                  <a:gd name="connsiteY4" fmla="*/ 1263206 h 3457828"/>
                  <a:gd name="connsiteX5" fmla="*/ 976185 w 2053970"/>
                  <a:gd name="connsiteY5" fmla="*/ 1263206 h 3457828"/>
                  <a:gd name="connsiteX6" fmla="*/ 0 w 2053970"/>
                  <a:gd name="connsiteY6" fmla="*/ 3457829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970" h="3457828">
                    <a:moveTo>
                      <a:pt x="2053971" y="0"/>
                    </a:moveTo>
                    <a:cubicBezTo>
                      <a:pt x="1793431" y="239713"/>
                      <a:pt x="1551686" y="500063"/>
                      <a:pt x="1331278" y="776542"/>
                    </a:cubicBezTo>
                    <a:cubicBezTo>
                      <a:pt x="1286510" y="832549"/>
                      <a:pt x="1242695" y="889318"/>
                      <a:pt x="1199769" y="946658"/>
                    </a:cubicBezTo>
                    <a:cubicBezTo>
                      <a:pt x="1148652" y="1014984"/>
                      <a:pt x="1098804" y="1084136"/>
                      <a:pt x="1050227" y="1154176"/>
                    </a:cubicBezTo>
                    <a:cubicBezTo>
                      <a:pt x="1025207" y="1190308"/>
                      <a:pt x="1000506" y="1226630"/>
                      <a:pt x="976185" y="1263206"/>
                    </a:cubicBezTo>
                    <a:lnTo>
                      <a:pt x="976185" y="1263206"/>
                    </a:lnTo>
                    <a:cubicBezTo>
                      <a:pt x="529463" y="1933385"/>
                      <a:pt x="196406" y="2677986"/>
                      <a:pt x="0" y="3457829"/>
                    </a:cubicBezTo>
                  </a:path>
                </a:pathLst>
              </a:custGeom>
              <a:noFill/>
              <a:ln w="10287" cap="flat">
                <a:solidFill>
                  <a:srgbClr val="ADDC91"/>
                </a:solid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E989601E-0290-9055-ACEC-326F02F5037F}"/>
                  </a:ext>
                </a:extLst>
              </p:cNvPr>
              <p:cNvSpPr/>
              <p:nvPr/>
            </p:nvSpPr>
            <p:spPr>
              <a:xfrm>
                <a:off x="7971663" y="1029181"/>
                <a:ext cx="1552193" cy="3457828"/>
              </a:xfrm>
              <a:custGeom>
                <a:avLst/>
                <a:gdLst>
                  <a:gd name="connsiteX0" fmla="*/ 0 w 1552193"/>
                  <a:gd name="connsiteY0" fmla="*/ 3457829 h 3457828"/>
                  <a:gd name="connsiteX1" fmla="*/ 11620 w 1552193"/>
                  <a:gd name="connsiteY1" fmla="*/ 3381312 h 3457828"/>
                  <a:gd name="connsiteX2" fmla="*/ 402781 w 1552193"/>
                  <a:gd name="connsiteY2" fmla="*/ 1947164 h 3457828"/>
                  <a:gd name="connsiteX3" fmla="*/ 585216 w 1552193"/>
                  <a:gd name="connsiteY3" fmla="*/ 1522413 h 3457828"/>
                  <a:gd name="connsiteX4" fmla="*/ 1171766 w 1552193"/>
                  <a:gd name="connsiteY4" fmla="*/ 501269 h 3457828"/>
                  <a:gd name="connsiteX5" fmla="*/ 1434402 w 1552193"/>
                  <a:gd name="connsiteY5" fmla="*/ 145415 h 3457828"/>
                  <a:gd name="connsiteX6" fmla="*/ 1552194 w 1552193"/>
                  <a:gd name="connsiteY6" fmla="*/ 0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2193" h="3457828">
                    <a:moveTo>
                      <a:pt x="0" y="3457829"/>
                    </a:moveTo>
                    <a:cubicBezTo>
                      <a:pt x="3683" y="3432302"/>
                      <a:pt x="7556" y="3406839"/>
                      <a:pt x="11620" y="3381312"/>
                    </a:cubicBezTo>
                    <a:cubicBezTo>
                      <a:pt x="89726" y="2890457"/>
                      <a:pt x="221806" y="2409254"/>
                      <a:pt x="402781" y="1947164"/>
                    </a:cubicBezTo>
                    <a:cubicBezTo>
                      <a:pt x="458851" y="1803654"/>
                      <a:pt x="519747" y="1661922"/>
                      <a:pt x="585216" y="1522413"/>
                    </a:cubicBezTo>
                    <a:cubicBezTo>
                      <a:pt x="751967" y="1166622"/>
                      <a:pt x="948309" y="824674"/>
                      <a:pt x="1171766" y="501269"/>
                    </a:cubicBezTo>
                    <a:cubicBezTo>
                      <a:pt x="1255522" y="379921"/>
                      <a:pt x="1343152" y="261239"/>
                      <a:pt x="1434402" y="145415"/>
                    </a:cubicBezTo>
                    <a:cubicBezTo>
                      <a:pt x="1472946" y="96457"/>
                      <a:pt x="1512253" y="47942"/>
                      <a:pt x="1552194" y="0"/>
                    </a:cubicBezTo>
                  </a:path>
                </a:pathLst>
              </a:custGeom>
              <a:noFill/>
              <a:ln w="10287" cap="flat">
                <a:solidFill>
                  <a:srgbClr val="ADDC91"/>
                </a:solid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44B82900-B82A-DEAC-4B0C-2DC9C7277B6C}"/>
                  </a:ext>
                </a:extLst>
              </p:cNvPr>
              <p:cNvSpPr/>
              <p:nvPr/>
            </p:nvSpPr>
            <p:spPr>
              <a:xfrm>
                <a:off x="10323766" y="1592172"/>
                <a:ext cx="1868233" cy="2894774"/>
              </a:xfrm>
              <a:custGeom>
                <a:avLst/>
                <a:gdLst>
                  <a:gd name="connsiteX0" fmla="*/ 1868233 w 1868233"/>
                  <a:gd name="connsiteY0" fmla="*/ 0 h 2894774"/>
                  <a:gd name="connsiteX1" fmla="*/ 355536 w 1868233"/>
                  <a:gd name="connsiteY1" fmla="*/ 213550 h 2894774"/>
                  <a:gd name="connsiteX2" fmla="*/ 508 w 1868233"/>
                  <a:gd name="connsiteY2" fmla="*/ 263652 h 2894774"/>
                  <a:gd name="connsiteX3" fmla="*/ 508 w 1868233"/>
                  <a:gd name="connsiteY3" fmla="*/ 700215 h 2894774"/>
                  <a:gd name="connsiteX4" fmla="*/ 508 w 1868233"/>
                  <a:gd name="connsiteY4" fmla="*/ 700215 h 2894774"/>
                  <a:gd name="connsiteX5" fmla="*/ 0 w 1868233"/>
                  <a:gd name="connsiteY5" fmla="*/ 2894775 h 2894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8233" h="2894774">
                    <a:moveTo>
                      <a:pt x="1868233" y="0"/>
                    </a:moveTo>
                    <a:cubicBezTo>
                      <a:pt x="1363980" y="71183"/>
                      <a:pt x="859727" y="142367"/>
                      <a:pt x="355536" y="213550"/>
                    </a:cubicBezTo>
                    <a:cubicBezTo>
                      <a:pt x="237172" y="230251"/>
                      <a:pt x="118872" y="246952"/>
                      <a:pt x="508" y="263652"/>
                    </a:cubicBezTo>
                    <a:lnTo>
                      <a:pt x="508" y="700215"/>
                    </a:lnTo>
                    <a:cubicBezTo>
                      <a:pt x="508" y="700215"/>
                      <a:pt x="508" y="700215"/>
                      <a:pt x="508" y="700215"/>
                    </a:cubicBezTo>
                    <a:lnTo>
                      <a:pt x="0" y="2894775"/>
                    </a:lnTo>
                  </a:path>
                </a:pathLst>
              </a:custGeom>
              <a:noFill/>
              <a:ln w="10287" cap="flat">
                <a:solidFill>
                  <a:srgbClr val="ADDC91"/>
                </a:solidFill>
                <a:prstDash val="solid"/>
                <a:round/>
              </a:ln>
            </p:spPr>
            <p:txBody>
              <a:bodyPr rtlCol="0" anchor="ctr"/>
              <a:lstStyle/>
              <a:p>
                <a:endParaRPr lang="en-US"/>
              </a:p>
            </p:txBody>
          </p:sp>
          <p:sp>
            <p:nvSpPr>
              <p:cNvPr id="22" name="Freeform: Shape 21">
                <a:extLst>
                  <a:ext uri="{FF2B5EF4-FFF2-40B4-BE49-F238E27FC236}">
                    <a16:creationId xmlns:a16="http://schemas.microsoft.com/office/drawing/2014/main" id="{D11C454F-0F59-9272-CA03-CDF505D91EFC}"/>
                  </a:ext>
                </a:extLst>
              </p:cNvPr>
              <p:cNvSpPr/>
              <p:nvPr/>
            </p:nvSpPr>
            <p:spPr>
              <a:xfrm>
                <a:off x="10324274" y="1855824"/>
                <a:ext cx="1245044" cy="668528"/>
              </a:xfrm>
              <a:custGeom>
                <a:avLst/>
                <a:gdLst>
                  <a:gd name="connsiteX0" fmla="*/ 0 w 1245044"/>
                  <a:gd name="connsiteY0" fmla="*/ 0 h 668528"/>
                  <a:gd name="connsiteX1" fmla="*/ 1245044 w 1245044"/>
                  <a:gd name="connsiteY1" fmla="*/ 668528 h 668528"/>
                </a:gdLst>
                <a:ahLst/>
                <a:cxnLst>
                  <a:cxn ang="0">
                    <a:pos x="connsiteX0" y="connsiteY0"/>
                  </a:cxn>
                  <a:cxn ang="0">
                    <a:pos x="connsiteX1" y="connsiteY1"/>
                  </a:cxn>
                </a:cxnLst>
                <a:rect l="l" t="t" r="r" b="b"/>
                <a:pathLst>
                  <a:path w="1245044" h="668528">
                    <a:moveTo>
                      <a:pt x="0" y="0"/>
                    </a:moveTo>
                    <a:lnTo>
                      <a:pt x="1245044" y="668528"/>
                    </a:lnTo>
                  </a:path>
                </a:pathLst>
              </a:custGeom>
              <a:ln w="10287" cap="flat">
                <a:solidFill>
                  <a:srgbClr val="ADDC91"/>
                </a:solidFill>
                <a:prstDash val="solid"/>
                <a:round/>
              </a:ln>
            </p:spPr>
            <p:txBody>
              <a:bodyPr rtlCol="0" anchor="ctr"/>
              <a:lstStyle/>
              <a:p>
                <a:endParaRPr lang="en-US"/>
              </a:p>
            </p:txBody>
          </p:sp>
        </p:grpSp>
        <p:sp>
          <p:nvSpPr>
            <p:cNvPr id="14" name="Freeform: Shape 13">
              <a:extLst>
                <a:ext uri="{FF2B5EF4-FFF2-40B4-BE49-F238E27FC236}">
                  <a16:creationId xmlns:a16="http://schemas.microsoft.com/office/drawing/2014/main" id="{C92C94D7-7F29-0A73-7429-3A51441933A0}"/>
                </a:ext>
              </a:extLst>
            </p:cNvPr>
            <p:cNvSpPr/>
            <p:nvPr/>
          </p:nvSpPr>
          <p:spPr>
            <a:xfrm>
              <a:off x="3558666" y="1029181"/>
              <a:ext cx="5584761" cy="2627820"/>
            </a:xfrm>
            <a:custGeom>
              <a:avLst/>
              <a:gdLst>
                <a:gd name="connsiteX0" fmla="*/ 5584762 w 5584761"/>
                <a:gd name="connsiteY0" fmla="*/ 0 h 2627820"/>
                <a:gd name="connsiteX1" fmla="*/ 5584762 w 5584761"/>
                <a:gd name="connsiteY1" fmla="*/ 1838389 h 2627820"/>
                <a:gd name="connsiteX2" fmla="*/ 4815777 w 5584761"/>
                <a:gd name="connsiteY2" fmla="*/ 1947164 h 2627820"/>
                <a:gd name="connsiteX3" fmla="*/ 2477 w 5584761"/>
                <a:gd name="connsiteY3" fmla="*/ 2627821 h 2627820"/>
                <a:gd name="connsiteX4" fmla="*/ 1651 w 5584761"/>
                <a:gd name="connsiteY4" fmla="*/ 1781683 h 2627820"/>
                <a:gd name="connsiteX5" fmla="*/ 0 w 5584761"/>
                <a:gd name="connsiteY5" fmla="*/ 0 h 2627820"/>
                <a:gd name="connsiteX6" fmla="*/ 5584762 w 5584761"/>
                <a:gd name="connsiteY6" fmla="*/ 0 h 262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4761" h="2627820">
                  <a:moveTo>
                    <a:pt x="5584762" y="0"/>
                  </a:moveTo>
                  <a:lnTo>
                    <a:pt x="5584762" y="1838389"/>
                  </a:lnTo>
                  <a:lnTo>
                    <a:pt x="4815777" y="1947164"/>
                  </a:lnTo>
                  <a:lnTo>
                    <a:pt x="2477" y="2627821"/>
                  </a:lnTo>
                  <a:lnTo>
                    <a:pt x="1651" y="1781683"/>
                  </a:lnTo>
                  <a:lnTo>
                    <a:pt x="0" y="0"/>
                  </a:lnTo>
                  <a:lnTo>
                    <a:pt x="5584762" y="0"/>
                  </a:lnTo>
                  <a:close/>
                </a:path>
              </a:pathLst>
            </a:custGeom>
            <a:noFill/>
            <a:ln w="10287" cap="flat">
              <a:solidFill>
                <a:srgbClr val="ADDC91"/>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040CDCB6-8905-1313-4BD4-5B30394E9A4A}"/>
                </a:ext>
              </a:extLst>
            </p:cNvPr>
            <p:cNvSpPr/>
            <p:nvPr/>
          </p:nvSpPr>
          <p:spPr>
            <a:xfrm>
              <a:off x="2321941" y="1029181"/>
              <a:ext cx="5578855" cy="1956180"/>
            </a:xfrm>
            <a:custGeom>
              <a:avLst/>
              <a:gdLst>
                <a:gd name="connsiteX0" fmla="*/ 5578856 w 5578855"/>
                <a:gd name="connsiteY0" fmla="*/ 1168908 h 1956180"/>
                <a:gd name="connsiteX1" fmla="*/ 4878134 w 5578855"/>
                <a:gd name="connsiteY1" fmla="*/ 1267841 h 1956180"/>
                <a:gd name="connsiteX2" fmla="*/ 1238377 w 5578855"/>
                <a:gd name="connsiteY2" fmla="*/ 1781683 h 1956180"/>
                <a:gd name="connsiteX3" fmla="*/ 2223 w 5578855"/>
                <a:gd name="connsiteY3" fmla="*/ 1956181 h 1956180"/>
                <a:gd name="connsiteX4" fmla="*/ 0 w 5578855"/>
                <a:gd name="connsiteY4" fmla="*/ 0 h 1956180"/>
                <a:gd name="connsiteX5" fmla="*/ 5578603 w 5578855"/>
                <a:gd name="connsiteY5" fmla="*/ 0 h 1956180"/>
                <a:gd name="connsiteX6" fmla="*/ 5578856 w 5578855"/>
                <a:gd name="connsiteY6" fmla="*/ 1168908 h 195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8855" h="1956180">
                  <a:moveTo>
                    <a:pt x="5578856" y="1168908"/>
                  </a:moveTo>
                  <a:cubicBezTo>
                    <a:pt x="5345240" y="1201865"/>
                    <a:pt x="5111687" y="1234885"/>
                    <a:pt x="4878134" y="1267841"/>
                  </a:cubicBezTo>
                  <a:cubicBezTo>
                    <a:pt x="3664839" y="1439101"/>
                    <a:pt x="2451608" y="1610424"/>
                    <a:pt x="1238377" y="1781683"/>
                  </a:cubicBezTo>
                  <a:cubicBezTo>
                    <a:pt x="826326" y="1839849"/>
                    <a:pt x="414274" y="1898015"/>
                    <a:pt x="2223" y="1956181"/>
                  </a:cubicBezTo>
                  <a:lnTo>
                    <a:pt x="0" y="0"/>
                  </a:lnTo>
                  <a:lnTo>
                    <a:pt x="5578603" y="0"/>
                  </a:lnTo>
                  <a:lnTo>
                    <a:pt x="5578856" y="1168908"/>
                  </a:lnTo>
                  <a:close/>
                </a:path>
              </a:pathLst>
            </a:custGeom>
            <a:noFill/>
            <a:ln w="10287" cap="flat">
              <a:solidFill>
                <a:srgbClr val="ADDC91"/>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820C3116-694F-7482-DA20-E0E11D43C373}"/>
                </a:ext>
              </a:extLst>
            </p:cNvPr>
            <p:cNvSpPr/>
            <p:nvPr/>
          </p:nvSpPr>
          <p:spPr>
            <a:xfrm>
              <a:off x="7900797" y="2198089"/>
              <a:ext cx="1242631" cy="669417"/>
            </a:xfrm>
            <a:custGeom>
              <a:avLst/>
              <a:gdLst>
                <a:gd name="connsiteX0" fmla="*/ 0 w 1242631"/>
                <a:gd name="connsiteY0" fmla="*/ 0 h 669417"/>
                <a:gd name="connsiteX1" fmla="*/ 1242632 w 1242631"/>
                <a:gd name="connsiteY1" fmla="*/ 669417 h 669417"/>
              </a:gdLst>
              <a:ahLst/>
              <a:cxnLst>
                <a:cxn ang="0">
                  <a:pos x="connsiteX0" y="connsiteY0"/>
                </a:cxn>
                <a:cxn ang="0">
                  <a:pos x="connsiteX1" y="connsiteY1"/>
                </a:cxn>
              </a:cxnLst>
              <a:rect l="l" t="t" r="r" b="b"/>
              <a:pathLst>
                <a:path w="1242631" h="669417">
                  <a:moveTo>
                    <a:pt x="0" y="0"/>
                  </a:moveTo>
                  <a:lnTo>
                    <a:pt x="1242632" y="669417"/>
                  </a:lnTo>
                </a:path>
              </a:pathLst>
            </a:custGeom>
            <a:ln w="10287" cap="flat">
              <a:solidFill>
                <a:srgbClr val="ADDC91"/>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7E98BF7D-9740-2B57-ADC5-63C8D3A13C2B}"/>
                </a:ext>
              </a:extLst>
            </p:cNvPr>
            <p:cNvSpPr/>
            <p:nvPr/>
          </p:nvSpPr>
          <p:spPr>
            <a:xfrm>
              <a:off x="2316035" y="2983648"/>
              <a:ext cx="1242567" cy="669480"/>
            </a:xfrm>
            <a:custGeom>
              <a:avLst/>
              <a:gdLst>
                <a:gd name="connsiteX0" fmla="*/ 0 w 1242567"/>
                <a:gd name="connsiteY0" fmla="*/ 0 h 669480"/>
                <a:gd name="connsiteX1" fmla="*/ 1242568 w 1242567"/>
                <a:gd name="connsiteY1" fmla="*/ 669481 h 669480"/>
              </a:gdLst>
              <a:ahLst/>
              <a:cxnLst>
                <a:cxn ang="0">
                  <a:pos x="connsiteX0" y="connsiteY0"/>
                </a:cxn>
                <a:cxn ang="0">
                  <a:pos x="connsiteX1" y="connsiteY1"/>
                </a:cxn>
              </a:cxnLst>
              <a:rect l="l" t="t" r="r" b="b"/>
              <a:pathLst>
                <a:path w="1242567" h="669480">
                  <a:moveTo>
                    <a:pt x="0" y="0"/>
                  </a:moveTo>
                  <a:lnTo>
                    <a:pt x="1242568" y="669481"/>
                  </a:lnTo>
                </a:path>
              </a:pathLst>
            </a:custGeom>
            <a:ln w="10287" cap="flat">
              <a:solidFill>
                <a:srgbClr val="ADDC91"/>
              </a:solidFill>
              <a:prstDash val="solid"/>
              <a:round/>
            </a:ln>
          </p:spPr>
          <p:txBody>
            <a:bodyPr rtlCol="0" anchor="ctr"/>
            <a:lstStyle/>
            <a:p>
              <a:endParaRPr lang="en-US"/>
            </a:p>
          </p:txBody>
        </p:sp>
      </p:grpSp>
      <p:sp>
        <p:nvSpPr>
          <p:cNvPr id="23" name="Freeform: Shape 22">
            <a:extLst>
              <a:ext uri="{FF2B5EF4-FFF2-40B4-BE49-F238E27FC236}">
                <a16:creationId xmlns:a16="http://schemas.microsoft.com/office/drawing/2014/main" id="{90D5BD27-EF1D-9FB4-136D-37F8907DC7BC}"/>
              </a:ext>
            </a:extLst>
          </p:cNvPr>
          <p:cNvSpPr/>
          <p:nvPr userDrawn="1"/>
        </p:nvSpPr>
        <p:spPr>
          <a:xfrm>
            <a:off x="0" y="4487010"/>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81DBEA8A-0011-0525-9CD4-E7C5C91BD48B}"/>
              </a:ext>
            </a:extLst>
          </p:cNvPr>
          <p:cNvSpPr/>
          <p:nvPr userDrawn="1"/>
        </p:nvSpPr>
        <p:spPr>
          <a:xfrm>
            <a:off x="0" y="1028358"/>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pic>
        <p:nvPicPr>
          <p:cNvPr id="7" name="Graphic 6">
            <a:extLst>
              <a:ext uri="{FF2B5EF4-FFF2-40B4-BE49-F238E27FC236}">
                <a16:creationId xmlns:a16="http://schemas.microsoft.com/office/drawing/2014/main" id="{6EB78262-28E6-8FFD-D9E6-47E6DE5EBD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286808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4D48-2322-BF47-D9F3-D01D25742A90}"/>
              </a:ext>
            </a:extLst>
          </p:cNvPr>
          <p:cNvSpPr>
            <a:spLocks noGrp="1"/>
          </p:cNvSpPr>
          <p:nvPr>
            <p:ph type="title"/>
          </p:nvPr>
        </p:nvSpPr>
        <p:spPr>
          <a:xfrm>
            <a:off x="1022032" y="983388"/>
            <a:ext cx="10331767" cy="502766"/>
          </a:xfrm>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02A210FC-E60A-0192-C0BF-056AF13556AE}"/>
              </a:ext>
            </a:extLst>
          </p:cNvPr>
          <p:cNvSpPr>
            <a:spLocks noGrp="1"/>
          </p:cNvSpPr>
          <p:nvPr>
            <p:ph sz="half" idx="1"/>
          </p:nvPr>
        </p:nvSpPr>
        <p:spPr>
          <a:xfrm>
            <a:off x="1022032" y="1825625"/>
            <a:ext cx="499776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Content Placeholder 3">
            <a:extLst>
              <a:ext uri="{FF2B5EF4-FFF2-40B4-BE49-F238E27FC236}">
                <a16:creationId xmlns:a16="http://schemas.microsoft.com/office/drawing/2014/main" id="{22CC423C-E9B0-D420-50B4-908433219379}"/>
              </a:ext>
            </a:extLst>
          </p:cNvPr>
          <p:cNvSpPr>
            <a:spLocks noGrp="1"/>
          </p:cNvSpPr>
          <p:nvPr>
            <p:ph sz="half" idx="2"/>
          </p:nvPr>
        </p:nvSpPr>
        <p:spPr>
          <a:xfrm>
            <a:off x="6356032" y="1825625"/>
            <a:ext cx="499776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Date Placeholder 4">
            <a:extLst>
              <a:ext uri="{FF2B5EF4-FFF2-40B4-BE49-F238E27FC236}">
                <a16:creationId xmlns:a16="http://schemas.microsoft.com/office/drawing/2014/main" id="{48A7D4DC-4940-CA2F-13EC-DDD58D58C0A0}"/>
              </a:ext>
            </a:extLst>
          </p:cNvPr>
          <p:cNvSpPr>
            <a:spLocks noGrp="1"/>
          </p:cNvSpPr>
          <p:nvPr>
            <p:ph type="dt" sz="half" idx="10"/>
          </p:nvPr>
        </p:nvSpPr>
        <p:spPr/>
        <p:txBody>
          <a:bodyPr/>
          <a:lstStyle/>
          <a:p>
            <a:endParaRPr lang="en-SA"/>
          </a:p>
        </p:txBody>
      </p:sp>
      <p:sp>
        <p:nvSpPr>
          <p:cNvPr id="6" name="Footer Placeholder 5">
            <a:extLst>
              <a:ext uri="{FF2B5EF4-FFF2-40B4-BE49-F238E27FC236}">
                <a16:creationId xmlns:a16="http://schemas.microsoft.com/office/drawing/2014/main" id="{EF16F22C-6978-B5EE-B88E-5AEEECE249BF}"/>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6E3DF8BE-B766-979D-BF36-4991BD4AE746}"/>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930923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60062-DEB0-2EA1-472F-EA2DF6D7B47A}"/>
              </a:ext>
            </a:extLst>
          </p:cNvPr>
          <p:cNvSpPr>
            <a:spLocks noGrp="1"/>
          </p:cNvSpPr>
          <p:nvPr>
            <p:ph type="title"/>
          </p:nvPr>
        </p:nvSpPr>
        <p:spPr>
          <a:xfrm>
            <a:off x="1022032" y="983388"/>
            <a:ext cx="10333355" cy="502766"/>
          </a:xfrm>
        </p:spPr>
        <p:txBody>
          <a:bodyPr/>
          <a:lstStyle/>
          <a:p>
            <a:r>
              <a:rPr lang="en-US"/>
              <a:t>Click to edit Master title style</a:t>
            </a:r>
            <a:endParaRPr lang="en-SA"/>
          </a:p>
        </p:txBody>
      </p:sp>
      <p:sp>
        <p:nvSpPr>
          <p:cNvPr id="3" name="Text Placeholder 2">
            <a:extLst>
              <a:ext uri="{FF2B5EF4-FFF2-40B4-BE49-F238E27FC236}">
                <a16:creationId xmlns:a16="http://schemas.microsoft.com/office/drawing/2014/main" id="{FD3AF610-1800-A551-18A2-F6835412CD0F}"/>
              </a:ext>
            </a:extLst>
          </p:cNvPr>
          <p:cNvSpPr>
            <a:spLocks noGrp="1"/>
          </p:cNvSpPr>
          <p:nvPr>
            <p:ph type="body" idx="1"/>
          </p:nvPr>
        </p:nvSpPr>
        <p:spPr>
          <a:xfrm>
            <a:off x="1022032" y="1681163"/>
            <a:ext cx="4975543"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8913C2-6FA7-E164-AF89-CCCE0FF6333D}"/>
              </a:ext>
            </a:extLst>
          </p:cNvPr>
          <p:cNvSpPr>
            <a:spLocks noGrp="1"/>
          </p:cNvSpPr>
          <p:nvPr>
            <p:ph sz="half" idx="2"/>
          </p:nvPr>
        </p:nvSpPr>
        <p:spPr>
          <a:xfrm>
            <a:off x="1022032" y="2505075"/>
            <a:ext cx="4975543" cy="3684588"/>
          </a:xfrm>
        </p:spPr>
        <p:txBody>
          <a:bodyPr>
            <a:norm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Text Placeholder 4">
            <a:extLst>
              <a:ext uri="{FF2B5EF4-FFF2-40B4-BE49-F238E27FC236}">
                <a16:creationId xmlns:a16="http://schemas.microsoft.com/office/drawing/2014/main" id="{5E2D444F-44B3-BD5A-D3CA-1754B694F8DE}"/>
              </a:ext>
            </a:extLst>
          </p:cNvPr>
          <p:cNvSpPr>
            <a:spLocks noGrp="1"/>
          </p:cNvSpPr>
          <p:nvPr>
            <p:ph type="body" sz="quarter" idx="3"/>
          </p:nvPr>
        </p:nvSpPr>
        <p:spPr>
          <a:xfrm>
            <a:off x="6355342" y="1681163"/>
            <a:ext cx="5000046"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BD216E-468D-430D-BCBE-D7E9D5FDB772}"/>
              </a:ext>
            </a:extLst>
          </p:cNvPr>
          <p:cNvSpPr>
            <a:spLocks noGrp="1"/>
          </p:cNvSpPr>
          <p:nvPr>
            <p:ph sz="quarter" idx="4"/>
          </p:nvPr>
        </p:nvSpPr>
        <p:spPr>
          <a:xfrm>
            <a:off x="6355342" y="2505075"/>
            <a:ext cx="5000046" cy="3684588"/>
          </a:xfrm>
        </p:spPr>
        <p:txBody>
          <a:bodyPr>
            <a:norm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Date Placeholder 6">
            <a:extLst>
              <a:ext uri="{FF2B5EF4-FFF2-40B4-BE49-F238E27FC236}">
                <a16:creationId xmlns:a16="http://schemas.microsoft.com/office/drawing/2014/main" id="{F6E48803-3612-F425-10E2-054898EB02EC}"/>
              </a:ext>
            </a:extLst>
          </p:cNvPr>
          <p:cNvSpPr>
            <a:spLocks noGrp="1"/>
          </p:cNvSpPr>
          <p:nvPr>
            <p:ph type="dt" sz="half" idx="10"/>
          </p:nvPr>
        </p:nvSpPr>
        <p:spPr/>
        <p:txBody>
          <a:bodyPr/>
          <a:lstStyle/>
          <a:p>
            <a:endParaRPr lang="en-SA"/>
          </a:p>
        </p:txBody>
      </p:sp>
      <p:sp>
        <p:nvSpPr>
          <p:cNvPr id="8" name="Footer Placeholder 7">
            <a:extLst>
              <a:ext uri="{FF2B5EF4-FFF2-40B4-BE49-F238E27FC236}">
                <a16:creationId xmlns:a16="http://schemas.microsoft.com/office/drawing/2014/main" id="{B5F20EC7-C147-6794-4A16-FB5F462871A5}"/>
              </a:ext>
            </a:extLst>
          </p:cNvPr>
          <p:cNvSpPr>
            <a:spLocks noGrp="1"/>
          </p:cNvSpPr>
          <p:nvPr>
            <p:ph type="ftr" sz="quarter" idx="11"/>
          </p:nvPr>
        </p:nvSpPr>
        <p:spPr/>
        <p:txBody>
          <a:bodyPr/>
          <a:lstStyle/>
          <a:p>
            <a:endParaRPr lang="en-SA"/>
          </a:p>
        </p:txBody>
      </p:sp>
      <p:sp>
        <p:nvSpPr>
          <p:cNvPr id="9" name="Slide Number Placeholder 8">
            <a:extLst>
              <a:ext uri="{FF2B5EF4-FFF2-40B4-BE49-F238E27FC236}">
                <a16:creationId xmlns:a16="http://schemas.microsoft.com/office/drawing/2014/main" id="{B65416F0-9271-2CD6-FE54-1CF9A8A3342C}"/>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70371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3503-4694-DBA2-6704-30CAEC7422D7}"/>
              </a:ext>
            </a:extLst>
          </p:cNvPr>
          <p:cNvSpPr>
            <a:spLocks noGrp="1"/>
          </p:cNvSpPr>
          <p:nvPr>
            <p:ph type="title"/>
          </p:nvPr>
        </p:nvSpPr>
        <p:spPr>
          <a:xfrm>
            <a:off x="488632" y="377363"/>
            <a:ext cx="9358101" cy="502766"/>
          </a:xfrm>
        </p:spPr>
        <p:txBody>
          <a:bodyPr anchor="b"/>
          <a:lstStyle>
            <a:lvl1pPr>
              <a:defRPr/>
            </a:lvl1pPr>
          </a:lstStyle>
          <a:p>
            <a:r>
              <a:rPr lang="en-US"/>
              <a:t>Click to edit Master title style</a:t>
            </a:r>
            <a:endParaRPr lang="en-SA"/>
          </a:p>
        </p:txBody>
      </p:sp>
      <p:sp>
        <p:nvSpPr>
          <p:cNvPr id="3" name="Date Placeholder 2">
            <a:extLst>
              <a:ext uri="{FF2B5EF4-FFF2-40B4-BE49-F238E27FC236}">
                <a16:creationId xmlns:a16="http://schemas.microsoft.com/office/drawing/2014/main" id="{13038B37-EA02-27A4-9A65-6F8C4D31C550}"/>
              </a:ext>
            </a:extLst>
          </p:cNvPr>
          <p:cNvSpPr>
            <a:spLocks noGrp="1"/>
          </p:cNvSpPr>
          <p:nvPr>
            <p:ph type="dt" sz="half" idx="10"/>
          </p:nvPr>
        </p:nvSpPr>
        <p:spPr/>
        <p:txBody>
          <a:bodyPr/>
          <a:lstStyle/>
          <a:p>
            <a:endParaRPr lang="en-SA"/>
          </a:p>
        </p:txBody>
      </p:sp>
      <p:sp>
        <p:nvSpPr>
          <p:cNvPr id="4" name="Footer Placeholder 3">
            <a:extLst>
              <a:ext uri="{FF2B5EF4-FFF2-40B4-BE49-F238E27FC236}">
                <a16:creationId xmlns:a16="http://schemas.microsoft.com/office/drawing/2014/main" id="{D12EADFF-FE0A-9D98-1A51-D8EA5AAEF8B2}"/>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A51F58C3-B696-177D-7399-A1BBEA0B9274}"/>
              </a:ext>
            </a:extLst>
          </p:cNvPr>
          <p:cNvSpPr>
            <a:spLocks noGrp="1"/>
          </p:cNvSpPr>
          <p:nvPr>
            <p:ph type="sldNum" sz="quarter" idx="12"/>
          </p:nvPr>
        </p:nvSpPr>
        <p:spPr/>
        <p:txBody>
          <a:bodyPr/>
          <a:lstStyle/>
          <a:p>
            <a:fld id="{0B5D68DA-F15D-0F40-9055-781099452C22}" type="slidenum">
              <a:rPr lang="en-SA" smtClean="0"/>
              <a:t>‹#›</a:t>
            </a:fld>
            <a:endParaRPr lang="en-SA"/>
          </a:p>
        </p:txBody>
      </p:sp>
      <p:sp>
        <p:nvSpPr>
          <p:cNvPr id="7" name="Text Placeholder 6">
            <a:extLst>
              <a:ext uri="{FF2B5EF4-FFF2-40B4-BE49-F238E27FC236}">
                <a16:creationId xmlns:a16="http://schemas.microsoft.com/office/drawing/2014/main" id="{97FC23A0-3DB0-3235-6681-51E9B77975CC}"/>
              </a:ext>
            </a:extLst>
          </p:cNvPr>
          <p:cNvSpPr>
            <a:spLocks noGrp="1"/>
          </p:cNvSpPr>
          <p:nvPr>
            <p:ph type="body" sz="quarter" idx="13"/>
          </p:nvPr>
        </p:nvSpPr>
        <p:spPr>
          <a:xfrm>
            <a:off x="488950" y="964900"/>
            <a:ext cx="11205745" cy="502530"/>
          </a:xfrm>
        </p:spPr>
        <p:txBody>
          <a:bodyPr anchor="ctr">
            <a:normAutofit/>
          </a:bodyPr>
          <a:lstStyle>
            <a:lvl1pPr marL="0" indent="0">
              <a:buFontTx/>
              <a:buNone/>
              <a:defRPr sz="1600"/>
            </a:lvl1pPr>
          </a:lstStyle>
          <a:p>
            <a:pPr lvl="0"/>
            <a:endParaRPr lang="en-US"/>
          </a:p>
        </p:txBody>
      </p:sp>
    </p:spTree>
    <p:extLst>
      <p:ext uri="{BB962C8B-B14F-4D97-AF65-F5344CB8AC3E}">
        <p14:creationId xmlns:p14="http://schemas.microsoft.com/office/powerpoint/2010/main" val="280702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A2801-B6D8-6D48-4F20-913B2FA85935}"/>
              </a:ext>
            </a:extLst>
          </p:cNvPr>
          <p:cNvSpPr>
            <a:spLocks noGrp="1"/>
          </p:cNvSpPr>
          <p:nvPr>
            <p:ph type="dt" sz="half" idx="10"/>
          </p:nvPr>
        </p:nvSpPr>
        <p:spPr/>
        <p:txBody>
          <a:bodyPr/>
          <a:lstStyle/>
          <a:p>
            <a:endParaRPr lang="en-SA"/>
          </a:p>
        </p:txBody>
      </p:sp>
      <p:sp>
        <p:nvSpPr>
          <p:cNvPr id="3" name="Footer Placeholder 2">
            <a:extLst>
              <a:ext uri="{FF2B5EF4-FFF2-40B4-BE49-F238E27FC236}">
                <a16:creationId xmlns:a16="http://schemas.microsoft.com/office/drawing/2014/main" id="{0E39F25C-7EAD-3B95-4918-48993E1DAB17}"/>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4AF8586F-B1CF-A186-7967-65494EA0F5B4}"/>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74564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9001-ADF7-BAF5-CA35-38AAC75A702C}"/>
              </a:ext>
            </a:extLst>
          </p:cNvPr>
          <p:cNvSpPr>
            <a:spLocks noGrp="1"/>
          </p:cNvSpPr>
          <p:nvPr>
            <p:ph type="title"/>
          </p:nvPr>
        </p:nvSpPr>
        <p:spPr>
          <a:xfrm>
            <a:off x="1022033" y="983386"/>
            <a:ext cx="3749992" cy="1074013"/>
          </a:xfrm>
        </p:spPr>
        <p:txBody>
          <a:bodyPr anchor="b">
            <a:normAutofit/>
          </a:bodyPr>
          <a:lstStyle>
            <a:lvl1pPr>
              <a:defRPr sz="2600"/>
            </a:lvl1pPr>
          </a:lstStyle>
          <a:p>
            <a:r>
              <a:rPr lang="en-US"/>
              <a:t>Click to edit Master title style</a:t>
            </a:r>
            <a:endParaRPr lang="en-SA"/>
          </a:p>
        </p:txBody>
      </p:sp>
      <p:sp>
        <p:nvSpPr>
          <p:cNvPr id="3" name="Content Placeholder 2">
            <a:extLst>
              <a:ext uri="{FF2B5EF4-FFF2-40B4-BE49-F238E27FC236}">
                <a16:creationId xmlns:a16="http://schemas.microsoft.com/office/drawing/2014/main" id="{63E8A21D-232B-7A76-13D0-0B4D8E2B1347}"/>
              </a:ext>
            </a:extLst>
          </p:cNvPr>
          <p:cNvSpPr>
            <a:spLocks noGrp="1"/>
          </p:cNvSpPr>
          <p:nvPr>
            <p:ph idx="1"/>
          </p:nvPr>
        </p:nvSpPr>
        <p:spPr>
          <a:xfrm>
            <a:off x="5183188" y="987425"/>
            <a:ext cx="6172200" cy="4873625"/>
          </a:xfrm>
        </p:spPr>
        <p:txBody>
          <a:bodyPr>
            <a:normAutofit/>
          </a:bodyPr>
          <a:lstStyle>
            <a:lvl1pPr>
              <a:defRPr sz="1000"/>
            </a:lvl1pPr>
            <a:lvl2pPr>
              <a:defRPr sz="1000"/>
            </a:lvl2pPr>
            <a:lvl3pPr>
              <a:defRPr sz="1000"/>
            </a:lvl3pPr>
            <a:lvl4pPr>
              <a:defRPr sz="1000"/>
            </a:lvl4pPr>
            <a:lvl5pPr>
              <a:defRPr sz="1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Text Placeholder 3">
            <a:extLst>
              <a:ext uri="{FF2B5EF4-FFF2-40B4-BE49-F238E27FC236}">
                <a16:creationId xmlns:a16="http://schemas.microsoft.com/office/drawing/2014/main" id="{B62C5E46-B0E0-858F-96EE-261D4061CAA2}"/>
              </a:ext>
            </a:extLst>
          </p:cNvPr>
          <p:cNvSpPr>
            <a:spLocks noGrp="1"/>
          </p:cNvSpPr>
          <p:nvPr>
            <p:ph type="body" sz="half" idx="2"/>
          </p:nvPr>
        </p:nvSpPr>
        <p:spPr>
          <a:xfrm>
            <a:off x="1022033" y="2057400"/>
            <a:ext cx="3749992" cy="381158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D66F3A-A5DA-930B-F377-8D2038D694C2}"/>
              </a:ext>
            </a:extLst>
          </p:cNvPr>
          <p:cNvSpPr>
            <a:spLocks noGrp="1"/>
          </p:cNvSpPr>
          <p:nvPr>
            <p:ph type="dt" sz="half" idx="10"/>
          </p:nvPr>
        </p:nvSpPr>
        <p:spPr/>
        <p:txBody>
          <a:bodyPr/>
          <a:lstStyle/>
          <a:p>
            <a:endParaRPr lang="en-SA"/>
          </a:p>
        </p:txBody>
      </p:sp>
      <p:sp>
        <p:nvSpPr>
          <p:cNvPr id="6" name="Footer Placeholder 5">
            <a:extLst>
              <a:ext uri="{FF2B5EF4-FFF2-40B4-BE49-F238E27FC236}">
                <a16:creationId xmlns:a16="http://schemas.microsoft.com/office/drawing/2014/main" id="{018B8EF5-3F8D-7743-7703-458588063251}"/>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A2666288-07F9-0852-6C2B-83F8C8122F90}"/>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161634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A792-C586-900E-83B8-092717D1E561}"/>
              </a:ext>
            </a:extLst>
          </p:cNvPr>
          <p:cNvSpPr>
            <a:spLocks noGrp="1"/>
          </p:cNvSpPr>
          <p:nvPr>
            <p:ph type="title"/>
          </p:nvPr>
        </p:nvSpPr>
        <p:spPr>
          <a:xfrm>
            <a:off x="1022033" y="983386"/>
            <a:ext cx="3749992" cy="1074013"/>
          </a:xfrm>
        </p:spPr>
        <p:txBody>
          <a:bodyPr anchor="b">
            <a:normAutofit/>
          </a:bodyPr>
          <a:lstStyle>
            <a:lvl1pPr>
              <a:defRPr sz="2600"/>
            </a:lvl1pPr>
          </a:lstStyle>
          <a:p>
            <a:r>
              <a:rPr lang="en-US"/>
              <a:t>Click to edit Master title style</a:t>
            </a:r>
            <a:endParaRPr lang="en-SA"/>
          </a:p>
        </p:txBody>
      </p:sp>
      <p:sp>
        <p:nvSpPr>
          <p:cNvPr id="3" name="Picture Placeholder 2">
            <a:extLst>
              <a:ext uri="{FF2B5EF4-FFF2-40B4-BE49-F238E27FC236}">
                <a16:creationId xmlns:a16="http://schemas.microsoft.com/office/drawing/2014/main" id="{77F9BF3A-192F-4D71-0488-EE2D165D6C19}"/>
              </a:ext>
            </a:extLst>
          </p:cNvPr>
          <p:cNvSpPr>
            <a:spLocks noGrp="1"/>
          </p:cNvSpPr>
          <p:nvPr>
            <p:ph type="pic" idx="1"/>
          </p:nvPr>
        </p:nvSpPr>
        <p:spPr>
          <a:xfrm>
            <a:off x="5183188" y="987425"/>
            <a:ext cx="6172200" cy="4873625"/>
          </a:xfrm>
        </p:spPr>
        <p:txBody>
          <a:bodyPr>
            <a:normAutofit/>
          </a:bodyPr>
          <a:lstStyle>
            <a:lvl1pPr marL="0" indent="0">
              <a:buNone/>
              <a:defRPr sz="1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A"/>
          </a:p>
        </p:txBody>
      </p:sp>
      <p:sp>
        <p:nvSpPr>
          <p:cNvPr id="4" name="Text Placeholder 3">
            <a:extLst>
              <a:ext uri="{FF2B5EF4-FFF2-40B4-BE49-F238E27FC236}">
                <a16:creationId xmlns:a16="http://schemas.microsoft.com/office/drawing/2014/main" id="{11F0A535-861E-F7D1-62E5-09DA1DF57D2E}"/>
              </a:ext>
            </a:extLst>
          </p:cNvPr>
          <p:cNvSpPr>
            <a:spLocks noGrp="1"/>
          </p:cNvSpPr>
          <p:nvPr>
            <p:ph type="body" sz="half" idx="2"/>
          </p:nvPr>
        </p:nvSpPr>
        <p:spPr>
          <a:xfrm>
            <a:off x="1022033" y="2057400"/>
            <a:ext cx="3749992" cy="381158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8C8CD-3661-8BD6-8E28-0A8FD3A8F2EC}"/>
              </a:ext>
            </a:extLst>
          </p:cNvPr>
          <p:cNvSpPr>
            <a:spLocks noGrp="1"/>
          </p:cNvSpPr>
          <p:nvPr>
            <p:ph type="dt" sz="half" idx="10"/>
          </p:nvPr>
        </p:nvSpPr>
        <p:spPr/>
        <p:txBody>
          <a:bodyPr/>
          <a:lstStyle/>
          <a:p>
            <a:endParaRPr lang="en-SA"/>
          </a:p>
        </p:txBody>
      </p:sp>
      <p:sp>
        <p:nvSpPr>
          <p:cNvPr id="6" name="Footer Placeholder 5">
            <a:extLst>
              <a:ext uri="{FF2B5EF4-FFF2-40B4-BE49-F238E27FC236}">
                <a16:creationId xmlns:a16="http://schemas.microsoft.com/office/drawing/2014/main" id="{D1EED391-4882-AF75-3AFC-27A751A521DC}"/>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F802E5E3-C811-DC35-6E2A-01164510ABA4}"/>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1735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6EE7-2EFF-2700-2B17-D2F211F24433}"/>
              </a:ext>
            </a:extLst>
          </p:cNvPr>
          <p:cNvSpPr>
            <a:spLocks noGrp="1"/>
          </p:cNvSpPr>
          <p:nvPr>
            <p:ph type="title"/>
          </p:nvPr>
        </p:nvSpPr>
        <p:spPr>
          <a:xfrm>
            <a:off x="1022032" y="983388"/>
            <a:ext cx="10331768" cy="502766"/>
          </a:xfrm>
        </p:spPr>
        <p:txBody>
          <a:bodyPr/>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CFC24F05-8C01-D61E-6E2C-C02392CB99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C9527619-4CC8-7DDB-A9D1-04934D13F1A2}"/>
              </a:ext>
            </a:extLst>
          </p:cNvPr>
          <p:cNvSpPr>
            <a:spLocks noGrp="1"/>
          </p:cNvSpPr>
          <p:nvPr>
            <p:ph type="dt" sz="half" idx="10"/>
          </p:nvPr>
        </p:nvSpPr>
        <p:spPr/>
        <p:txBody>
          <a:bodyPr/>
          <a:lstStyle/>
          <a:p>
            <a:endParaRPr lang="en-SA"/>
          </a:p>
        </p:txBody>
      </p:sp>
      <p:sp>
        <p:nvSpPr>
          <p:cNvPr id="5" name="Footer Placeholder 4">
            <a:extLst>
              <a:ext uri="{FF2B5EF4-FFF2-40B4-BE49-F238E27FC236}">
                <a16:creationId xmlns:a16="http://schemas.microsoft.com/office/drawing/2014/main" id="{90A30ABF-FB53-E700-08C9-916A455FC314}"/>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0F3D6F69-917F-95CA-BF51-A445D6986A9D}"/>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201553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E2486BB-56B6-4F82-8F2C-FD9C3C745AC4}"/>
              </a:ext>
            </a:extLst>
          </p:cNvPr>
          <p:cNvSpPr>
            <a:spLocks noGrp="1"/>
          </p:cNvSpPr>
          <p:nvPr>
            <p:ph type="pic" sz="quarter" idx="10"/>
          </p:nvPr>
        </p:nvSpPr>
        <p:spPr>
          <a:xfrm>
            <a:off x="1" y="0"/>
            <a:ext cx="3934691" cy="4128655"/>
          </a:xfrm>
          <a:custGeom>
            <a:avLst/>
            <a:gdLst>
              <a:gd name="connsiteX0" fmla="*/ 0 w 3934691"/>
              <a:gd name="connsiteY0" fmla="*/ 0 h 4128655"/>
              <a:gd name="connsiteX1" fmla="*/ 3934691 w 3934691"/>
              <a:gd name="connsiteY1" fmla="*/ 0 h 4128655"/>
              <a:gd name="connsiteX2" fmla="*/ 3934691 w 3934691"/>
              <a:gd name="connsiteY2" fmla="*/ 4128655 h 4128655"/>
              <a:gd name="connsiteX3" fmla="*/ 0 w 3934691"/>
              <a:gd name="connsiteY3" fmla="*/ 4128655 h 4128655"/>
            </a:gdLst>
            <a:ahLst/>
            <a:cxnLst>
              <a:cxn ang="0">
                <a:pos x="connsiteX0" y="connsiteY0"/>
              </a:cxn>
              <a:cxn ang="0">
                <a:pos x="connsiteX1" y="connsiteY1"/>
              </a:cxn>
              <a:cxn ang="0">
                <a:pos x="connsiteX2" y="connsiteY2"/>
              </a:cxn>
              <a:cxn ang="0">
                <a:pos x="connsiteX3" y="connsiteY3"/>
              </a:cxn>
            </a:cxnLst>
            <a:rect l="l" t="t" r="r" b="b"/>
            <a:pathLst>
              <a:path w="3934691" h="4128655">
                <a:moveTo>
                  <a:pt x="0" y="0"/>
                </a:moveTo>
                <a:lnTo>
                  <a:pt x="3934691" y="0"/>
                </a:lnTo>
                <a:lnTo>
                  <a:pt x="3934691" y="4128655"/>
                </a:lnTo>
                <a:lnTo>
                  <a:pt x="0" y="4128655"/>
                </a:lnTo>
                <a:close/>
              </a:path>
            </a:pathLst>
          </a:custGeom>
        </p:spPr>
        <p:txBody>
          <a:bodyPr wrap="square">
            <a:noAutofit/>
          </a:bodyPr>
          <a:lstStyle/>
          <a:p>
            <a:endParaRPr lang="en-ID"/>
          </a:p>
        </p:txBody>
      </p:sp>
      <p:sp>
        <p:nvSpPr>
          <p:cNvPr id="9" name="Picture Placeholder 8">
            <a:extLst>
              <a:ext uri="{FF2B5EF4-FFF2-40B4-BE49-F238E27FC236}">
                <a16:creationId xmlns:a16="http://schemas.microsoft.com/office/drawing/2014/main" id="{C5FC5E68-C2B9-4846-AC7A-069354E3CA3E}"/>
              </a:ext>
            </a:extLst>
          </p:cNvPr>
          <p:cNvSpPr>
            <a:spLocks noGrp="1"/>
          </p:cNvSpPr>
          <p:nvPr>
            <p:ph type="pic" sz="quarter" idx="11"/>
          </p:nvPr>
        </p:nvSpPr>
        <p:spPr>
          <a:xfrm>
            <a:off x="2516579" y="2064328"/>
            <a:ext cx="3579421" cy="4128655"/>
          </a:xfrm>
          <a:custGeom>
            <a:avLst/>
            <a:gdLst>
              <a:gd name="connsiteX0" fmla="*/ 0 w 3579421"/>
              <a:gd name="connsiteY0" fmla="*/ 0 h 4128655"/>
              <a:gd name="connsiteX1" fmla="*/ 3579421 w 3579421"/>
              <a:gd name="connsiteY1" fmla="*/ 0 h 4128655"/>
              <a:gd name="connsiteX2" fmla="*/ 3579421 w 3579421"/>
              <a:gd name="connsiteY2" fmla="*/ 4128655 h 4128655"/>
              <a:gd name="connsiteX3" fmla="*/ 0 w 3579421"/>
              <a:gd name="connsiteY3" fmla="*/ 4128655 h 4128655"/>
            </a:gdLst>
            <a:ahLst/>
            <a:cxnLst>
              <a:cxn ang="0">
                <a:pos x="connsiteX0" y="connsiteY0"/>
              </a:cxn>
              <a:cxn ang="0">
                <a:pos x="connsiteX1" y="connsiteY1"/>
              </a:cxn>
              <a:cxn ang="0">
                <a:pos x="connsiteX2" y="connsiteY2"/>
              </a:cxn>
              <a:cxn ang="0">
                <a:pos x="connsiteX3" y="connsiteY3"/>
              </a:cxn>
            </a:cxnLst>
            <a:rect l="l" t="t" r="r" b="b"/>
            <a:pathLst>
              <a:path w="3579421" h="4128655">
                <a:moveTo>
                  <a:pt x="0" y="0"/>
                </a:moveTo>
                <a:lnTo>
                  <a:pt x="3579421" y="0"/>
                </a:lnTo>
                <a:lnTo>
                  <a:pt x="3579421" y="4128655"/>
                </a:lnTo>
                <a:lnTo>
                  <a:pt x="0" y="4128655"/>
                </a:lnTo>
                <a:close/>
              </a:path>
            </a:pathLst>
          </a:custGeom>
        </p:spPr>
        <p:txBody>
          <a:bodyPr wrap="square">
            <a:noAutofit/>
          </a:bodyPr>
          <a:lstStyle/>
          <a:p>
            <a:endParaRPr lang="en-ID"/>
          </a:p>
        </p:txBody>
      </p:sp>
    </p:spTree>
    <p:extLst>
      <p:ext uri="{BB962C8B-B14F-4D97-AF65-F5344CB8AC3E}">
        <p14:creationId xmlns:p14="http://schemas.microsoft.com/office/powerpoint/2010/main" val="3199123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2960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D3FA540-01D0-488B-84FA-53C8235E1E80}"/>
              </a:ext>
            </a:extLst>
          </p:cNvPr>
          <p:cNvSpPr>
            <a:spLocks noGrp="1"/>
          </p:cNvSpPr>
          <p:nvPr>
            <p:ph type="pic" sz="quarter" idx="10"/>
          </p:nvPr>
        </p:nvSpPr>
        <p:spPr>
          <a:xfrm>
            <a:off x="6573079" y="1921565"/>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8" name="Picture Placeholder 7">
            <a:extLst>
              <a:ext uri="{FF2B5EF4-FFF2-40B4-BE49-F238E27FC236}">
                <a16:creationId xmlns:a16="http://schemas.microsoft.com/office/drawing/2014/main" id="{DBF6EC45-906D-43A3-8A2B-DD4DEA4D6CFB}"/>
              </a:ext>
            </a:extLst>
          </p:cNvPr>
          <p:cNvSpPr>
            <a:spLocks noGrp="1"/>
          </p:cNvSpPr>
          <p:nvPr>
            <p:ph type="pic" sz="quarter" idx="11"/>
          </p:nvPr>
        </p:nvSpPr>
        <p:spPr>
          <a:xfrm>
            <a:off x="9115604" y="4134679"/>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70606FCD-B250-49F4-A654-C014B3847595}"/>
              </a:ext>
            </a:extLst>
          </p:cNvPr>
          <p:cNvSpPr>
            <a:spLocks noGrp="1"/>
          </p:cNvSpPr>
          <p:nvPr>
            <p:ph type="pic" sz="quarter" idx="12"/>
          </p:nvPr>
        </p:nvSpPr>
        <p:spPr>
          <a:xfrm>
            <a:off x="4026769" y="4134679"/>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Tree>
    <p:extLst>
      <p:ext uri="{BB962C8B-B14F-4D97-AF65-F5344CB8AC3E}">
        <p14:creationId xmlns:p14="http://schemas.microsoft.com/office/powerpoint/2010/main" val="3385230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1C191C-3ADD-4648-B51E-C0CEBFB331F3}"/>
              </a:ext>
            </a:extLst>
          </p:cNvPr>
          <p:cNvSpPr>
            <a:spLocks noGrp="1"/>
          </p:cNvSpPr>
          <p:nvPr>
            <p:ph type="pic" sz="quarter" idx="10"/>
          </p:nvPr>
        </p:nvSpPr>
        <p:spPr>
          <a:xfrm>
            <a:off x="2" y="3429000"/>
            <a:ext cx="4306655" cy="3429000"/>
          </a:xfrm>
          <a:custGeom>
            <a:avLst/>
            <a:gdLst>
              <a:gd name="connsiteX0" fmla="*/ 0 w 4306654"/>
              <a:gd name="connsiteY0" fmla="*/ 0 h 3429000"/>
              <a:gd name="connsiteX1" fmla="*/ 4306654 w 4306654"/>
              <a:gd name="connsiteY1" fmla="*/ 0 h 3429000"/>
              <a:gd name="connsiteX2" fmla="*/ 4306654 w 4306654"/>
              <a:gd name="connsiteY2" fmla="*/ 3429000 h 3429000"/>
              <a:gd name="connsiteX3" fmla="*/ 0 w 4306654"/>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06654" h="3429000">
                <a:moveTo>
                  <a:pt x="0" y="0"/>
                </a:moveTo>
                <a:lnTo>
                  <a:pt x="4306654" y="0"/>
                </a:lnTo>
                <a:lnTo>
                  <a:pt x="4306654" y="3429000"/>
                </a:lnTo>
                <a:lnTo>
                  <a:pt x="0" y="3429000"/>
                </a:lnTo>
                <a:close/>
              </a:path>
            </a:pathLst>
          </a:custGeom>
        </p:spPr>
        <p:txBody>
          <a:bodyPr wrap="square">
            <a:noAutofit/>
          </a:bodyPr>
          <a:lstStyle/>
          <a:p>
            <a:endParaRPr lang="en-US"/>
          </a:p>
        </p:txBody>
      </p:sp>
    </p:spTree>
    <p:extLst>
      <p:ext uri="{BB962C8B-B14F-4D97-AF65-F5344CB8AC3E}">
        <p14:creationId xmlns:p14="http://schemas.microsoft.com/office/powerpoint/2010/main" val="639627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1C191C-3ADD-4648-B51E-C0CEBFB331F3}"/>
              </a:ext>
            </a:extLst>
          </p:cNvPr>
          <p:cNvSpPr>
            <a:spLocks noGrp="1"/>
          </p:cNvSpPr>
          <p:nvPr>
            <p:ph type="pic" sz="quarter" idx="10"/>
          </p:nvPr>
        </p:nvSpPr>
        <p:spPr>
          <a:xfrm>
            <a:off x="2" y="3429000"/>
            <a:ext cx="4306655" cy="3429000"/>
          </a:xfrm>
          <a:custGeom>
            <a:avLst/>
            <a:gdLst>
              <a:gd name="connsiteX0" fmla="*/ 0 w 4306654"/>
              <a:gd name="connsiteY0" fmla="*/ 0 h 3429000"/>
              <a:gd name="connsiteX1" fmla="*/ 4306654 w 4306654"/>
              <a:gd name="connsiteY1" fmla="*/ 0 h 3429000"/>
              <a:gd name="connsiteX2" fmla="*/ 4306654 w 4306654"/>
              <a:gd name="connsiteY2" fmla="*/ 3429000 h 3429000"/>
              <a:gd name="connsiteX3" fmla="*/ 0 w 4306654"/>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06654" h="3429000">
                <a:moveTo>
                  <a:pt x="0" y="0"/>
                </a:moveTo>
                <a:lnTo>
                  <a:pt x="4306654" y="0"/>
                </a:lnTo>
                <a:lnTo>
                  <a:pt x="4306654" y="3429000"/>
                </a:lnTo>
                <a:lnTo>
                  <a:pt x="0" y="3429000"/>
                </a:lnTo>
                <a:close/>
              </a:path>
            </a:pathLst>
          </a:custGeom>
        </p:spPr>
        <p:txBody>
          <a:bodyPr wrap="square">
            <a:noAutofit/>
          </a:bodyPr>
          <a:lstStyle/>
          <a:p>
            <a:endParaRPr lang="en-US"/>
          </a:p>
        </p:txBody>
      </p:sp>
      <p:sp>
        <p:nvSpPr>
          <p:cNvPr id="3" name="Slide Number Placeholder 5">
            <a:extLst>
              <a:ext uri="{FF2B5EF4-FFF2-40B4-BE49-F238E27FC236}">
                <a16:creationId xmlns:a16="http://schemas.microsoft.com/office/drawing/2014/main" id="{4AAE5FE2-0A8A-05F3-BB27-43F34B8214E3}"/>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0B5D68DA-F15D-0F40-9055-781099452C22}" type="slidenum">
              <a:rPr lang="en-SA" smtClean="0"/>
              <a:pPr/>
              <a:t>‹#›</a:t>
            </a:fld>
            <a:endParaRPr lang="en-SA"/>
          </a:p>
        </p:txBody>
      </p:sp>
      <p:pic>
        <p:nvPicPr>
          <p:cNvPr id="2" name="Graphic 1">
            <a:extLst>
              <a:ext uri="{FF2B5EF4-FFF2-40B4-BE49-F238E27FC236}">
                <a16:creationId xmlns:a16="http://schemas.microsoft.com/office/drawing/2014/main" id="{DC72EFC4-5D4F-B420-88DB-427EC4A49F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2160529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D692-EB70-CF9B-1BE5-ABF0D918C412}"/>
              </a:ext>
            </a:extLst>
          </p:cNvPr>
          <p:cNvSpPr>
            <a:spLocks noGrp="1"/>
          </p:cNvSpPr>
          <p:nvPr>
            <p:ph type="title"/>
          </p:nvPr>
        </p:nvSpPr>
        <p:spPr/>
        <p:txBody>
          <a:bodyPr/>
          <a:lstStyle/>
          <a:p>
            <a:r>
              <a:rPr lang="en-US"/>
              <a:t>Click to edit Master title style</a:t>
            </a:r>
            <a:endParaRPr lang="en-SA"/>
          </a:p>
        </p:txBody>
      </p:sp>
      <p:sp>
        <p:nvSpPr>
          <p:cNvPr id="3" name="Date Placeholder 2">
            <a:extLst>
              <a:ext uri="{FF2B5EF4-FFF2-40B4-BE49-F238E27FC236}">
                <a16:creationId xmlns:a16="http://schemas.microsoft.com/office/drawing/2014/main" id="{C7B09315-A544-1F73-FAD5-F1839775714B}"/>
              </a:ext>
            </a:extLst>
          </p:cNvPr>
          <p:cNvSpPr>
            <a:spLocks noGrp="1"/>
          </p:cNvSpPr>
          <p:nvPr>
            <p:ph type="dt" sz="half" idx="10"/>
          </p:nvPr>
        </p:nvSpPr>
        <p:spPr/>
        <p:txBody>
          <a:bodyPr/>
          <a:lstStyle/>
          <a:p>
            <a:endParaRPr lang="en-SA"/>
          </a:p>
        </p:txBody>
      </p:sp>
      <p:sp>
        <p:nvSpPr>
          <p:cNvPr id="4" name="Footer Placeholder 3">
            <a:extLst>
              <a:ext uri="{FF2B5EF4-FFF2-40B4-BE49-F238E27FC236}">
                <a16:creationId xmlns:a16="http://schemas.microsoft.com/office/drawing/2014/main" id="{D606A53A-F453-BE69-5170-61AC1A295984}"/>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761EEBF2-767A-7D62-D8B8-CDD72C716B13}"/>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204303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03C49F2E-2C94-4AA8-A832-005038B09360}"/>
              </a:ext>
            </a:extLst>
          </p:cNvPr>
          <p:cNvSpPr>
            <a:spLocks noGrp="1"/>
          </p:cNvSpPr>
          <p:nvPr>
            <p:ph type="sldNum" sz="quarter" idx="4"/>
          </p:nvPr>
        </p:nvSpPr>
        <p:spPr>
          <a:xfrm>
            <a:off x="11282926" y="6227339"/>
            <a:ext cx="492443" cy="204839"/>
          </a:xfrm>
          <a:prstGeom prst="rect">
            <a:avLst/>
          </a:prstGeom>
        </p:spPr>
        <p:txBody>
          <a:bodyPr vert="horz" lIns="91440" tIns="45720" rIns="91440" bIns="45720" rtlCol="0" anchor="ctr"/>
          <a:lstStyle>
            <a:lvl1pPr algn="ctr">
              <a:defRPr sz="1200">
                <a:solidFill>
                  <a:schemeClr val="tx1"/>
                </a:solidFill>
                <a:latin typeface="Montserrat SemiBold" panose="00000700000000000000" pitchFamily="50" charset="0"/>
                <a:ea typeface="Open Sans Light" panose="020B0606030504020204" pitchFamily="34" charset="0"/>
                <a:cs typeface="Open Sans Light" panose="020B0606030504020204" pitchFamily="34" charset="0"/>
              </a:defRPr>
            </a:lvl1pPr>
          </a:lstStyle>
          <a:p>
            <a:fld id="{58B2BE56-A1DF-44BF-AF31-08C6097C884E}" type="slidenum">
              <a:rPr lang="en-US" smtClean="0"/>
              <a:pPr/>
              <a:t>‹#›</a:t>
            </a:fld>
            <a:endParaRPr lang="en-US"/>
          </a:p>
        </p:txBody>
      </p:sp>
    </p:spTree>
    <p:extLst>
      <p:ext uri="{BB962C8B-B14F-4D97-AF65-F5344CB8AC3E}">
        <p14:creationId xmlns:p14="http://schemas.microsoft.com/office/powerpoint/2010/main" val="111116796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DAB3EE7-6D9F-2AF4-2607-9602451BBD9E}"/>
              </a:ext>
            </a:extLst>
          </p:cNvPr>
          <p:cNvSpPr>
            <a:spLocks noGrp="1"/>
          </p:cNvSpPr>
          <p:nvPr>
            <p:ph type="pic" sz="quarter" idx="15"/>
          </p:nvPr>
        </p:nvSpPr>
        <p:spPr>
          <a:xfrm>
            <a:off x="525807" y="1661392"/>
            <a:ext cx="2542952" cy="4134387"/>
          </a:xfrm>
          <a:custGeom>
            <a:avLst/>
            <a:gdLst>
              <a:gd name="connsiteX0" fmla="*/ 0 w 2542952"/>
              <a:gd name="connsiteY0" fmla="*/ 0 h 4134387"/>
              <a:gd name="connsiteX1" fmla="*/ 2542952 w 2542952"/>
              <a:gd name="connsiteY1" fmla="*/ 0 h 4134387"/>
              <a:gd name="connsiteX2" fmla="*/ 2542952 w 2542952"/>
              <a:gd name="connsiteY2" fmla="*/ 4134387 h 4134387"/>
              <a:gd name="connsiteX3" fmla="*/ 0 w 2542952"/>
              <a:gd name="connsiteY3" fmla="*/ 4134387 h 4134387"/>
            </a:gdLst>
            <a:ahLst/>
            <a:cxnLst>
              <a:cxn ang="0">
                <a:pos x="connsiteX0" y="connsiteY0"/>
              </a:cxn>
              <a:cxn ang="0">
                <a:pos x="connsiteX1" y="connsiteY1"/>
              </a:cxn>
              <a:cxn ang="0">
                <a:pos x="connsiteX2" y="connsiteY2"/>
              </a:cxn>
              <a:cxn ang="0">
                <a:pos x="connsiteX3" y="connsiteY3"/>
              </a:cxn>
            </a:cxnLst>
            <a:rect l="l" t="t" r="r" b="b"/>
            <a:pathLst>
              <a:path w="2542952" h="4134387">
                <a:moveTo>
                  <a:pt x="0" y="0"/>
                </a:moveTo>
                <a:lnTo>
                  <a:pt x="2542952" y="0"/>
                </a:lnTo>
                <a:lnTo>
                  <a:pt x="2542952" y="4134387"/>
                </a:lnTo>
                <a:lnTo>
                  <a:pt x="0" y="4134387"/>
                </a:lnTo>
                <a:close/>
              </a:path>
            </a:pathLst>
          </a:custGeom>
          <a:solidFill>
            <a:schemeClr val="bg1">
              <a:lumMod val="95000"/>
            </a:schemeClr>
          </a:solidFill>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78053FC4-7F90-3191-53B0-156CD863F209}"/>
              </a:ext>
            </a:extLst>
          </p:cNvPr>
          <p:cNvSpPr>
            <a:spLocks noGrp="1"/>
          </p:cNvSpPr>
          <p:nvPr>
            <p:ph type="pic" sz="quarter" idx="16"/>
          </p:nvPr>
        </p:nvSpPr>
        <p:spPr>
          <a:xfrm>
            <a:off x="3219373" y="1661392"/>
            <a:ext cx="2542952" cy="4134387"/>
          </a:xfrm>
          <a:custGeom>
            <a:avLst/>
            <a:gdLst>
              <a:gd name="connsiteX0" fmla="*/ 0 w 2542952"/>
              <a:gd name="connsiteY0" fmla="*/ 0 h 4134387"/>
              <a:gd name="connsiteX1" fmla="*/ 2542952 w 2542952"/>
              <a:gd name="connsiteY1" fmla="*/ 0 h 4134387"/>
              <a:gd name="connsiteX2" fmla="*/ 2542952 w 2542952"/>
              <a:gd name="connsiteY2" fmla="*/ 4134387 h 4134387"/>
              <a:gd name="connsiteX3" fmla="*/ 0 w 2542952"/>
              <a:gd name="connsiteY3" fmla="*/ 4134387 h 4134387"/>
            </a:gdLst>
            <a:ahLst/>
            <a:cxnLst>
              <a:cxn ang="0">
                <a:pos x="connsiteX0" y="connsiteY0"/>
              </a:cxn>
              <a:cxn ang="0">
                <a:pos x="connsiteX1" y="connsiteY1"/>
              </a:cxn>
              <a:cxn ang="0">
                <a:pos x="connsiteX2" y="connsiteY2"/>
              </a:cxn>
              <a:cxn ang="0">
                <a:pos x="connsiteX3" y="connsiteY3"/>
              </a:cxn>
            </a:cxnLst>
            <a:rect l="l" t="t" r="r" b="b"/>
            <a:pathLst>
              <a:path w="2542952" h="4134387">
                <a:moveTo>
                  <a:pt x="0" y="0"/>
                </a:moveTo>
                <a:lnTo>
                  <a:pt x="2542952" y="0"/>
                </a:lnTo>
                <a:lnTo>
                  <a:pt x="2542952" y="4134387"/>
                </a:lnTo>
                <a:lnTo>
                  <a:pt x="0" y="4134387"/>
                </a:lnTo>
                <a:close/>
              </a:path>
            </a:pathLst>
          </a:custGeom>
          <a:solidFill>
            <a:schemeClr val="bg1">
              <a:lumMod val="95000"/>
            </a:schemeClr>
          </a:solidFill>
        </p:spPr>
        <p:txBody>
          <a:bodyPr wrap="square">
            <a:noAutofit/>
          </a:bodyPr>
          <a:lstStyle>
            <a:lvl1pPr>
              <a:defRPr sz="1000"/>
            </a:lvl1pPr>
          </a:lstStyle>
          <a:p>
            <a:endParaRPr lang="en-US"/>
          </a:p>
        </p:txBody>
      </p:sp>
      <p:sp>
        <p:nvSpPr>
          <p:cNvPr id="13" name="Footer Placeholder 4">
            <a:extLst>
              <a:ext uri="{FF2B5EF4-FFF2-40B4-BE49-F238E27FC236}">
                <a16:creationId xmlns:a16="http://schemas.microsoft.com/office/drawing/2014/main" id="{E026706C-E833-4A06-B637-7E86AD724F97}"/>
              </a:ext>
            </a:extLst>
          </p:cNvPr>
          <p:cNvSpPr>
            <a:spLocks noGrp="1"/>
          </p:cNvSpPr>
          <p:nvPr>
            <p:ph type="ftr" sz="quarter" idx="3"/>
          </p:nvPr>
        </p:nvSpPr>
        <p:spPr>
          <a:xfrm>
            <a:off x="457200" y="6147196"/>
            <a:ext cx="3009900" cy="365125"/>
          </a:xfrm>
          <a:prstGeom prst="rect">
            <a:avLst/>
          </a:prstGeom>
        </p:spPr>
        <p:txBody>
          <a:bodyPr vert="horz" lIns="91440" tIns="45720" rIns="91440" bIns="45720" rtlCol="0" anchor="ctr"/>
          <a:lstStyle>
            <a:lvl1pPr algn="l">
              <a:defRPr sz="1400">
                <a:solidFill>
                  <a:schemeClr val="tx1">
                    <a:tint val="75000"/>
                  </a:schemeClr>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endParaRPr lang="en-US">
              <a:solidFill>
                <a:schemeClr val="accent1"/>
              </a:solidFill>
              <a:latin typeface="Montserrat SemiBold" panose="00000700000000000000" pitchFamily="50" charset="0"/>
            </a:endParaRPr>
          </a:p>
        </p:txBody>
      </p:sp>
    </p:spTree>
    <p:extLst>
      <p:ext uri="{BB962C8B-B14F-4D97-AF65-F5344CB8AC3E}">
        <p14:creationId xmlns:p14="http://schemas.microsoft.com/office/powerpoint/2010/main" val="9992949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430672" y="2528151"/>
            <a:ext cx="8466256" cy="856319"/>
          </a:xfrm>
          <a:prstGeom prst="rect">
            <a:avLst/>
          </a:prstGeom>
        </p:spPr>
        <p:txBody>
          <a:bodyPr lIns="0" rIns="0" anchor="b">
            <a:noAutofit/>
          </a:bodyPr>
          <a:lstStyle>
            <a:lvl1pPr>
              <a:defRPr sz="3200" b="0" i="0">
                <a:solidFill>
                  <a:schemeClr val="bg1"/>
                </a:solidFill>
                <a:latin typeface="Montserrat-Arabic" panose="00000500000000000000" pitchFamily="2" charset="-78"/>
                <a:cs typeface="Montserrat-Arabic" panose="00000500000000000000"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431777" y="4265289"/>
            <a:ext cx="3457143" cy="432536"/>
          </a:xfrm>
          <a:prstGeom prst="rect">
            <a:avLst/>
          </a:prstGeom>
        </p:spPr>
        <p:txBody>
          <a:bodyPr>
            <a:normAutofit/>
          </a:bodyPr>
          <a:lstStyle>
            <a:lvl1pPr marL="0" indent="0">
              <a:buNone/>
              <a:defRPr sz="1467" b="0" i="0">
                <a:solidFill>
                  <a:schemeClr val="accent2"/>
                </a:solidFill>
                <a:latin typeface="Fund Light" pitchFamily="2" charset="-78"/>
                <a:cs typeface="Fund Light" pitchFamily="2" charset="-78"/>
              </a:defRPr>
            </a:lvl1pPr>
            <a:lvl2pPr marL="660363" indent="0">
              <a:buNone/>
              <a:defRPr sz="2889">
                <a:solidFill>
                  <a:schemeClr val="tx1">
                    <a:tint val="75000"/>
                  </a:schemeClr>
                </a:solidFill>
              </a:defRPr>
            </a:lvl2pPr>
            <a:lvl3pPr marL="1320727" indent="0">
              <a:buNone/>
              <a:defRPr sz="2600">
                <a:solidFill>
                  <a:schemeClr val="tx1">
                    <a:tint val="75000"/>
                  </a:schemeClr>
                </a:solidFill>
              </a:defRPr>
            </a:lvl3pPr>
            <a:lvl4pPr marL="1981089" indent="0">
              <a:buNone/>
              <a:defRPr sz="2311">
                <a:solidFill>
                  <a:schemeClr val="tx1">
                    <a:tint val="75000"/>
                  </a:schemeClr>
                </a:solidFill>
              </a:defRPr>
            </a:lvl4pPr>
            <a:lvl5pPr marL="2641453" indent="0">
              <a:buNone/>
              <a:defRPr sz="2311">
                <a:solidFill>
                  <a:schemeClr val="tx1">
                    <a:tint val="75000"/>
                  </a:schemeClr>
                </a:solidFill>
              </a:defRPr>
            </a:lvl5pPr>
            <a:lvl6pPr marL="3301816" indent="0">
              <a:buNone/>
              <a:defRPr sz="2311">
                <a:solidFill>
                  <a:schemeClr val="tx1">
                    <a:tint val="75000"/>
                  </a:schemeClr>
                </a:solidFill>
              </a:defRPr>
            </a:lvl6pPr>
            <a:lvl7pPr marL="3962180" indent="0">
              <a:buNone/>
              <a:defRPr sz="2311">
                <a:solidFill>
                  <a:schemeClr val="tx1">
                    <a:tint val="75000"/>
                  </a:schemeClr>
                </a:solidFill>
              </a:defRPr>
            </a:lvl7pPr>
            <a:lvl8pPr marL="4622542" indent="0">
              <a:buNone/>
              <a:defRPr sz="2311">
                <a:solidFill>
                  <a:schemeClr val="tx1">
                    <a:tint val="75000"/>
                  </a:schemeClr>
                </a:solidFill>
              </a:defRPr>
            </a:lvl8pPr>
            <a:lvl9pPr marL="5282905" indent="0">
              <a:buNone/>
              <a:defRPr sz="2311">
                <a:solidFill>
                  <a:schemeClr val="tx1">
                    <a:tint val="75000"/>
                  </a:schemeClr>
                </a:solidFill>
              </a:defRPr>
            </a:lvl9pPr>
          </a:lstStyle>
          <a:p>
            <a:pPr lvl="0"/>
            <a:r>
              <a:rPr lang="en-US"/>
              <a:t>00 Month 0000</a:t>
            </a:r>
          </a:p>
        </p:txBody>
      </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430672" y="3469682"/>
            <a:ext cx="8451851" cy="444500"/>
          </a:xfrm>
          <a:prstGeom prst="rect">
            <a:avLst/>
          </a:prstGeom>
        </p:spPr>
        <p:txBody>
          <a:bodyPr anchor="b">
            <a:noAutofit/>
          </a:bodyPr>
          <a:lstStyle>
            <a:lvl1pPr marL="0" indent="0">
              <a:buNone/>
              <a:defRPr lang="en-US" sz="2133"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228594" lvl="0" indent="-228594">
              <a:spcBef>
                <a:spcPct val="0"/>
              </a:spcBef>
            </a:pPr>
            <a:r>
              <a:rPr lang="en-US"/>
              <a:t>CLICK TO EDIT SUB-TITLE</a:t>
            </a:r>
          </a:p>
        </p:txBody>
      </p:sp>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41689" y="4073676"/>
            <a:ext cx="9583404"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319FFBFC-8FAE-BD02-EA4F-941B8F261CF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312743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Title">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a:lstStyle/>
          <a:p>
            <a:r>
              <a:rPr lang="en-US"/>
              <a:t>CLICK TO EDIT MASTER TITLE STYLE</a:t>
            </a:r>
            <a:endParaRPr lang="en-SA"/>
          </a:p>
        </p:txBody>
      </p:sp>
      <p:grpSp>
        <p:nvGrpSpPr>
          <p:cNvPr id="36" name="Group 35">
            <a:extLst>
              <a:ext uri="{FF2B5EF4-FFF2-40B4-BE49-F238E27FC236}">
                <a16:creationId xmlns:a16="http://schemas.microsoft.com/office/drawing/2014/main" id="{8D7A2728-7734-5A71-9136-C6EA975CF764}"/>
              </a:ext>
            </a:extLst>
          </p:cNvPr>
          <p:cNvGrpSpPr/>
          <p:nvPr userDrawn="1"/>
        </p:nvGrpSpPr>
        <p:grpSpPr>
          <a:xfrm>
            <a:off x="1420911" y="-822889"/>
            <a:ext cx="205568" cy="823066"/>
            <a:chOff x="2734138" y="-887726"/>
            <a:chExt cx="2352552" cy="887903"/>
          </a:xfrm>
        </p:grpSpPr>
        <p:sp>
          <p:nvSpPr>
            <p:cNvPr id="37" name="Freeform: Shape 36">
              <a:extLst>
                <a:ext uri="{FF2B5EF4-FFF2-40B4-BE49-F238E27FC236}">
                  <a16:creationId xmlns:a16="http://schemas.microsoft.com/office/drawing/2014/main" id="{98BE33A2-0BF8-FAAE-35D1-80A420F0EA89}"/>
                </a:ext>
              </a:extLst>
            </p:cNvPr>
            <p:cNvSpPr/>
            <p:nvPr/>
          </p:nvSpPr>
          <p:spPr>
            <a:xfrm>
              <a:off x="2734138" y="-221795"/>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22323F"/>
            </a:solidFill>
            <a:ln w="136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8A1FABE-0A81-398B-125A-373F1FF1D53E}"/>
                </a:ext>
              </a:extLst>
            </p:cNvPr>
            <p:cNvSpPr/>
            <p:nvPr/>
          </p:nvSpPr>
          <p:spPr>
            <a:xfrm>
              <a:off x="2734138" y="-443768"/>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E87722"/>
            </a:solidFill>
            <a:ln w="136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30465A0-B6F1-A3EC-53AC-7B293EAF4097}"/>
                </a:ext>
              </a:extLst>
            </p:cNvPr>
            <p:cNvSpPr/>
            <p:nvPr/>
          </p:nvSpPr>
          <p:spPr>
            <a:xfrm>
              <a:off x="2734138" y="-665753"/>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8DC8E8"/>
            </a:solidFill>
            <a:ln w="136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AAA93B5-1E21-08E1-F52E-E6FFA737A49E}"/>
                </a:ext>
              </a:extLst>
            </p:cNvPr>
            <p:cNvSpPr/>
            <p:nvPr/>
          </p:nvSpPr>
          <p:spPr>
            <a:xfrm>
              <a:off x="2734138" y="-887726"/>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173F35"/>
            </a:solidFill>
            <a:ln w="1364" cap="flat">
              <a:noFill/>
              <a:prstDash val="solid"/>
              <a:miter/>
            </a:ln>
          </p:spPr>
          <p:txBody>
            <a:bodyPr rtlCol="0" anchor="ctr"/>
            <a:lstStyle/>
            <a:p>
              <a:endParaRPr lang="en-US"/>
            </a:p>
          </p:txBody>
        </p:sp>
      </p:grpSp>
      <p:pic>
        <p:nvPicPr>
          <p:cNvPr id="41" name="Graphic 40">
            <a:extLst>
              <a:ext uri="{FF2B5EF4-FFF2-40B4-BE49-F238E27FC236}">
                <a16:creationId xmlns:a16="http://schemas.microsoft.com/office/drawing/2014/main" id="{26119658-2494-FE9A-C467-45F3E2B80D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819545"/>
            <a:ext cx="1462088" cy="819543"/>
          </a:xfrm>
          <a:prstGeom prst="rect">
            <a:avLst/>
          </a:prstGeom>
        </p:spPr>
      </p:pic>
    </p:spTree>
    <p:extLst>
      <p:ext uri="{BB962C8B-B14F-4D97-AF65-F5344CB8AC3E}">
        <p14:creationId xmlns:p14="http://schemas.microsoft.com/office/powerpoint/2010/main" val="2022892095"/>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ild Photo">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5E63D79-F6F7-439B-48FC-E42AFDA3BCF2}"/>
              </a:ext>
            </a:extLst>
          </p:cNvPr>
          <p:cNvSpPr>
            <a:spLocks noGrp="1"/>
          </p:cNvSpPr>
          <p:nvPr>
            <p:ph type="pic" sz="quarter" idx="11"/>
          </p:nvPr>
        </p:nvSpPr>
        <p:spPr>
          <a:xfrm>
            <a:off x="1022032" y="1571629"/>
            <a:ext cx="10738168" cy="2065640"/>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0" name="Text Placeholder 15">
            <a:extLst>
              <a:ext uri="{FF2B5EF4-FFF2-40B4-BE49-F238E27FC236}">
                <a16:creationId xmlns:a16="http://schemas.microsoft.com/office/drawing/2014/main" id="{593BAA84-AAE3-47BE-B61F-C606F8B8FFC9}"/>
              </a:ext>
            </a:extLst>
          </p:cNvPr>
          <p:cNvSpPr>
            <a:spLocks noGrp="1"/>
          </p:cNvSpPr>
          <p:nvPr>
            <p:ph type="body" sz="quarter" idx="15" hasCustomPrompt="1"/>
          </p:nvPr>
        </p:nvSpPr>
        <p:spPr>
          <a:xfrm>
            <a:off x="1022033" y="3899854"/>
            <a:ext cx="10738167" cy="329003"/>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able Placeholder 14">
            <a:extLst>
              <a:ext uri="{FF2B5EF4-FFF2-40B4-BE49-F238E27FC236}">
                <a16:creationId xmlns:a16="http://schemas.microsoft.com/office/drawing/2014/main" id="{160FE0B8-0092-10F7-C222-248997B2309D}"/>
              </a:ext>
            </a:extLst>
          </p:cNvPr>
          <p:cNvSpPr>
            <a:spLocks noGrp="1"/>
          </p:cNvSpPr>
          <p:nvPr>
            <p:ph type="tbl" sz="quarter" idx="16"/>
          </p:nvPr>
        </p:nvSpPr>
        <p:spPr>
          <a:xfrm>
            <a:off x="1022032" y="4506119"/>
            <a:ext cx="10738168" cy="1562364"/>
          </a:xfrm>
          <a:prstGeom prst="rect">
            <a:avLst/>
          </a:prstGeom>
        </p:spPr>
        <p:txBody>
          <a:bodyPr/>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itle 4">
            <a:extLst>
              <a:ext uri="{FF2B5EF4-FFF2-40B4-BE49-F238E27FC236}">
                <a16:creationId xmlns:a16="http://schemas.microsoft.com/office/drawing/2014/main" id="{34481DCD-520F-982D-71E2-7389450C1C08}"/>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1969335562"/>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vy Content ">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F3C60F4-E3AA-1F3F-DDB1-3E1512E32193}"/>
              </a:ext>
            </a:extLst>
          </p:cNvPr>
          <p:cNvSpPr>
            <a:spLocks noGrp="1"/>
          </p:cNvSpPr>
          <p:nvPr>
            <p:ph type="body" sz="quarter" idx="11" hasCustomPrompt="1"/>
          </p:nvPr>
        </p:nvSpPr>
        <p:spPr>
          <a:xfrm>
            <a:off x="1021643" y="1870339"/>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15" name="Text Placeholder 14">
            <a:extLst>
              <a:ext uri="{FF2B5EF4-FFF2-40B4-BE49-F238E27FC236}">
                <a16:creationId xmlns:a16="http://schemas.microsoft.com/office/drawing/2014/main" id="{EE6A8381-4A00-FD4F-E99A-2B679E9B33FF}"/>
              </a:ext>
            </a:extLst>
          </p:cNvPr>
          <p:cNvSpPr>
            <a:spLocks noGrp="1"/>
          </p:cNvSpPr>
          <p:nvPr>
            <p:ph type="body" sz="quarter" idx="20" hasCustomPrompt="1"/>
          </p:nvPr>
        </p:nvSpPr>
        <p:spPr>
          <a:xfrm>
            <a:off x="1022033" y="2854390"/>
            <a:ext cx="10739874" cy="941523"/>
          </a:xfrm>
        </p:spPr>
        <p:txBody>
          <a:bodyPr>
            <a:normAutofit/>
          </a:bodyPr>
          <a:lstStyle>
            <a:lvl4pPr>
              <a:defRPr sz="1000"/>
            </a:lvl4pPr>
          </a:lstStyle>
          <a:p>
            <a:pPr lvl="3"/>
            <a:r>
              <a:rPr lang="en-US"/>
              <a:t>Body text here</a:t>
            </a:r>
          </a:p>
          <a:p>
            <a:pPr lvl="3"/>
            <a:r>
              <a:rPr lang="en-US"/>
              <a:t>Body text here</a:t>
            </a:r>
          </a:p>
          <a:p>
            <a:pPr lvl="3"/>
            <a:r>
              <a:rPr lang="en-US"/>
              <a:t>Body text here</a:t>
            </a:r>
          </a:p>
          <a:p>
            <a:pPr lvl="3"/>
            <a:r>
              <a:rPr lang="en-US"/>
              <a:t>Body text here</a:t>
            </a:r>
          </a:p>
        </p:txBody>
      </p:sp>
      <p:sp>
        <p:nvSpPr>
          <p:cNvPr id="20" name="Text Placeholder 15">
            <a:extLst>
              <a:ext uri="{FF2B5EF4-FFF2-40B4-BE49-F238E27FC236}">
                <a16:creationId xmlns:a16="http://schemas.microsoft.com/office/drawing/2014/main" id="{34AF7102-903E-2E0D-CF4D-AEE7D0606356}"/>
              </a:ext>
            </a:extLst>
          </p:cNvPr>
          <p:cNvSpPr>
            <a:spLocks noGrp="1"/>
          </p:cNvSpPr>
          <p:nvPr>
            <p:ph type="body" sz="quarter" idx="21" hasCustomPrompt="1"/>
          </p:nvPr>
        </p:nvSpPr>
        <p:spPr>
          <a:xfrm>
            <a:off x="1021643" y="3953325"/>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24" name="Text Placeholder 15">
            <a:extLst>
              <a:ext uri="{FF2B5EF4-FFF2-40B4-BE49-F238E27FC236}">
                <a16:creationId xmlns:a16="http://schemas.microsoft.com/office/drawing/2014/main" id="{CA02BEB5-EB10-8F01-2D87-300ACE5E516C}"/>
              </a:ext>
            </a:extLst>
          </p:cNvPr>
          <p:cNvSpPr>
            <a:spLocks noGrp="1"/>
          </p:cNvSpPr>
          <p:nvPr>
            <p:ph type="body" sz="quarter" idx="23" hasCustomPrompt="1"/>
          </p:nvPr>
        </p:nvSpPr>
        <p:spPr>
          <a:xfrm>
            <a:off x="1021643" y="5065539"/>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27" name="Text Placeholder 26">
            <a:extLst>
              <a:ext uri="{FF2B5EF4-FFF2-40B4-BE49-F238E27FC236}">
                <a16:creationId xmlns:a16="http://schemas.microsoft.com/office/drawing/2014/main" id="{31360F0F-A667-7019-2E37-33DD8B68A971}"/>
              </a:ext>
            </a:extLst>
          </p:cNvPr>
          <p:cNvSpPr>
            <a:spLocks noGrp="1"/>
          </p:cNvSpPr>
          <p:nvPr>
            <p:ph type="body" sz="quarter" idx="25" hasCustomPrompt="1"/>
          </p:nvPr>
        </p:nvSpPr>
        <p:spPr>
          <a:xfrm>
            <a:off x="1021643" y="2196323"/>
            <a:ext cx="10732848" cy="636951"/>
          </a:xfrm>
        </p:spPr>
        <p:txBody>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8" name="Text Placeholder 26">
            <a:extLst>
              <a:ext uri="{FF2B5EF4-FFF2-40B4-BE49-F238E27FC236}">
                <a16:creationId xmlns:a16="http://schemas.microsoft.com/office/drawing/2014/main" id="{53DBBEB4-7B3E-DCA7-64CA-BB578A31E44C}"/>
              </a:ext>
            </a:extLst>
          </p:cNvPr>
          <p:cNvSpPr>
            <a:spLocks noGrp="1"/>
          </p:cNvSpPr>
          <p:nvPr>
            <p:ph type="body" sz="quarter" idx="26" hasCustomPrompt="1"/>
          </p:nvPr>
        </p:nvSpPr>
        <p:spPr>
          <a:xfrm>
            <a:off x="1021643" y="4281155"/>
            <a:ext cx="10732849" cy="636951"/>
          </a:xfrm>
        </p:spPr>
        <p:txBody>
          <a:bodyPr>
            <a:noAutofit/>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9" name="Text Placeholder 26">
            <a:extLst>
              <a:ext uri="{FF2B5EF4-FFF2-40B4-BE49-F238E27FC236}">
                <a16:creationId xmlns:a16="http://schemas.microsoft.com/office/drawing/2014/main" id="{C06685A2-318B-C098-6BDF-C4687A7AC986}"/>
              </a:ext>
            </a:extLst>
          </p:cNvPr>
          <p:cNvSpPr>
            <a:spLocks noGrp="1"/>
          </p:cNvSpPr>
          <p:nvPr>
            <p:ph type="body" sz="quarter" idx="27" hasCustomPrompt="1"/>
          </p:nvPr>
        </p:nvSpPr>
        <p:spPr>
          <a:xfrm>
            <a:off x="1021643" y="5390627"/>
            <a:ext cx="10732848" cy="552973"/>
          </a:xfrm>
        </p:spPr>
        <p:txBody>
          <a:bodyPr>
            <a:noAutofit/>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32" name="Title 4">
            <a:extLst>
              <a:ext uri="{FF2B5EF4-FFF2-40B4-BE49-F238E27FC236}">
                <a16:creationId xmlns:a16="http://schemas.microsoft.com/office/drawing/2014/main" id="{134029DC-1981-2D55-218B-23C049E5A225}"/>
              </a:ext>
            </a:extLst>
          </p:cNvPr>
          <p:cNvSpPr>
            <a:spLocks noGrp="1"/>
          </p:cNvSpPr>
          <p:nvPr>
            <p:ph type="title" hasCustomPrompt="1"/>
          </p:nvPr>
        </p:nvSpPr>
        <p:spPr>
          <a:xfrm>
            <a:off x="1022033" y="983246"/>
            <a:ext cx="10330179" cy="498899"/>
          </a:xfrm>
        </p:spPr>
        <p:txBody>
          <a:bodyPr>
            <a:noAutofit/>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292013207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Heavy Content ">
    <p:spTree>
      <p:nvGrpSpPr>
        <p:cNvPr id="1" name=""/>
        <p:cNvGrpSpPr/>
        <p:nvPr/>
      </p:nvGrpSpPr>
      <p:grpSpPr>
        <a:xfrm>
          <a:off x="0" y="0"/>
          <a:ext cx="0" cy="0"/>
          <a:chOff x="0" y="0"/>
          <a:chExt cx="0" cy="0"/>
        </a:xfrm>
      </p:grpSpPr>
      <p:sp>
        <p:nvSpPr>
          <p:cNvPr id="7" name="Text Placeholder 15">
            <a:extLst>
              <a:ext uri="{FF2B5EF4-FFF2-40B4-BE49-F238E27FC236}">
                <a16:creationId xmlns:a16="http://schemas.microsoft.com/office/drawing/2014/main" id="{EE77B192-B893-8971-B271-AC63637A2065}"/>
              </a:ext>
            </a:extLst>
          </p:cNvPr>
          <p:cNvSpPr>
            <a:spLocks noGrp="1"/>
          </p:cNvSpPr>
          <p:nvPr>
            <p:ph type="body" sz="quarter" idx="11" hasCustomPrompt="1"/>
          </p:nvPr>
        </p:nvSpPr>
        <p:spPr>
          <a:xfrm>
            <a:off x="1022032" y="1669831"/>
            <a:ext cx="10738167"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8" name="Text Placeholder 26">
            <a:extLst>
              <a:ext uri="{FF2B5EF4-FFF2-40B4-BE49-F238E27FC236}">
                <a16:creationId xmlns:a16="http://schemas.microsoft.com/office/drawing/2014/main" id="{0361BD90-5B42-10E2-969A-B5889292C21C}"/>
              </a:ext>
            </a:extLst>
          </p:cNvPr>
          <p:cNvSpPr>
            <a:spLocks noGrp="1"/>
          </p:cNvSpPr>
          <p:nvPr>
            <p:ph type="body" sz="quarter" idx="25" hasCustomPrompt="1"/>
          </p:nvPr>
        </p:nvSpPr>
        <p:spPr>
          <a:xfrm>
            <a:off x="1022033" y="1995815"/>
            <a:ext cx="10738168" cy="4256790"/>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1" name="Title 4">
            <a:extLst>
              <a:ext uri="{FF2B5EF4-FFF2-40B4-BE49-F238E27FC236}">
                <a16:creationId xmlns:a16="http://schemas.microsoft.com/office/drawing/2014/main" id="{2E6A1F2E-D8AD-3208-9C3F-9BD0654DA9F2}"/>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86300692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Heavy Content ">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9740954-8C27-8302-D638-45CFCA778965}"/>
              </a:ext>
            </a:extLst>
          </p:cNvPr>
          <p:cNvSpPr>
            <a:spLocks noGrp="1"/>
          </p:cNvSpPr>
          <p:nvPr>
            <p:ph type="pic" sz="quarter" idx="14"/>
          </p:nvPr>
        </p:nvSpPr>
        <p:spPr>
          <a:xfrm>
            <a:off x="6902039" y="1991442"/>
            <a:ext cx="4858161" cy="4305868"/>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ext Placeholder 15">
            <a:extLst>
              <a:ext uri="{FF2B5EF4-FFF2-40B4-BE49-F238E27FC236}">
                <a16:creationId xmlns:a16="http://schemas.microsoft.com/office/drawing/2014/main" id="{9DEB9C49-F9DD-9E0B-CA20-D228F3BF856C}"/>
              </a:ext>
            </a:extLst>
          </p:cNvPr>
          <p:cNvSpPr>
            <a:spLocks noGrp="1"/>
          </p:cNvSpPr>
          <p:nvPr>
            <p:ph type="body" sz="quarter" idx="11" hasCustomPrompt="1"/>
          </p:nvPr>
        </p:nvSpPr>
        <p:spPr>
          <a:xfrm>
            <a:off x="1022032" y="1665458"/>
            <a:ext cx="10738167"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6" name="Text Placeholder 26">
            <a:extLst>
              <a:ext uri="{FF2B5EF4-FFF2-40B4-BE49-F238E27FC236}">
                <a16:creationId xmlns:a16="http://schemas.microsoft.com/office/drawing/2014/main" id="{DF34FA57-6720-CCDD-D940-7AFDA13CBF48}"/>
              </a:ext>
            </a:extLst>
          </p:cNvPr>
          <p:cNvSpPr>
            <a:spLocks noGrp="1"/>
          </p:cNvSpPr>
          <p:nvPr>
            <p:ph type="body" sz="quarter" idx="25" hasCustomPrompt="1"/>
          </p:nvPr>
        </p:nvSpPr>
        <p:spPr>
          <a:xfrm>
            <a:off x="1022033" y="1991442"/>
            <a:ext cx="4858161" cy="429469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4" name="Title 4">
            <a:extLst>
              <a:ext uri="{FF2B5EF4-FFF2-40B4-BE49-F238E27FC236}">
                <a16:creationId xmlns:a16="http://schemas.microsoft.com/office/drawing/2014/main" id="{7972ED5C-D7A9-7213-5E4E-7FEEA79C1FCF}"/>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47255394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Heavy Content ">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8DF0694E-B26D-4C07-3464-889128CF46CC}"/>
              </a:ext>
            </a:extLst>
          </p:cNvPr>
          <p:cNvSpPr>
            <a:spLocks noGrp="1"/>
          </p:cNvSpPr>
          <p:nvPr>
            <p:ph type="body" sz="quarter" idx="11" hasCustomPrompt="1"/>
          </p:nvPr>
        </p:nvSpPr>
        <p:spPr>
          <a:xfrm>
            <a:off x="1015416" y="1816892"/>
            <a:ext cx="4877386"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7" name="Text Placeholder 26">
            <a:extLst>
              <a:ext uri="{FF2B5EF4-FFF2-40B4-BE49-F238E27FC236}">
                <a16:creationId xmlns:a16="http://schemas.microsoft.com/office/drawing/2014/main" id="{E4D84FB3-7CB7-EB17-D9F0-978923A22963}"/>
              </a:ext>
            </a:extLst>
          </p:cNvPr>
          <p:cNvSpPr>
            <a:spLocks noGrp="1"/>
          </p:cNvSpPr>
          <p:nvPr>
            <p:ph type="body" sz="quarter" idx="25" hasCustomPrompt="1"/>
          </p:nvPr>
        </p:nvSpPr>
        <p:spPr>
          <a:xfrm>
            <a:off x="1022033" y="2142875"/>
            <a:ext cx="4870767" cy="1935879"/>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Picture Placeholder 5">
            <a:extLst>
              <a:ext uri="{FF2B5EF4-FFF2-40B4-BE49-F238E27FC236}">
                <a16:creationId xmlns:a16="http://schemas.microsoft.com/office/drawing/2014/main" id="{2689D924-B573-9F3B-11FD-1A189D0ACA31}"/>
              </a:ext>
            </a:extLst>
          </p:cNvPr>
          <p:cNvSpPr>
            <a:spLocks noGrp="1"/>
          </p:cNvSpPr>
          <p:nvPr>
            <p:ph type="pic" sz="quarter" idx="14"/>
          </p:nvPr>
        </p:nvSpPr>
        <p:spPr>
          <a:xfrm>
            <a:off x="6889433" y="2142876"/>
            <a:ext cx="4870768" cy="4154432"/>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4" name="Picture Placeholder 5">
            <a:extLst>
              <a:ext uri="{FF2B5EF4-FFF2-40B4-BE49-F238E27FC236}">
                <a16:creationId xmlns:a16="http://schemas.microsoft.com/office/drawing/2014/main" id="{37CF3A16-6EF2-45BE-1B4F-3C77259A317E}"/>
              </a:ext>
            </a:extLst>
          </p:cNvPr>
          <p:cNvSpPr>
            <a:spLocks noGrp="1"/>
          </p:cNvSpPr>
          <p:nvPr>
            <p:ph type="pic" sz="quarter" idx="27"/>
          </p:nvPr>
        </p:nvSpPr>
        <p:spPr>
          <a:xfrm>
            <a:off x="1015415" y="4417459"/>
            <a:ext cx="4877385" cy="1861014"/>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18" name="Title 4">
            <a:extLst>
              <a:ext uri="{FF2B5EF4-FFF2-40B4-BE49-F238E27FC236}">
                <a16:creationId xmlns:a16="http://schemas.microsoft.com/office/drawing/2014/main" id="{53D343EC-4656-122D-3A78-738663F7AB57}"/>
              </a:ext>
            </a:extLst>
          </p:cNvPr>
          <p:cNvSpPr>
            <a:spLocks noGrp="1"/>
          </p:cNvSpPr>
          <p:nvPr>
            <p:ph type="title" hasCustomPrompt="1"/>
          </p:nvPr>
        </p:nvSpPr>
        <p:spPr>
          <a:xfrm>
            <a:off x="1022033" y="983386"/>
            <a:ext cx="7585892" cy="502761"/>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94569040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Heavy Content ">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999BEE0A-983E-CF6E-3446-3D7EE05835CB}"/>
              </a:ext>
            </a:extLst>
          </p:cNvPr>
          <p:cNvSpPr>
            <a:spLocks noGrp="1"/>
          </p:cNvSpPr>
          <p:nvPr>
            <p:ph type="body" sz="quarter" idx="11" hasCustomPrompt="1"/>
          </p:nvPr>
        </p:nvSpPr>
        <p:spPr>
          <a:xfrm>
            <a:off x="976313" y="1786974"/>
            <a:ext cx="1078388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6" name="Picture Placeholder 5">
            <a:extLst>
              <a:ext uri="{FF2B5EF4-FFF2-40B4-BE49-F238E27FC236}">
                <a16:creationId xmlns:a16="http://schemas.microsoft.com/office/drawing/2014/main" id="{CB929CED-133E-AE9C-4043-4E351A200028}"/>
              </a:ext>
            </a:extLst>
          </p:cNvPr>
          <p:cNvSpPr>
            <a:spLocks noGrp="1"/>
          </p:cNvSpPr>
          <p:nvPr>
            <p:ph type="pic" sz="quarter" idx="14"/>
          </p:nvPr>
        </p:nvSpPr>
        <p:spPr>
          <a:xfrm>
            <a:off x="6841003" y="2112957"/>
            <a:ext cx="4916486" cy="4184345"/>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7" name="Picture Placeholder 5">
            <a:extLst>
              <a:ext uri="{FF2B5EF4-FFF2-40B4-BE49-F238E27FC236}">
                <a16:creationId xmlns:a16="http://schemas.microsoft.com/office/drawing/2014/main" id="{FE3DC04A-A27A-0749-391E-FC16FFFBBF19}"/>
              </a:ext>
            </a:extLst>
          </p:cNvPr>
          <p:cNvSpPr>
            <a:spLocks noGrp="1"/>
          </p:cNvSpPr>
          <p:nvPr>
            <p:ph type="pic" sz="quarter" idx="27"/>
          </p:nvPr>
        </p:nvSpPr>
        <p:spPr>
          <a:xfrm>
            <a:off x="976312" y="4310863"/>
            <a:ext cx="4916487" cy="1986305"/>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18" name="Picture Placeholder 5">
            <a:extLst>
              <a:ext uri="{FF2B5EF4-FFF2-40B4-BE49-F238E27FC236}">
                <a16:creationId xmlns:a16="http://schemas.microsoft.com/office/drawing/2014/main" id="{750E1692-A5A5-77B1-1F6F-2CFEA35184A1}"/>
              </a:ext>
            </a:extLst>
          </p:cNvPr>
          <p:cNvSpPr>
            <a:spLocks noGrp="1"/>
          </p:cNvSpPr>
          <p:nvPr>
            <p:ph type="pic" sz="quarter" idx="18"/>
          </p:nvPr>
        </p:nvSpPr>
        <p:spPr>
          <a:xfrm>
            <a:off x="976312" y="2114864"/>
            <a:ext cx="4916487" cy="1986305"/>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4" name="Title 4">
            <a:extLst>
              <a:ext uri="{FF2B5EF4-FFF2-40B4-BE49-F238E27FC236}">
                <a16:creationId xmlns:a16="http://schemas.microsoft.com/office/drawing/2014/main" id="{B34E6867-AD99-2838-8C10-ECFAACFC6CC1}"/>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773629538"/>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Heavy Content ">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E91A9CE8-D9B8-8207-FFF9-1084438AEA25}"/>
              </a:ext>
            </a:extLst>
          </p:cNvPr>
          <p:cNvSpPr>
            <a:spLocks noGrp="1"/>
          </p:cNvSpPr>
          <p:nvPr>
            <p:ph type="body" sz="quarter" idx="11" hasCustomPrompt="1"/>
          </p:nvPr>
        </p:nvSpPr>
        <p:spPr>
          <a:xfrm>
            <a:off x="1022032" y="1817511"/>
            <a:ext cx="1073816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Picture Placeholder 5">
            <a:extLst>
              <a:ext uri="{FF2B5EF4-FFF2-40B4-BE49-F238E27FC236}">
                <a16:creationId xmlns:a16="http://schemas.microsoft.com/office/drawing/2014/main" id="{DE209958-14EE-8110-80D6-28C39824E8D4}"/>
              </a:ext>
            </a:extLst>
          </p:cNvPr>
          <p:cNvSpPr>
            <a:spLocks noGrp="1"/>
          </p:cNvSpPr>
          <p:nvPr>
            <p:ph type="pic" sz="quarter" idx="27"/>
          </p:nvPr>
        </p:nvSpPr>
        <p:spPr>
          <a:xfrm>
            <a:off x="1022032" y="4304761"/>
            <a:ext cx="4870767" cy="1992541"/>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5" name="Picture Placeholder 5">
            <a:extLst>
              <a:ext uri="{FF2B5EF4-FFF2-40B4-BE49-F238E27FC236}">
                <a16:creationId xmlns:a16="http://schemas.microsoft.com/office/drawing/2014/main" id="{030635A7-4B2F-AA42-CC6F-4CF4E4C3D7BD}"/>
              </a:ext>
            </a:extLst>
          </p:cNvPr>
          <p:cNvSpPr>
            <a:spLocks noGrp="1"/>
          </p:cNvSpPr>
          <p:nvPr>
            <p:ph type="pic" sz="quarter" idx="18"/>
          </p:nvPr>
        </p:nvSpPr>
        <p:spPr>
          <a:xfrm>
            <a:off x="1022032" y="2145401"/>
            <a:ext cx="4870767" cy="1992541"/>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26" name="Picture Placeholder 5">
            <a:extLst>
              <a:ext uri="{FF2B5EF4-FFF2-40B4-BE49-F238E27FC236}">
                <a16:creationId xmlns:a16="http://schemas.microsoft.com/office/drawing/2014/main" id="{8A74BDD0-A9DE-AF09-A11C-41CCDD567CCE}"/>
              </a:ext>
            </a:extLst>
          </p:cNvPr>
          <p:cNvSpPr>
            <a:spLocks noGrp="1"/>
          </p:cNvSpPr>
          <p:nvPr>
            <p:ph type="pic" sz="quarter" idx="28"/>
          </p:nvPr>
        </p:nvSpPr>
        <p:spPr>
          <a:xfrm>
            <a:off x="6889432" y="4304761"/>
            <a:ext cx="4870767" cy="1992541"/>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7" name="Picture Placeholder 5">
            <a:extLst>
              <a:ext uri="{FF2B5EF4-FFF2-40B4-BE49-F238E27FC236}">
                <a16:creationId xmlns:a16="http://schemas.microsoft.com/office/drawing/2014/main" id="{F001EE93-86CC-1631-6ECC-1A09ECA433E8}"/>
              </a:ext>
            </a:extLst>
          </p:cNvPr>
          <p:cNvSpPr>
            <a:spLocks noGrp="1"/>
          </p:cNvSpPr>
          <p:nvPr>
            <p:ph type="pic" sz="quarter" idx="29"/>
          </p:nvPr>
        </p:nvSpPr>
        <p:spPr>
          <a:xfrm>
            <a:off x="6889432" y="2145401"/>
            <a:ext cx="4870767" cy="1992541"/>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0" name="Title 4">
            <a:extLst>
              <a:ext uri="{FF2B5EF4-FFF2-40B4-BE49-F238E27FC236}">
                <a16:creationId xmlns:a16="http://schemas.microsoft.com/office/drawing/2014/main" id="{732A8086-D40C-0171-EA62-CA630F60A730}"/>
              </a:ext>
            </a:extLst>
          </p:cNvPr>
          <p:cNvSpPr>
            <a:spLocks noGrp="1"/>
          </p:cNvSpPr>
          <p:nvPr>
            <p:ph type="title" hasCustomPrompt="1"/>
          </p:nvPr>
        </p:nvSpPr>
        <p:spPr>
          <a:xfrm>
            <a:off x="1022033" y="983386"/>
            <a:ext cx="7585892" cy="502765"/>
          </a:xfrm>
        </p:spPr>
        <p:txBody>
          <a:bodyPr>
            <a:noAutofit/>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3872422487"/>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Heavy Content ">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F7B5159B-DD76-53E1-A1B7-565EEC39B250}"/>
              </a:ext>
            </a:extLst>
          </p:cNvPr>
          <p:cNvSpPr>
            <a:spLocks noGrp="1"/>
          </p:cNvSpPr>
          <p:nvPr>
            <p:ph type="pic" sz="quarter" idx="11"/>
          </p:nvPr>
        </p:nvSpPr>
        <p:spPr>
          <a:xfrm>
            <a:off x="1022000" y="4001383"/>
            <a:ext cx="10738201" cy="2295928"/>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 name="Text Placeholder 15">
            <a:extLst>
              <a:ext uri="{FF2B5EF4-FFF2-40B4-BE49-F238E27FC236}">
                <a16:creationId xmlns:a16="http://schemas.microsoft.com/office/drawing/2014/main" id="{82E5DD3A-DC8C-3C86-99AE-9879313ADA98}"/>
              </a:ext>
            </a:extLst>
          </p:cNvPr>
          <p:cNvSpPr>
            <a:spLocks noGrp="1"/>
          </p:cNvSpPr>
          <p:nvPr>
            <p:ph type="body" sz="quarter" idx="12" hasCustomPrompt="1"/>
          </p:nvPr>
        </p:nvSpPr>
        <p:spPr>
          <a:xfrm>
            <a:off x="1022035" y="1599757"/>
            <a:ext cx="10738166"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C87D6031-A671-4CA7-B8CD-855A9E548B71}"/>
              </a:ext>
            </a:extLst>
          </p:cNvPr>
          <p:cNvSpPr>
            <a:spLocks noGrp="1"/>
          </p:cNvSpPr>
          <p:nvPr>
            <p:ph type="body" sz="quarter" idx="25" hasCustomPrompt="1"/>
          </p:nvPr>
        </p:nvSpPr>
        <p:spPr>
          <a:xfrm>
            <a:off x="1022033" y="1925740"/>
            <a:ext cx="10738167" cy="177997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C0E66309-A0FA-530A-0FA7-3F979A9EA203}"/>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4138254033"/>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864B2C5F-15A1-0237-E736-B18B7007540E}"/>
              </a:ext>
            </a:extLst>
          </p:cNvPr>
          <p:cNvSpPr>
            <a:spLocks noGrp="1"/>
          </p:cNvSpPr>
          <p:nvPr>
            <p:ph type="body" sz="quarter" idx="11" hasCustomPrompt="1"/>
          </p:nvPr>
        </p:nvSpPr>
        <p:spPr>
          <a:xfrm>
            <a:off x="1030312" y="1995377"/>
            <a:ext cx="4484112"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FIRST NAME LAST NAME</a:t>
            </a:r>
          </a:p>
        </p:txBody>
      </p:sp>
      <p:sp>
        <p:nvSpPr>
          <p:cNvPr id="18" name="Text Placeholder 15">
            <a:extLst>
              <a:ext uri="{FF2B5EF4-FFF2-40B4-BE49-F238E27FC236}">
                <a16:creationId xmlns:a16="http://schemas.microsoft.com/office/drawing/2014/main" id="{5C6495FB-2E37-9EEA-E8C5-67126F522F98}"/>
              </a:ext>
            </a:extLst>
          </p:cNvPr>
          <p:cNvSpPr>
            <a:spLocks noGrp="1"/>
          </p:cNvSpPr>
          <p:nvPr>
            <p:ph type="body" sz="quarter" idx="12" hasCustomPrompt="1"/>
          </p:nvPr>
        </p:nvSpPr>
        <p:spPr>
          <a:xfrm>
            <a:off x="1030312" y="2401776"/>
            <a:ext cx="4484112" cy="238003"/>
          </a:xfrm>
          <a:prstGeom prst="rect">
            <a:avLst/>
          </a:prstGeom>
        </p:spPr>
        <p:txBody>
          <a:bodyPr/>
          <a:lstStyle>
            <a:lvl1pPr marL="0" indent="0" algn="l" defTabSz="609585" rtl="0" eaLnBrk="1" latinLnBrk="0" hangingPunct="1">
              <a:lnSpc>
                <a:spcPct val="100000"/>
              </a:lnSpc>
              <a:buNone/>
              <a:defRPr lang="en-SA" sz="1067" kern="1200" dirty="0">
                <a:solidFill>
                  <a:schemeClr val="tx2"/>
                </a:solidFill>
                <a:latin typeface="Fund Light" pitchFamily="2" charset="-78"/>
                <a:ea typeface="+mn-ea"/>
                <a:cs typeface="Fund Light" pitchFamily="2" charset="-78"/>
              </a:defRPr>
            </a:lvl1pPr>
          </a:lstStyle>
          <a:p>
            <a:pPr lvl="0"/>
            <a:r>
              <a:rPr lang="en-US"/>
              <a:t>POSITION</a:t>
            </a:r>
            <a:endParaRPr lang="en-SA"/>
          </a:p>
        </p:txBody>
      </p:sp>
      <p:sp>
        <p:nvSpPr>
          <p:cNvPr id="40" name="Picture Placeholder 38">
            <a:extLst>
              <a:ext uri="{FF2B5EF4-FFF2-40B4-BE49-F238E27FC236}">
                <a16:creationId xmlns:a16="http://schemas.microsoft.com/office/drawing/2014/main" id="{936645E6-889A-5051-D79B-F4C7655AD7E6}"/>
              </a:ext>
            </a:extLst>
          </p:cNvPr>
          <p:cNvSpPr>
            <a:spLocks noGrp="1"/>
          </p:cNvSpPr>
          <p:nvPr>
            <p:ph type="pic" sz="quarter" idx="14"/>
          </p:nvPr>
        </p:nvSpPr>
        <p:spPr>
          <a:xfrm>
            <a:off x="7812856" y="2276415"/>
            <a:ext cx="2319083" cy="2319083"/>
          </a:xfrm>
          <a:prstGeom prst="ellipse">
            <a:avLst/>
          </a:prstGeom>
        </p:spPr>
        <p:txBody>
          <a:bodyPr anchor="ctr"/>
          <a:lstStyle>
            <a:lvl1pPr marL="0" indent="0" algn="ctr">
              <a:buNone/>
              <a:defRPr sz="1867">
                <a:latin typeface="Montserrat-Arabic" panose="00000500000000000000" pitchFamily="2" charset="-78"/>
                <a:cs typeface="Montserrat-Arabic" panose="00000500000000000000" pitchFamily="2" charset="-78"/>
              </a:defRPr>
            </a:lvl1pPr>
          </a:lstStyle>
          <a:p>
            <a:endParaRPr lang="en-SA"/>
          </a:p>
        </p:txBody>
      </p:sp>
      <p:sp>
        <p:nvSpPr>
          <p:cNvPr id="41" name="Oval 40">
            <a:extLst>
              <a:ext uri="{FF2B5EF4-FFF2-40B4-BE49-F238E27FC236}">
                <a16:creationId xmlns:a16="http://schemas.microsoft.com/office/drawing/2014/main" id="{5AAC91EF-9292-BEF6-ACFB-00D499714556}"/>
              </a:ext>
            </a:extLst>
          </p:cNvPr>
          <p:cNvSpPr/>
          <p:nvPr userDrawn="1"/>
        </p:nvSpPr>
        <p:spPr>
          <a:xfrm>
            <a:off x="7669127" y="2132686"/>
            <a:ext cx="2606541" cy="2606541"/>
          </a:xfrm>
          <a:prstGeom prst="ellipse">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sz="2400">
              <a:latin typeface="Montserrat-Arabic" panose="00000500000000000000" pitchFamily="2" charset="-78"/>
            </a:endParaRPr>
          </a:p>
        </p:txBody>
      </p:sp>
      <p:sp>
        <p:nvSpPr>
          <p:cNvPr id="3" name="Text Placeholder 26">
            <a:extLst>
              <a:ext uri="{FF2B5EF4-FFF2-40B4-BE49-F238E27FC236}">
                <a16:creationId xmlns:a16="http://schemas.microsoft.com/office/drawing/2014/main" id="{A29F6922-69E1-848C-3CCA-641E2B1D80FF}"/>
              </a:ext>
            </a:extLst>
          </p:cNvPr>
          <p:cNvSpPr>
            <a:spLocks noGrp="1"/>
          </p:cNvSpPr>
          <p:nvPr>
            <p:ph type="body" sz="quarter" idx="25" hasCustomPrompt="1"/>
          </p:nvPr>
        </p:nvSpPr>
        <p:spPr>
          <a:xfrm>
            <a:off x="1022033" y="2783509"/>
            <a:ext cx="4500691" cy="260653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139392B3-A5E4-AB28-63E2-C80852AF00CB}"/>
              </a:ext>
            </a:extLst>
          </p:cNvPr>
          <p:cNvSpPr>
            <a:spLocks noGrp="1"/>
          </p:cNvSpPr>
          <p:nvPr>
            <p:ph type="title" hasCustomPrompt="1"/>
          </p:nvPr>
        </p:nvSpPr>
        <p:spPr>
          <a:xfrm>
            <a:off x="1022033" y="983386"/>
            <a:ext cx="7585892" cy="484567"/>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338228531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Profile">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6BAFF34A-EDD5-AC5C-03F6-4E5B273FAD86}"/>
              </a:ext>
            </a:extLst>
          </p:cNvPr>
          <p:cNvSpPr>
            <a:spLocks noGrp="1"/>
          </p:cNvSpPr>
          <p:nvPr>
            <p:ph type="body" sz="quarter" idx="11" hasCustomPrompt="1"/>
          </p:nvPr>
        </p:nvSpPr>
        <p:spPr>
          <a:xfrm>
            <a:off x="1030280" y="2092913"/>
            <a:ext cx="4475864"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28453984-8213-F149-1272-6CB1D89FF1F5}"/>
              </a:ext>
            </a:extLst>
          </p:cNvPr>
          <p:cNvSpPr>
            <a:spLocks noGrp="1"/>
          </p:cNvSpPr>
          <p:nvPr>
            <p:ph type="body" sz="quarter" idx="25" hasCustomPrompt="1"/>
          </p:nvPr>
        </p:nvSpPr>
        <p:spPr>
          <a:xfrm>
            <a:off x="1022033" y="2539669"/>
            <a:ext cx="4492412" cy="260653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A57B1658-19CD-AEC4-A12E-8D62D086CE5F}"/>
              </a:ext>
            </a:extLst>
          </p:cNvPr>
          <p:cNvSpPr>
            <a:spLocks noGrp="1"/>
          </p:cNvSpPr>
          <p:nvPr>
            <p:ph type="title" hasCustomPrompt="1"/>
          </p:nvPr>
        </p:nvSpPr>
        <p:spPr>
          <a:xfrm>
            <a:off x="1022033" y="983387"/>
            <a:ext cx="7585892" cy="502766"/>
          </a:xfrm>
        </p:spPr>
        <p:txBody>
          <a:bodyPr/>
          <a:lstStyle/>
          <a:p>
            <a:r>
              <a:rPr lang="en-US"/>
              <a:t>CLICK TO EDIT MASTER TITLE STYLE</a:t>
            </a:r>
            <a:endParaRPr lang="en-SA"/>
          </a:p>
        </p:txBody>
      </p:sp>
    </p:spTree>
    <p:extLst>
      <p:ext uri="{BB962C8B-B14F-4D97-AF65-F5344CB8AC3E}">
        <p14:creationId xmlns:p14="http://schemas.microsoft.com/office/powerpoint/2010/main" val="3905916254"/>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umber">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661DDD9-977E-A43B-4A90-ABE38DAD5356}"/>
              </a:ext>
            </a:extLst>
          </p:cNvPr>
          <p:cNvCxnSpPr>
            <a:cxnSpLocks/>
          </p:cNvCxnSpPr>
          <p:nvPr userDrawn="1"/>
        </p:nvCxnSpPr>
        <p:spPr>
          <a:xfrm>
            <a:off x="429144" y="3874156"/>
            <a:ext cx="11331029"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F65909-14A7-2935-FEB5-DFB0A8192A6D}"/>
              </a:ext>
            </a:extLst>
          </p:cNvPr>
          <p:cNvCxnSpPr>
            <a:cxnSpLocks/>
          </p:cNvCxnSpPr>
          <p:nvPr userDrawn="1"/>
        </p:nvCxnSpPr>
        <p:spPr>
          <a:xfrm>
            <a:off x="429144" y="5449592"/>
            <a:ext cx="11331029"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sp>
        <p:nvSpPr>
          <p:cNvPr id="48" name="Text Placeholder 15">
            <a:extLst>
              <a:ext uri="{FF2B5EF4-FFF2-40B4-BE49-F238E27FC236}">
                <a16:creationId xmlns:a16="http://schemas.microsoft.com/office/drawing/2014/main" id="{AC6F0ABF-1730-83F6-4BF3-9FF97AE5EAE5}"/>
              </a:ext>
            </a:extLst>
          </p:cNvPr>
          <p:cNvSpPr>
            <a:spLocks noGrp="1"/>
          </p:cNvSpPr>
          <p:nvPr>
            <p:ph type="body" sz="quarter" idx="14" hasCustomPrompt="1"/>
          </p:nvPr>
        </p:nvSpPr>
        <p:spPr>
          <a:xfrm>
            <a:off x="9242519"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49" name="Text Placeholder 15">
            <a:extLst>
              <a:ext uri="{FF2B5EF4-FFF2-40B4-BE49-F238E27FC236}">
                <a16:creationId xmlns:a16="http://schemas.microsoft.com/office/drawing/2014/main" id="{4267A293-ABD0-5AA1-EBE7-F0C1C00CC67E}"/>
              </a:ext>
            </a:extLst>
          </p:cNvPr>
          <p:cNvSpPr>
            <a:spLocks noGrp="1"/>
          </p:cNvSpPr>
          <p:nvPr>
            <p:ph type="body" sz="quarter" idx="15" hasCustomPrompt="1"/>
          </p:nvPr>
        </p:nvSpPr>
        <p:spPr>
          <a:xfrm>
            <a:off x="9242519"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56" name="Text Placeholder 15">
            <a:extLst>
              <a:ext uri="{FF2B5EF4-FFF2-40B4-BE49-F238E27FC236}">
                <a16:creationId xmlns:a16="http://schemas.microsoft.com/office/drawing/2014/main" id="{2D7E3E82-D109-BAE5-A33C-C12AAC8CA330}"/>
              </a:ext>
            </a:extLst>
          </p:cNvPr>
          <p:cNvSpPr>
            <a:spLocks noGrp="1"/>
          </p:cNvSpPr>
          <p:nvPr>
            <p:ph type="body" sz="quarter" idx="16" hasCustomPrompt="1"/>
          </p:nvPr>
        </p:nvSpPr>
        <p:spPr>
          <a:xfrm>
            <a:off x="6802874"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57" name="Text Placeholder 15">
            <a:extLst>
              <a:ext uri="{FF2B5EF4-FFF2-40B4-BE49-F238E27FC236}">
                <a16:creationId xmlns:a16="http://schemas.microsoft.com/office/drawing/2014/main" id="{758AFB6A-B660-04E2-84AD-E45B888A97A5}"/>
              </a:ext>
            </a:extLst>
          </p:cNvPr>
          <p:cNvSpPr>
            <a:spLocks noGrp="1"/>
          </p:cNvSpPr>
          <p:nvPr>
            <p:ph type="body" sz="quarter" idx="17" hasCustomPrompt="1"/>
          </p:nvPr>
        </p:nvSpPr>
        <p:spPr>
          <a:xfrm>
            <a:off x="6802874"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0" name="Text Placeholder 15">
            <a:extLst>
              <a:ext uri="{FF2B5EF4-FFF2-40B4-BE49-F238E27FC236}">
                <a16:creationId xmlns:a16="http://schemas.microsoft.com/office/drawing/2014/main" id="{3F810960-53C9-0AD8-43D9-803A37E6DDD2}"/>
              </a:ext>
            </a:extLst>
          </p:cNvPr>
          <p:cNvSpPr>
            <a:spLocks noGrp="1"/>
          </p:cNvSpPr>
          <p:nvPr>
            <p:ph type="body" sz="quarter" idx="18" hasCustomPrompt="1"/>
          </p:nvPr>
        </p:nvSpPr>
        <p:spPr>
          <a:xfrm>
            <a:off x="4363230"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61" name="Text Placeholder 15">
            <a:extLst>
              <a:ext uri="{FF2B5EF4-FFF2-40B4-BE49-F238E27FC236}">
                <a16:creationId xmlns:a16="http://schemas.microsoft.com/office/drawing/2014/main" id="{36AD7C43-4CE8-C7CB-436A-C20D7ECAEAD8}"/>
              </a:ext>
            </a:extLst>
          </p:cNvPr>
          <p:cNvSpPr>
            <a:spLocks noGrp="1"/>
          </p:cNvSpPr>
          <p:nvPr>
            <p:ph type="body" sz="quarter" idx="19" hasCustomPrompt="1"/>
          </p:nvPr>
        </p:nvSpPr>
        <p:spPr>
          <a:xfrm>
            <a:off x="4363230"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2" name="Text Placeholder 15">
            <a:extLst>
              <a:ext uri="{FF2B5EF4-FFF2-40B4-BE49-F238E27FC236}">
                <a16:creationId xmlns:a16="http://schemas.microsoft.com/office/drawing/2014/main" id="{F0991BFD-A505-06C6-1BCA-EF591B183028}"/>
              </a:ext>
            </a:extLst>
          </p:cNvPr>
          <p:cNvSpPr>
            <a:spLocks noGrp="1"/>
          </p:cNvSpPr>
          <p:nvPr>
            <p:ph type="body" sz="quarter" idx="20" hasCustomPrompt="1"/>
          </p:nvPr>
        </p:nvSpPr>
        <p:spPr>
          <a:xfrm>
            <a:off x="1923586"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63" name="Text Placeholder 15">
            <a:extLst>
              <a:ext uri="{FF2B5EF4-FFF2-40B4-BE49-F238E27FC236}">
                <a16:creationId xmlns:a16="http://schemas.microsoft.com/office/drawing/2014/main" id="{8D1A3567-2F75-025E-E85F-797AEEC96802}"/>
              </a:ext>
            </a:extLst>
          </p:cNvPr>
          <p:cNvSpPr>
            <a:spLocks noGrp="1"/>
          </p:cNvSpPr>
          <p:nvPr>
            <p:ph type="body" sz="quarter" idx="21" hasCustomPrompt="1"/>
          </p:nvPr>
        </p:nvSpPr>
        <p:spPr>
          <a:xfrm>
            <a:off x="1923586"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5" name="Text Placeholder 15">
            <a:extLst>
              <a:ext uri="{FF2B5EF4-FFF2-40B4-BE49-F238E27FC236}">
                <a16:creationId xmlns:a16="http://schemas.microsoft.com/office/drawing/2014/main" id="{DB84D0C2-BD08-2A9C-C094-A95884FDECCD}"/>
              </a:ext>
            </a:extLst>
          </p:cNvPr>
          <p:cNvSpPr>
            <a:spLocks noGrp="1"/>
          </p:cNvSpPr>
          <p:nvPr>
            <p:ph type="body" sz="quarter" idx="22" hasCustomPrompt="1"/>
          </p:nvPr>
        </p:nvSpPr>
        <p:spPr>
          <a:xfrm>
            <a:off x="1019279" y="3626021"/>
            <a:ext cx="2038891" cy="231835"/>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66" name="Text Placeholder 15">
            <a:extLst>
              <a:ext uri="{FF2B5EF4-FFF2-40B4-BE49-F238E27FC236}">
                <a16:creationId xmlns:a16="http://schemas.microsoft.com/office/drawing/2014/main" id="{C98837D2-B7AD-AE89-C07A-28E7E4B36ADD}"/>
              </a:ext>
            </a:extLst>
          </p:cNvPr>
          <p:cNvSpPr>
            <a:spLocks noGrp="1"/>
          </p:cNvSpPr>
          <p:nvPr>
            <p:ph type="body" sz="quarter" idx="23" hasCustomPrompt="1"/>
          </p:nvPr>
        </p:nvSpPr>
        <p:spPr>
          <a:xfrm>
            <a:off x="1019280" y="5179821"/>
            <a:ext cx="2025911" cy="231835"/>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67" name="Text Placeholder 15">
            <a:extLst>
              <a:ext uri="{FF2B5EF4-FFF2-40B4-BE49-F238E27FC236}">
                <a16:creationId xmlns:a16="http://schemas.microsoft.com/office/drawing/2014/main" id="{BA9EE524-38F5-6CAA-C076-6059B2ACC4DC}"/>
              </a:ext>
            </a:extLst>
          </p:cNvPr>
          <p:cNvSpPr>
            <a:spLocks noGrp="1"/>
          </p:cNvSpPr>
          <p:nvPr>
            <p:ph type="body" sz="quarter" idx="24" hasCustomPrompt="1"/>
          </p:nvPr>
        </p:nvSpPr>
        <p:spPr>
          <a:xfrm>
            <a:off x="1019280" y="5604705"/>
            <a:ext cx="1506617" cy="677596"/>
          </a:xfrm>
          <a:prstGeom prst="rect">
            <a:avLst/>
          </a:prstGeom>
        </p:spPr>
        <p:txBody>
          <a:bodyPr lIns="0" tIns="0" rIns="0" bIns="0"/>
          <a:lstStyle>
            <a:lvl1pPr marL="0" indent="0" algn="l" defTabSz="609585" rtl="0" eaLnBrk="1" latinLnBrk="0" hangingPunct="1">
              <a:lnSpc>
                <a:spcPct val="100000"/>
              </a:lnSpc>
              <a:buNone/>
              <a:defRPr lang="en-US" sz="4267"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5" name="Text Placeholder 15">
            <a:extLst>
              <a:ext uri="{FF2B5EF4-FFF2-40B4-BE49-F238E27FC236}">
                <a16:creationId xmlns:a16="http://schemas.microsoft.com/office/drawing/2014/main" id="{7D77703E-9CAE-D8FB-4979-33FD8E5761D1}"/>
              </a:ext>
            </a:extLst>
          </p:cNvPr>
          <p:cNvSpPr>
            <a:spLocks noGrp="1"/>
          </p:cNvSpPr>
          <p:nvPr>
            <p:ph type="body" sz="quarter" idx="25" hasCustomPrompt="1"/>
          </p:nvPr>
        </p:nvSpPr>
        <p:spPr>
          <a:xfrm>
            <a:off x="5485278" y="5604705"/>
            <a:ext cx="1525012"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accent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6" name="Text Placeholder 15">
            <a:extLst>
              <a:ext uri="{FF2B5EF4-FFF2-40B4-BE49-F238E27FC236}">
                <a16:creationId xmlns:a16="http://schemas.microsoft.com/office/drawing/2014/main" id="{B73D3E4A-45DC-7D48-A91D-E4528F3461DE}"/>
              </a:ext>
            </a:extLst>
          </p:cNvPr>
          <p:cNvSpPr>
            <a:spLocks noGrp="1"/>
          </p:cNvSpPr>
          <p:nvPr>
            <p:ph type="body" sz="quarter" idx="26" hasCustomPrompt="1"/>
          </p:nvPr>
        </p:nvSpPr>
        <p:spPr>
          <a:xfrm>
            <a:off x="1019279" y="1547150"/>
            <a:ext cx="1817485" cy="1429633"/>
          </a:xfrm>
          <a:prstGeom prst="rect">
            <a:avLst/>
          </a:prstGeom>
        </p:spPr>
        <p:txBody>
          <a:bodyPr lIns="0" tIns="0" rIns="0" bIns="0"/>
          <a:lstStyle>
            <a:lvl1pPr marL="0" indent="0" algn="l" defTabSz="609585" rtl="0" eaLnBrk="1" latinLnBrk="0" hangingPunct="1">
              <a:lnSpc>
                <a:spcPct val="100000"/>
              </a:lnSpc>
              <a:buNone/>
              <a:defRPr lang="en-US" sz="9600"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7" name="Text Placeholder 15">
            <a:extLst>
              <a:ext uri="{FF2B5EF4-FFF2-40B4-BE49-F238E27FC236}">
                <a16:creationId xmlns:a16="http://schemas.microsoft.com/office/drawing/2014/main" id="{8F6EA972-9D94-A23C-C50F-CAA1A5CFCDD6}"/>
              </a:ext>
            </a:extLst>
          </p:cNvPr>
          <p:cNvSpPr>
            <a:spLocks noGrp="1"/>
          </p:cNvSpPr>
          <p:nvPr>
            <p:ph type="body" sz="quarter" idx="27" hasCustomPrompt="1"/>
          </p:nvPr>
        </p:nvSpPr>
        <p:spPr>
          <a:xfrm>
            <a:off x="2905131" y="1961797"/>
            <a:ext cx="733592" cy="811791"/>
          </a:xfrm>
          <a:prstGeom prst="rect">
            <a:avLst/>
          </a:prstGeom>
        </p:spPr>
        <p:txBody>
          <a:bodyPr lIns="36000" tIns="36000" rIns="36000" bIns="36000"/>
          <a:lstStyle>
            <a:lvl1pPr marL="0" indent="0" algn="l" defTabSz="609585" rtl="0" eaLnBrk="1" latinLnBrk="0" hangingPunct="1">
              <a:lnSpc>
                <a:spcPct val="100000"/>
              </a:lnSpc>
              <a:buNone/>
              <a:defRPr lang="en-US" sz="5867"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K</a:t>
            </a:r>
          </a:p>
        </p:txBody>
      </p:sp>
      <p:sp>
        <p:nvSpPr>
          <p:cNvPr id="78" name="Text Placeholder 15">
            <a:extLst>
              <a:ext uri="{FF2B5EF4-FFF2-40B4-BE49-F238E27FC236}">
                <a16:creationId xmlns:a16="http://schemas.microsoft.com/office/drawing/2014/main" id="{369622A4-8D44-CBB1-A4B4-53006005B5D9}"/>
              </a:ext>
            </a:extLst>
          </p:cNvPr>
          <p:cNvSpPr>
            <a:spLocks noGrp="1"/>
          </p:cNvSpPr>
          <p:nvPr>
            <p:ph type="body" sz="quarter" idx="28" hasCustomPrompt="1"/>
          </p:nvPr>
        </p:nvSpPr>
        <p:spPr>
          <a:xfrm>
            <a:off x="1019280" y="3056816"/>
            <a:ext cx="2619443" cy="292659"/>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3" name="Text Placeholder 15">
            <a:extLst>
              <a:ext uri="{FF2B5EF4-FFF2-40B4-BE49-F238E27FC236}">
                <a16:creationId xmlns:a16="http://schemas.microsoft.com/office/drawing/2014/main" id="{137D3A14-6950-EAE7-638F-B2D4A63FB0FD}"/>
              </a:ext>
            </a:extLst>
          </p:cNvPr>
          <p:cNvSpPr>
            <a:spLocks noGrp="1"/>
          </p:cNvSpPr>
          <p:nvPr>
            <p:ph type="body" sz="quarter" idx="11" hasCustomPrompt="1"/>
          </p:nvPr>
        </p:nvSpPr>
        <p:spPr>
          <a:xfrm>
            <a:off x="4361528" y="1651352"/>
            <a:ext cx="7398672"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19714FDA-0467-8D40-1595-E528EBA7CBDD}"/>
              </a:ext>
            </a:extLst>
          </p:cNvPr>
          <p:cNvSpPr>
            <a:spLocks noGrp="1"/>
          </p:cNvSpPr>
          <p:nvPr>
            <p:ph type="body" sz="quarter" idx="29" hasCustomPrompt="1"/>
          </p:nvPr>
        </p:nvSpPr>
        <p:spPr>
          <a:xfrm>
            <a:off x="4353229" y="2098109"/>
            <a:ext cx="7406944" cy="1379952"/>
          </a:xfrm>
        </p:spPr>
        <p:txBody>
          <a:bodyPr>
            <a:normAutofit/>
          </a:bodyPr>
          <a:lstStyle>
            <a:lvl1pPr algn="just">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19F4C6B2-460B-0061-75C8-D91DB88B87CD}"/>
              </a:ext>
            </a:extLst>
          </p:cNvPr>
          <p:cNvSpPr>
            <a:spLocks noGrp="1"/>
          </p:cNvSpPr>
          <p:nvPr>
            <p:ph type="title" hasCustomPrompt="1"/>
          </p:nvPr>
        </p:nvSpPr>
        <p:spPr>
          <a:xfrm>
            <a:off x="1022033" y="983387"/>
            <a:ext cx="7585892" cy="461729"/>
          </a:xfrm>
          <a:noFill/>
        </p:spPr>
        <p:txBody>
          <a:bodyPr wrap="square" rtlCol="0">
            <a:spAutoFit/>
          </a:bodyPr>
          <a:lstStyle>
            <a:lvl1pPr>
              <a:defRPr lang="en-SA" sz="2600" b="1" dirty="0">
                <a:solidFill>
                  <a:schemeClr val="bg2"/>
                </a:solidFill>
                <a:latin typeface="Alexandria SemiBold" pitchFamily="2" charset="-78"/>
                <a:ea typeface="Open Sans ExtraBold" panose="020B0906030804020204" pitchFamily="34" charset="0"/>
                <a:cs typeface="Alexandria SemiBold" pitchFamily="2" charset="-78"/>
              </a:defRPr>
            </a:lvl1pPr>
          </a:lstStyle>
          <a:p>
            <a:pPr marL="0" lvl="0"/>
            <a:r>
              <a:rPr lang="en-US"/>
              <a:t>CLICK TO EDIT MASTER TITLE STYLE</a:t>
            </a:r>
            <a:endParaRPr lang="en-SA"/>
          </a:p>
        </p:txBody>
      </p:sp>
    </p:spTree>
    <p:extLst>
      <p:ext uri="{BB962C8B-B14F-4D97-AF65-F5344CB8AC3E}">
        <p14:creationId xmlns:p14="http://schemas.microsoft.com/office/powerpoint/2010/main" val="2524023248"/>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ntent with Title">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99ADD64-F710-373E-44C9-29E181EAC7A0}"/>
              </a:ext>
            </a:extLst>
          </p:cNvPr>
          <p:cNvSpPr/>
          <p:nvPr/>
        </p:nvSpPr>
        <p:spPr>
          <a:xfrm>
            <a:off x="1022033" y="3233276"/>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73" name="Text Placeholder 15">
            <a:extLst>
              <a:ext uri="{FF2B5EF4-FFF2-40B4-BE49-F238E27FC236}">
                <a16:creationId xmlns:a16="http://schemas.microsoft.com/office/drawing/2014/main" id="{5F955A93-28FC-73D1-14F2-B171E0C8D7D4}"/>
              </a:ext>
            </a:extLst>
          </p:cNvPr>
          <p:cNvSpPr>
            <a:spLocks noGrp="1"/>
          </p:cNvSpPr>
          <p:nvPr>
            <p:ph type="body" sz="quarter" idx="14" hasCustomPrompt="1"/>
          </p:nvPr>
        </p:nvSpPr>
        <p:spPr>
          <a:xfrm>
            <a:off x="1042758" y="4221929"/>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75" name="Text Placeholder 15">
            <a:extLst>
              <a:ext uri="{FF2B5EF4-FFF2-40B4-BE49-F238E27FC236}">
                <a16:creationId xmlns:a16="http://schemas.microsoft.com/office/drawing/2014/main" id="{1B8B7915-F4BB-82A6-AE61-7A6F7B962E43}"/>
              </a:ext>
            </a:extLst>
          </p:cNvPr>
          <p:cNvSpPr>
            <a:spLocks noGrp="1"/>
          </p:cNvSpPr>
          <p:nvPr>
            <p:ph type="body" sz="quarter" idx="15" hasCustomPrompt="1"/>
          </p:nvPr>
        </p:nvSpPr>
        <p:spPr>
          <a:xfrm>
            <a:off x="1042758" y="4853298"/>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79" name="Oval 78">
            <a:extLst>
              <a:ext uri="{FF2B5EF4-FFF2-40B4-BE49-F238E27FC236}">
                <a16:creationId xmlns:a16="http://schemas.microsoft.com/office/drawing/2014/main" id="{C405FF7B-5C06-ACC1-11F0-D60ECC8FFF62}"/>
              </a:ext>
            </a:extLst>
          </p:cNvPr>
          <p:cNvSpPr/>
          <p:nvPr userDrawn="1"/>
        </p:nvSpPr>
        <p:spPr>
          <a:xfrm>
            <a:off x="4982358" y="3233276"/>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80" name="Text Placeholder 15">
            <a:extLst>
              <a:ext uri="{FF2B5EF4-FFF2-40B4-BE49-F238E27FC236}">
                <a16:creationId xmlns:a16="http://schemas.microsoft.com/office/drawing/2014/main" id="{76F536E2-44A4-94EB-6605-A77D27B439AC}"/>
              </a:ext>
            </a:extLst>
          </p:cNvPr>
          <p:cNvSpPr>
            <a:spLocks noGrp="1"/>
          </p:cNvSpPr>
          <p:nvPr>
            <p:ph type="body" sz="quarter" idx="16" hasCustomPrompt="1"/>
          </p:nvPr>
        </p:nvSpPr>
        <p:spPr>
          <a:xfrm>
            <a:off x="4992722" y="4221929"/>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81" name="Text Placeholder 15">
            <a:extLst>
              <a:ext uri="{FF2B5EF4-FFF2-40B4-BE49-F238E27FC236}">
                <a16:creationId xmlns:a16="http://schemas.microsoft.com/office/drawing/2014/main" id="{36CC5434-AF46-006D-15E3-334ADBF0BC54}"/>
              </a:ext>
            </a:extLst>
          </p:cNvPr>
          <p:cNvSpPr>
            <a:spLocks noGrp="1"/>
          </p:cNvSpPr>
          <p:nvPr>
            <p:ph type="body" sz="quarter" idx="17" hasCustomPrompt="1"/>
          </p:nvPr>
        </p:nvSpPr>
        <p:spPr>
          <a:xfrm>
            <a:off x="4992722" y="4853298"/>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82" name="Oval 81">
            <a:extLst>
              <a:ext uri="{FF2B5EF4-FFF2-40B4-BE49-F238E27FC236}">
                <a16:creationId xmlns:a16="http://schemas.microsoft.com/office/drawing/2014/main" id="{847E210C-BB3E-A513-EBBB-1A4D988104EF}"/>
              </a:ext>
            </a:extLst>
          </p:cNvPr>
          <p:cNvSpPr/>
          <p:nvPr userDrawn="1"/>
        </p:nvSpPr>
        <p:spPr>
          <a:xfrm>
            <a:off x="8942682" y="3222390"/>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83" name="Text Placeholder 15">
            <a:extLst>
              <a:ext uri="{FF2B5EF4-FFF2-40B4-BE49-F238E27FC236}">
                <a16:creationId xmlns:a16="http://schemas.microsoft.com/office/drawing/2014/main" id="{B2716802-75AE-5B3E-4005-AF177430077D}"/>
              </a:ext>
            </a:extLst>
          </p:cNvPr>
          <p:cNvSpPr>
            <a:spLocks noGrp="1"/>
          </p:cNvSpPr>
          <p:nvPr>
            <p:ph type="body" sz="quarter" idx="18" hasCustomPrompt="1"/>
          </p:nvPr>
        </p:nvSpPr>
        <p:spPr>
          <a:xfrm>
            <a:off x="8963407" y="4211042"/>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84" name="Text Placeholder 15">
            <a:extLst>
              <a:ext uri="{FF2B5EF4-FFF2-40B4-BE49-F238E27FC236}">
                <a16:creationId xmlns:a16="http://schemas.microsoft.com/office/drawing/2014/main" id="{B12A0E62-7182-1C04-0A40-E4B2B510AA68}"/>
              </a:ext>
            </a:extLst>
          </p:cNvPr>
          <p:cNvSpPr>
            <a:spLocks noGrp="1"/>
          </p:cNvSpPr>
          <p:nvPr>
            <p:ph type="body" sz="quarter" idx="19" hasCustomPrompt="1"/>
          </p:nvPr>
        </p:nvSpPr>
        <p:spPr>
          <a:xfrm>
            <a:off x="8963407" y="4842411"/>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3" name="Text Placeholder 15">
            <a:extLst>
              <a:ext uri="{FF2B5EF4-FFF2-40B4-BE49-F238E27FC236}">
                <a16:creationId xmlns:a16="http://schemas.microsoft.com/office/drawing/2014/main" id="{7BE8C802-A888-24D7-D44A-822C5B3B66D7}"/>
              </a:ext>
            </a:extLst>
          </p:cNvPr>
          <p:cNvSpPr>
            <a:spLocks noGrp="1"/>
          </p:cNvSpPr>
          <p:nvPr>
            <p:ph type="body" sz="quarter" idx="11" hasCustomPrompt="1"/>
          </p:nvPr>
        </p:nvSpPr>
        <p:spPr>
          <a:xfrm>
            <a:off x="1022035" y="1836850"/>
            <a:ext cx="1073816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5066CE51-FEF5-CB03-9171-CE9A31CC7F5E}"/>
              </a:ext>
            </a:extLst>
          </p:cNvPr>
          <p:cNvSpPr>
            <a:spLocks noGrp="1"/>
          </p:cNvSpPr>
          <p:nvPr>
            <p:ph type="body" sz="quarter" idx="25" hasCustomPrompt="1"/>
          </p:nvPr>
        </p:nvSpPr>
        <p:spPr>
          <a:xfrm>
            <a:off x="1022033" y="2162833"/>
            <a:ext cx="10738168" cy="972985"/>
          </a:xfrm>
        </p:spPr>
        <p:txBody>
          <a:bodyPr>
            <a:normAutofit/>
          </a:bodyPr>
          <a:lstStyle>
            <a:lvl1pPr algn="just">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9A1161F6-A5D5-EEDB-E8A0-949BA1AEDE5E}"/>
              </a:ext>
            </a:extLst>
          </p:cNvPr>
          <p:cNvSpPr>
            <a:spLocks noGrp="1"/>
          </p:cNvSpPr>
          <p:nvPr>
            <p:ph type="title" hasCustomPrompt="1"/>
          </p:nvPr>
        </p:nvSpPr>
        <p:spPr>
          <a:xfrm>
            <a:off x="1022033" y="983387"/>
            <a:ext cx="7585892" cy="452432"/>
          </a:xfrm>
          <a:noFill/>
        </p:spPr>
        <p:txBody>
          <a:bodyPr wrap="square" rtlCol="0">
            <a:spAutoFit/>
          </a:bodyPr>
          <a:lstStyle>
            <a:lvl1pPr>
              <a:defRPr lang="en-SA" sz="2600" b="1" dirty="0">
                <a:solidFill>
                  <a:schemeClr val="bg2"/>
                </a:solidFill>
                <a:latin typeface="Montserrat" panose="00000500000000000000" pitchFamily="50" charset="0"/>
                <a:ea typeface="Open Sans ExtraBold" panose="020B0906030804020204" pitchFamily="34" charset="0"/>
                <a:cs typeface="Arial" panose="020B0604020202020204" pitchFamily="34" charset="0"/>
              </a:defRPr>
            </a:lvl1pPr>
          </a:lstStyle>
          <a:p>
            <a:pPr marL="0" lvl="0"/>
            <a:r>
              <a:rPr lang="en-US"/>
              <a:t>CLICK TO EDIT MASTER TITLE STYLE</a:t>
            </a:r>
            <a:endParaRPr lang="en-SA"/>
          </a:p>
        </p:txBody>
      </p:sp>
    </p:spTree>
    <p:extLst>
      <p:ext uri="{BB962C8B-B14F-4D97-AF65-F5344CB8AC3E}">
        <p14:creationId xmlns:p14="http://schemas.microsoft.com/office/powerpoint/2010/main" val="3408469649"/>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blue and white background&#10;&#10;Description automatically generated with medium confidence">
            <a:extLst>
              <a:ext uri="{FF2B5EF4-FFF2-40B4-BE49-F238E27FC236}">
                <a16:creationId xmlns:a16="http://schemas.microsoft.com/office/drawing/2014/main" id="{9857F163-B5F3-EEF6-D247-A92647770AB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F2B1FAB-5387-3E55-E48B-5FF0597AB175}"/>
              </a:ext>
            </a:extLst>
          </p:cNvPr>
          <p:cNvSpPr>
            <a:spLocks noGrp="1"/>
          </p:cNvSpPr>
          <p:nvPr>
            <p:ph type="ctrTitle"/>
          </p:nvPr>
        </p:nvSpPr>
        <p:spPr>
          <a:xfrm>
            <a:off x="1524000" y="1122363"/>
            <a:ext cx="9144000" cy="2387600"/>
          </a:xfrm>
        </p:spPr>
        <p:txBody>
          <a:bodyPr anchor="b"/>
          <a:lstStyle>
            <a:lvl1pPr algn="l">
              <a:defRPr sz="4400">
                <a:solidFill>
                  <a:schemeClr val="bg1"/>
                </a:solidFill>
              </a:defRPr>
            </a:lvl1pPr>
          </a:lstStyle>
          <a:p>
            <a:r>
              <a:rPr lang="en-US"/>
              <a:t>Click to edit Master title style</a:t>
            </a:r>
            <a:endParaRPr lang="en-SA"/>
          </a:p>
        </p:txBody>
      </p:sp>
      <p:sp>
        <p:nvSpPr>
          <p:cNvPr id="3" name="Subtitle 2">
            <a:extLst>
              <a:ext uri="{FF2B5EF4-FFF2-40B4-BE49-F238E27FC236}">
                <a16:creationId xmlns:a16="http://schemas.microsoft.com/office/drawing/2014/main" id="{139170BE-4757-AA74-B4D0-450BE577589D}"/>
              </a:ext>
            </a:extLst>
          </p:cNvPr>
          <p:cNvSpPr>
            <a:spLocks noGrp="1"/>
          </p:cNvSpPr>
          <p:nvPr>
            <p:ph type="subTitle" idx="1"/>
          </p:nvPr>
        </p:nvSpPr>
        <p:spPr>
          <a:xfrm>
            <a:off x="1524000" y="3602038"/>
            <a:ext cx="9144000" cy="1655762"/>
          </a:xfrm>
        </p:spPr>
        <p:txBody>
          <a:bodyPr>
            <a:normAutofit/>
          </a:bodyPr>
          <a:lstStyle>
            <a:lvl1pPr marL="0" indent="0" algn="l">
              <a:buNone/>
              <a:defRPr sz="16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A"/>
          </a:p>
        </p:txBody>
      </p:sp>
      <p:sp>
        <p:nvSpPr>
          <p:cNvPr id="4" name="Date Placeholder 3">
            <a:extLst>
              <a:ext uri="{FF2B5EF4-FFF2-40B4-BE49-F238E27FC236}">
                <a16:creationId xmlns:a16="http://schemas.microsoft.com/office/drawing/2014/main" id="{BEF8781B-61D3-D2C8-18B5-874D07266AF9}"/>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5" name="Footer Placeholder 4">
            <a:extLst>
              <a:ext uri="{FF2B5EF4-FFF2-40B4-BE49-F238E27FC236}">
                <a16:creationId xmlns:a16="http://schemas.microsoft.com/office/drawing/2014/main" id="{707D1239-0339-A9C5-8004-A7DD3F325867}"/>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527905A9-E44E-F6F6-627A-F3357F741DBA}"/>
              </a:ext>
            </a:extLst>
          </p:cNvPr>
          <p:cNvSpPr>
            <a:spLocks noGrp="1"/>
          </p:cNvSpPr>
          <p:nvPr>
            <p:ph type="sldNum" sz="quarter" idx="12"/>
          </p:nvPr>
        </p:nvSpPr>
        <p:spPr/>
        <p:txBody>
          <a:bodyPr/>
          <a:lstStyle/>
          <a:p>
            <a:fld id="{0B5D68DA-F15D-0F40-9055-781099452C22}" type="slidenum">
              <a:rPr lang="en-SA" smtClean="0"/>
              <a:t>‹#›</a:t>
            </a:fld>
            <a:endParaRPr lang="en-SA"/>
          </a:p>
        </p:txBody>
      </p:sp>
      <p:sp>
        <p:nvSpPr>
          <p:cNvPr id="7" name="Rectangle 6">
            <a:extLst>
              <a:ext uri="{FF2B5EF4-FFF2-40B4-BE49-F238E27FC236}">
                <a16:creationId xmlns:a16="http://schemas.microsoft.com/office/drawing/2014/main" id="{3841B8D9-690F-B087-9DBB-C6C4FF854296}"/>
              </a:ext>
            </a:extLst>
          </p:cNvPr>
          <p:cNvSpPr/>
          <p:nvPr userDrawn="1"/>
        </p:nvSpPr>
        <p:spPr>
          <a:xfrm>
            <a:off x="530492" y="530492"/>
            <a:ext cx="2024244" cy="43276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pic>
        <p:nvPicPr>
          <p:cNvPr id="9" name="Graphic 8">
            <a:extLst>
              <a:ext uri="{FF2B5EF4-FFF2-40B4-BE49-F238E27FC236}">
                <a16:creationId xmlns:a16="http://schemas.microsoft.com/office/drawing/2014/main" id="{E8B77062-F795-689A-832B-359170D3FD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1347351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5348-5C71-3BFD-02EB-E268182BB260}"/>
              </a:ext>
            </a:extLst>
          </p:cNvPr>
          <p:cNvSpPr>
            <a:spLocks noGrp="1"/>
          </p:cNvSpPr>
          <p:nvPr>
            <p:ph type="title"/>
          </p:nvPr>
        </p:nvSpPr>
        <p:spPr>
          <a:xfrm>
            <a:off x="1128698" y="4762803"/>
            <a:ext cx="10581439" cy="1205058"/>
          </a:xfrm>
        </p:spPr>
        <p:txBody>
          <a:bodyPr vert="horz" lIns="91440" tIns="45720" rIns="91440" bIns="45720" rtlCol="0" anchor="ctr">
            <a:normAutofit/>
          </a:bodyPr>
          <a:lstStyle>
            <a:lvl1pPr>
              <a:defRPr lang="en-SA" sz="5400" dirty="0">
                <a:solidFill>
                  <a:schemeClr val="accent2"/>
                </a:solidFill>
                <a:latin typeface="Montserrat-Arabic" pitchFamily="2" charset="-78"/>
                <a:cs typeface="Montserrat-Arabic" pitchFamily="2" charset="-78"/>
              </a:defRPr>
            </a:lvl1pPr>
          </a:lstStyle>
          <a:p>
            <a:pPr marL="0" lvl="0" rtl="1"/>
            <a:r>
              <a:rPr lang="en-US"/>
              <a:t>Click to edit Master title style</a:t>
            </a:r>
            <a:endParaRPr lang="en-SA"/>
          </a:p>
        </p:txBody>
      </p:sp>
      <p:sp>
        <p:nvSpPr>
          <p:cNvPr id="3" name="Text Placeholder 2">
            <a:extLst>
              <a:ext uri="{FF2B5EF4-FFF2-40B4-BE49-F238E27FC236}">
                <a16:creationId xmlns:a16="http://schemas.microsoft.com/office/drawing/2014/main" id="{1932AAC7-3F76-2905-A3CF-9FA2243AAFBE}"/>
              </a:ext>
            </a:extLst>
          </p:cNvPr>
          <p:cNvSpPr>
            <a:spLocks noGrp="1"/>
          </p:cNvSpPr>
          <p:nvPr>
            <p:ph type="body" idx="1"/>
          </p:nvPr>
        </p:nvSpPr>
        <p:spPr>
          <a:xfrm>
            <a:off x="481863" y="2474914"/>
            <a:ext cx="1137387" cy="654050"/>
          </a:xfrm>
        </p:spPr>
        <p:txBody>
          <a:bodyPr>
            <a:normAutofit/>
          </a:bodyPr>
          <a:lstStyle>
            <a:lvl1pPr marL="0" indent="0">
              <a:buNone/>
              <a:defRPr sz="1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28A84-FA36-784B-7BCB-B2DCBB702DE8}"/>
              </a:ext>
            </a:extLst>
          </p:cNvPr>
          <p:cNvSpPr>
            <a:spLocks noGrp="1"/>
          </p:cNvSpPr>
          <p:nvPr>
            <p:ph type="dt" sz="half" idx="10"/>
          </p:nvPr>
        </p:nvSpPr>
        <p:spPr>
          <a:xfrm>
            <a:off x="1128698" y="6227339"/>
            <a:ext cx="2743200" cy="365125"/>
          </a:xfrm>
        </p:spPr>
        <p:txBody>
          <a:bodyPr/>
          <a:lstStyle/>
          <a:p>
            <a:fld id="{90518998-0747-FE42-A87D-701EFEA3D47B}" type="datetimeFigureOut">
              <a:rPr lang="en-SA" smtClean="0"/>
              <a:t>11/17/2025</a:t>
            </a:fld>
            <a:endParaRPr lang="en-SA"/>
          </a:p>
        </p:txBody>
      </p:sp>
      <p:sp>
        <p:nvSpPr>
          <p:cNvPr id="5" name="Footer Placeholder 4">
            <a:extLst>
              <a:ext uri="{FF2B5EF4-FFF2-40B4-BE49-F238E27FC236}">
                <a16:creationId xmlns:a16="http://schemas.microsoft.com/office/drawing/2014/main" id="{301077E0-8186-A593-4069-12A615FBF87A}"/>
              </a:ext>
            </a:extLst>
          </p:cNvPr>
          <p:cNvSpPr>
            <a:spLocks noGrp="1"/>
          </p:cNvSpPr>
          <p:nvPr>
            <p:ph type="ftr" sz="quarter" idx="11"/>
          </p:nvPr>
        </p:nvSpPr>
        <p:spPr>
          <a:xfrm>
            <a:off x="4329098" y="6227339"/>
            <a:ext cx="4114800" cy="365125"/>
          </a:xfrm>
        </p:spPr>
        <p:txBody>
          <a:bodyPr/>
          <a:lstStyle/>
          <a:p>
            <a:endParaRPr lang="en-SA"/>
          </a:p>
        </p:txBody>
      </p:sp>
      <p:sp>
        <p:nvSpPr>
          <p:cNvPr id="6" name="Slide Number Placeholder 5">
            <a:extLst>
              <a:ext uri="{FF2B5EF4-FFF2-40B4-BE49-F238E27FC236}">
                <a16:creationId xmlns:a16="http://schemas.microsoft.com/office/drawing/2014/main" id="{54F6EF12-47BF-361E-6FF0-603059C2D9AE}"/>
              </a:ext>
            </a:extLst>
          </p:cNvPr>
          <p:cNvSpPr>
            <a:spLocks noGrp="1"/>
          </p:cNvSpPr>
          <p:nvPr>
            <p:ph type="sldNum" sz="quarter" idx="12"/>
          </p:nvPr>
        </p:nvSpPr>
        <p:spPr>
          <a:xfrm>
            <a:off x="11282926" y="6227339"/>
            <a:ext cx="495618" cy="365125"/>
          </a:xfrm>
        </p:spPr>
        <p:txBody>
          <a:bodyPr/>
          <a:lstStyle>
            <a:lvl1pPr>
              <a:defRPr lang="en-SA" sz="1800" smtClean="0">
                <a:solidFill>
                  <a:schemeClr val="tx1"/>
                </a:solidFill>
              </a:defRPr>
            </a:lvl1pPr>
          </a:lstStyle>
          <a:p>
            <a:pPr algn="l"/>
            <a:fld id="{0B5D68DA-F15D-0F40-9055-781099452C22}" type="slidenum">
              <a:rPr lang="en-US" smtClean="0"/>
              <a:pPr algn="l"/>
              <a:t>‹#›</a:t>
            </a:fld>
            <a:endParaRPr lang="en-US"/>
          </a:p>
        </p:txBody>
      </p:sp>
      <p:grpSp>
        <p:nvGrpSpPr>
          <p:cNvPr id="12" name="Graphic 9">
            <a:extLst>
              <a:ext uri="{FF2B5EF4-FFF2-40B4-BE49-F238E27FC236}">
                <a16:creationId xmlns:a16="http://schemas.microsoft.com/office/drawing/2014/main" id="{74655B69-6D60-B801-20C4-E6D410E810B9}"/>
              </a:ext>
            </a:extLst>
          </p:cNvPr>
          <p:cNvGrpSpPr/>
          <p:nvPr userDrawn="1"/>
        </p:nvGrpSpPr>
        <p:grpSpPr>
          <a:xfrm>
            <a:off x="2316035" y="1029181"/>
            <a:ext cx="9875964" cy="3457828"/>
            <a:chOff x="2316035" y="1029181"/>
            <a:chExt cx="9875964" cy="3457828"/>
          </a:xfrm>
          <a:noFill/>
        </p:grpSpPr>
        <p:grpSp>
          <p:nvGrpSpPr>
            <p:cNvPr id="13" name="Graphic 9">
              <a:extLst>
                <a:ext uri="{FF2B5EF4-FFF2-40B4-BE49-F238E27FC236}">
                  <a16:creationId xmlns:a16="http://schemas.microsoft.com/office/drawing/2014/main" id="{4E08D199-635A-CC67-3B7C-DC098CB94EBB}"/>
                </a:ext>
              </a:extLst>
            </p:cNvPr>
            <p:cNvGrpSpPr/>
            <p:nvPr/>
          </p:nvGrpSpPr>
          <p:grpSpPr>
            <a:xfrm>
              <a:off x="7971663" y="1029181"/>
              <a:ext cx="4220336" cy="3457828"/>
              <a:chOff x="7971663" y="1029181"/>
              <a:chExt cx="4220336" cy="3457828"/>
            </a:xfrm>
            <a:noFill/>
          </p:grpSpPr>
          <p:sp>
            <p:nvSpPr>
              <p:cNvPr id="18" name="Freeform: Shape 17">
                <a:extLst>
                  <a:ext uri="{FF2B5EF4-FFF2-40B4-BE49-F238E27FC236}">
                    <a16:creationId xmlns:a16="http://schemas.microsoft.com/office/drawing/2014/main" id="{109AC4E3-CE3F-6DAB-2BBF-B5533B7A431F}"/>
                  </a:ext>
                </a:extLst>
              </p:cNvPr>
              <p:cNvSpPr/>
              <p:nvPr/>
            </p:nvSpPr>
            <p:spPr>
              <a:xfrm>
                <a:off x="11568493" y="2436277"/>
                <a:ext cx="623506" cy="2050732"/>
              </a:xfrm>
              <a:custGeom>
                <a:avLst/>
                <a:gdLst>
                  <a:gd name="connsiteX0" fmla="*/ 0 w 623506"/>
                  <a:gd name="connsiteY0" fmla="*/ 2050732 h 2050732"/>
                  <a:gd name="connsiteX1" fmla="*/ 825 w 623506"/>
                  <a:gd name="connsiteY1" fmla="*/ 88075 h 2050732"/>
                  <a:gd name="connsiteX2" fmla="*/ 623506 w 623506"/>
                  <a:gd name="connsiteY2" fmla="*/ 0 h 2050732"/>
                </a:gdLst>
                <a:ahLst/>
                <a:cxnLst>
                  <a:cxn ang="0">
                    <a:pos x="connsiteX0" y="connsiteY0"/>
                  </a:cxn>
                  <a:cxn ang="0">
                    <a:pos x="connsiteX1" y="connsiteY1"/>
                  </a:cxn>
                  <a:cxn ang="0">
                    <a:pos x="connsiteX2" y="connsiteY2"/>
                  </a:cxn>
                </a:cxnLst>
                <a:rect l="l" t="t" r="r" b="b"/>
                <a:pathLst>
                  <a:path w="623506" h="2050732">
                    <a:moveTo>
                      <a:pt x="0" y="2050732"/>
                    </a:moveTo>
                    <a:lnTo>
                      <a:pt x="825" y="88075"/>
                    </a:lnTo>
                    <a:lnTo>
                      <a:pt x="623506" y="0"/>
                    </a:lnTo>
                  </a:path>
                </a:pathLst>
              </a:custGeom>
              <a:noFill/>
              <a:ln w="10287" cap="flat">
                <a:solidFill>
                  <a:srgbClr val="ADDC91"/>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43ED661A-F945-8A23-2E55-61CD0388DB5F}"/>
                  </a:ext>
                </a:extLst>
              </p:cNvPr>
              <p:cNvSpPr/>
              <p:nvPr/>
            </p:nvSpPr>
            <p:spPr>
              <a:xfrm>
                <a:off x="9348025" y="1029181"/>
                <a:ext cx="2053970" cy="3457828"/>
              </a:xfrm>
              <a:custGeom>
                <a:avLst/>
                <a:gdLst>
                  <a:gd name="connsiteX0" fmla="*/ 2053971 w 2053970"/>
                  <a:gd name="connsiteY0" fmla="*/ 0 h 3457828"/>
                  <a:gd name="connsiteX1" fmla="*/ 1331278 w 2053970"/>
                  <a:gd name="connsiteY1" fmla="*/ 776542 h 3457828"/>
                  <a:gd name="connsiteX2" fmla="*/ 1199769 w 2053970"/>
                  <a:gd name="connsiteY2" fmla="*/ 946658 h 3457828"/>
                  <a:gd name="connsiteX3" fmla="*/ 1050227 w 2053970"/>
                  <a:gd name="connsiteY3" fmla="*/ 1154176 h 3457828"/>
                  <a:gd name="connsiteX4" fmla="*/ 976185 w 2053970"/>
                  <a:gd name="connsiteY4" fmla="*/ 1263206 h 3457828"/>
                  <a:gd name="connsiteX5" fmla="*/ 976185 w 2053970"/>
                  <a:gd name="connsiteY5" fmla="*/ 1263206 h 3457828"/>
                  <a:gd name="connsiteX6" fmla="*/ 0 w 2053970"/>
                  <a:gd name="connsiteY6" fmla="*/ 3457829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970" h="3457828">
                    <a:moveTo>
                      <a:pt x="2053971" y="0"/>
                    </a:moveTo>
                    <a:cubicBezTo>
                      <a:pt x="1793431" y="239713"/>
                      <a:pt x="1551686" y="500063"/>
                      <a:pt x="1331278" y="776542"/>
                    </a:cubicBezTo>
                    <a:cubicBezTo>
                      <a:pt x="1286510" y="832549"/>
                      <a:pt x="1242695" y="889318"/>
                      <a:pt x="1199769" y="946658"/>
                    </a:cubicBezTo>
                    <a:cubicBezTo>
                      <a:pt x="1148652" y="1014984"/>
                      <a:pt x="1098804" y="1084136"/>
                      <a:pt x="1050227" y="1154176"/>
                    </a:cubicBezTo>
                    <a:cubicBezTo>
                      <a:pt x="1025207" y="1190308"/>
                      <a:pt x="1000506" y="1226630"/>
                      <a:pt x="976185" y="1263206"/>
                    </a:cubicBezTo>
                    <a:lnTo>
                      <a:pt x="976185" y="1263206"/>
                    </a:lnTo>
                    <a:cubicBezTo>
                      <a:pt x="529463" y="1933385"/>
                      <a:pt x="196406" y="2677986"/>
                      <a:pt x="0" y="3457829"/>
                    </a:cubicBezTo>
                  </a:path>
                </a:pathLst>
              </a:custGeom>
              <a:noFill/>
              <a:ln w="10287" cap="flat">
                <a:solidFill>
                  <a:srgbClr val="ADDC91"/>
                </a:solid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E989601E-0290-9055-ACEC-326F02F5037F}"/>
                  </a:ext>
                </a:extLst>
              </p:cNvPr>
              <p:cNvSpPr/>
              <p:nvPr/>
            </p:nvSpPr>
            <p:spPr>
              <a:xfrm>
                <a:off x="7971663" y="1029181"/>
                <a:ext cx="1552193" cy="3457828"/>
              </a:xfrm>
              <a:custGeom>
                <a:avLst/>
                <a:gdLst>
                  <a:gd name="connsiteX0" fmla="*/ 0 w 1552193"/>
                  <a:gd name="connsiteY0" fmla="*/ 3457829 h 3457828"/>
                  <a:gd name="connsiteX1" fmla="*/ 11620 w 1552193"/>
                  <a:gd name="connsiteY1" fmla="*/ 3381312 h 3457828"/>
                  <a:gd name="connsiteX2" fmla="*/ 402781 w 1552193"/>
                  <a:gd name="connsiteY2" fmla="*/ 1947164 h 3457828"/>
                  <a:gd name="connsiteX3" fmla="*/ 585216 w 1552193"/>
                  <a:gd name="connsiteY3" fmla="*/ 1522413 h 3457828"/>
                  <a:gd name="connsiteX4" fmla="*/ 1171766 w 1552193"/>
                  <a:gd name="connsiteY4" fmla="*/ 501269 h 3457828"/>
                  <a:gd name="connsiteX5" fmla="*/ 1434402 w 1552193"/>
                  <a:gd name="connsiteY5" fmla="*/ 145415 h 3457828"/>
                  <a:gd name="connsiteX6" fmla="*/ 1552194 w 1552193"/>
                  <a:gd name="connsiteY6" fmla="*/ 0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2193" h="3457828">
                    <a:moveTo>
                      <a:pt x="0" y="3457829"/>
                    </a:moveTo>
                    <a:cubicBezTo>
                      <a:pt x="3683" y="3432302"/>
                      <a:pt x="7556" y="3406839"/>
                      <a:pt x="11620" y="3381312"/>
                    </a:cubicBezTo>
                    <a:cubicBezTo>
                      <a:pt x="89726" y="2890457"/>
                      <a:pt x="221806" y="2409254"/>
                      <a:pt x="402781" y="1947164"/>
                    </a:cubicBezTo>
                    <a:cubicBezTo>
                      <a:pt x="458851" y="1803654"/>
                      <a:pt x="519747" y="1661922"/>
                      <a:pt x="585216" y="1522413"/>
                    </a:cubicBezTo>
                    <a:cubicBezTo>
                      <a:pt x="751967" y="1166622"/>
                      <a:pt x="948309" y="824674"/>
                      <a:pt x="1171766" y="501269"/>
                    </a:cubicBezTo>
                    <a:cubicBezTo>
                      <a:pt x="1255522" y="379921"/>
                      <a:pt x="1343152" y="261239"/>
                      <a:pt x="1434402" y="145415"/>
                    </a:cubicBezTo>
                    <a:cubicBezTo>
                      <a:pt x="1472946" y="96457"/>
                      <a:pt x="1512253" y="47942"/>
                      <a:pt x="1552194" y="0"/>
                    </a:cubicBezTo>
                  </a:path>
                </a:pathLst>
              </a:custGeom>
              <a:noFill/>
              <a:ln w="10287" cap="flat">
                <a:solidFill>
                  <a:srgbClr val="ADDC91"/>
                </a:solid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44B82900-B82A-DEAC-4B0C-2DC9C7277B6C}"/>
                  </a:ext>
                </a:extLst>
              </p:cNvPr>
              <p:cNvSpPr/>
              <p:nvPr/>
            </p:nvSpPr>
            <p:spPr>
              <a:xfrm>
                <a:off x="10323766" y="1592172"/>
                <a:ext cx="1868233" cy="2894774"/>
              </a:xfrm>
              <a:custGeom>
                <a:avLst/>
                <a:gdLst>
                  <a:gd name="connsiteX0" fmla="*/ 1868233 w 1868233"/>
                  <a:gd name="connsiteY0" fmla="*/ 0 h 2894774"/>
                  <a:gd name="connsiteX1" fmla="*/ 355536 w 1868233"/>
                  <a:gd name="connsiteY1" fmla="*/ 213550 h 2894774"/>
                  <a:gd name="connsiteX2" fmla="*/ 508 w 1868233"/>
                  <a:gd name="connsiteY2" fmla="*/ 263652 h 2894774"/>
                  <a:gd name="connsiteX3" fmla="*/ 508 w 1868233"/>
                  <a:gd name="connsiteY3" fmla="*/ 700215 h 2894774"/>
                  <a:gd name="connsiteX4" fmla="*/ 508 w 1868233"/>
                  <a:gd name="connsiteY4" fmla="*/ 700215 h 2894774"/>
                  <a:gd name="connsiteX5" fmla="*/ 0 w 1868233"/>
                  <a:gd name="connsiteY5" fmla="*/ 2894775 h 2894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8233" h="2894774">
                    <a:moveTo>
                      <a:pt x="1868233" y="0"/>
                    </a:moveTo>
                    <a:cubicBezTo>
                      <a:pt x="1363980" y="71183"/>
                      <a:pt x="859727" y="142367"/>
                      <a:pt x="355536" y="213550"/>
                    </a:cubicBezTo>
                    <a:cubicBezTo>
                      <a:pt x="237172" y="230251"/>
                      <a:pt x="118872" y="246952"/>
                      <a:pt x="508" y="263652"/>
                    </a:cubicBezTo>
                    <a:lnTo>
                      <a:pt x="508" y="700215"/>
                    </a:lnTo>
                    <a:cubicBezTo>
                      <a:pt x="508" y="700215"/>
                      <a:pt x="508" y="700215"/>
                      <a:pt x="508" y="700215"/>
                    </a:cubicBezTo>
                    <a:lnTo>
                      <a:pt x="0" y="2894775"/>
                    </a:lnTo>
                  </a:path>
                </a:pathLst>
              </a:custGeom>
              <a:noFill/>
              <a:ln w="10287" cap="flat">
                <a:solidFill>
                  <a:srgbClr val="ADDC91"/>
                </a:solidFill>
                <a:prstDash val="solid"/>
                <a:round/>
              </a:ln>
            </p:spPr>
            <p:txBody>
              <a:bodyPr rtlCol="0" anchor="ctr"/>
              <a:lstStyle/>
              <a:p>
                <a:endParaRPr lang="en-US"/>
              </a:p>
            </p:txBody>
          </p:sp>
          <p:sp>
            <p:nvSpPr>
              <p:cNvPr id="22" name="Freeform: Shape 21">
                <a:extLst>
                  <a:ext uri="{FF2B5EF4-FFF2-40B4-BE49-F238E27FC236}">
                    <a16:creationId xmlns:a16="http://schemas.microsoft.com/office/drawing/2014/main" id="{D11C454F-0F59-9272-CA03-CDF505D91EFC}"/>
                  </a:ext>
                </a:extLst>
              </p:cNvPr>
              <p:cNvSpPr/>
              <p:nvPr/>
            </p:nvSpPr>
            <p:spPr>
              <a:xfrm>
                <a:off x="10324274" y="1855824"/>
                <a:ext cx="1245044" cy="668528"/>
              </a:xfrm>
              <a:custGeom>
                <a:avLst/>
                <a:gdLst>
                  <a:gd name="connsiteX0" fmla="*/ 0 w 1245044"/>
                  <a:gd name="connsiteY0" fmla="*/ 0 h 668528"/>
                  <a:gd name="connsiteX1" fmla="*/ 1245044 w 1245044"/>
                  <a:gd name="connsiteY1" fmla="*/ 668528 h 668528"/>
                </a:gdLst>
                <a:ahLst/>
                <a:cxnLst>
                  <a:cxn ang="0">
                    <a:pos x="connsiteX0" y="connsiteY0"/>
                  </a:cxn>
                  <a:cxn ang="0">
                    <a:pos x="connsiteX1" y="connsiteY1"/>
                  </a:cxn>
                </a:cxnLst>
                <a:rect l="l" t="t" r="r" b="b"/>
                <a:pathLst>
                  <a:path w="1245044" h="668528">
                    <a:moveTo>
                      <a:pt x="0" y="0"/>
                    </a:moveTo>
                    <a:lnTo>
                      <a:pt x="1245044" y="668528"/>
                    </a:lnTo>
                  </a:path>
                </a:pathLst>
              </a:custGeom>
              <a:ln w="10287" cap="flat">
                <a:solidFill>
                  <a:srgbClr val="ADDC91"/>
                </a:solidFill>
                <a:prstDash val="solid"/>
                <a:round/>
              </a:ln>
            </p:spPr>
            <p:txBody>
              <a:bodyPr rtlCol="0" anchor="ctr"/>
              <a:lstStyle/>
              <a:p>
                <a:endParaRPr lang="en-US"/>
              </a:p>
            </p:txBody>
          </p:sp>
        </p:grpSp>
        <p:sp>
          <p:nvSpPr>
            <p:cNvPr id="14" name="Freeform: Shape 13">
              <a:extLst>
                <a:ext uri="{FF2B5EF4-FFF2-40B4-BE49-F238E27FC236}">
                  <a16:creationId xmlns:a16="http://schemas.microsoft.com/office/drawing/2014/main" id="{C92C94D7-7F29-0A73-7429-3A51441933A0}"/>
                </a:ext>
              </a:extLst>
            </p:cNvPr>
            <p:cNvSpPr/>
            <p:nvPr/>
          </p:nvSpPr>
          <p:spPr>
            <a:xfrm>
              <a:off x="3558666" y="1029181"/>
              <a:ext cx="5584761" cy="2627820"/>
            </a:xfrm>
            <a:custGeom>
              <a:avLst/>
              <a:gdLst>
                <a:gd name="connsiteX0" fmla="*/ 5584762 w 5584761"/>
                <a:gd name="connsiteY0" fmla="*/ 0 h 2627820"/>
                <a:gd name="connsiteX1" fmla="*/ 5584762 w 5584761"/>
                <a:gd name="connsiteY1" fmla="*/ 1838389 h 2627820"/>
                <a:gd name="connsiteX2" fmla="*/ 4815777 w 5584761"/>
                <a:gd name="connsiteY2" fmla="*/ 1947164 h 2627820"/>
                <a:gd name="connsiteX3" fmla="*/ 2477 w 5584761"/>
                <a:gd name="connsiteY3" fmla="*/ 2627821 h 2627820"/>
                <a:gd name="connsiteX4" fmla="*/ 1651 w 5584761"/>
                <a:gd name="connsiteY4" fmla="*/ 1781683 h 2627820"/>
                <a:gd name="connsiteX5" fmla="*/ 0 w 5584761"/>
                <a:gd name="connsiteY5" fmla="*/ 0 h 2627820"/>
                <a:gd name="connsiteX6" fmla="*/ 5584762 w 5584761"/>
                <a:gd name="connsiteY6" fmla="*/ 0 h 262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4761" h="2627820">
                  <a:moveTo>
                    <a:pt x="5584762" y="0"/>
                  </a:moveTo>
                  <a:lnTo>
                    <a:pt x="5584762" y="1838389"/>
                  </a:lnTo>
                  <a:lnTo>
                    <a:pt x="4815777" y="1947164"/>
                  </a:lnTo>
                  <a:lnTo>
                    <a:pt x="2477" y="2627821"/>
                  </a:lnTo>
                  <a:lnTo>
                    <a:pt x="1651" y="1781683"/>
                  </a:lnTo>
                  <a:lnTo>
                    <a:pt x="0" y="0"/>
                  </a:lnTo>
                  <a:lnTo>
                    <a:pt x="5584762" y="0"/>
                  </a:lnTo>
                  <a:close/>
                </a:path>
              </a:pathLst>
            </a:custGeom>
            <a:noFill/>
            <a:ln w="10287" cap="flat">
              <a:solidFill>
                <a:srgbClr val="ADDC91"/>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040CDCB6-8905-1313-4BD4-5B30394E9A4A}"/>
                </a:ext>
              </a:extLst>
            </p:cNvPr>
            <p:cNvSpPr/>
            <p:nvPr/>
          </p:nvSpPr>
          <p:spPr>
            <a:xfrm>
              <a:off x="2321941" y="1029181"/>
              <a:ext cx="5578855" cy="1956180"/>
            </a:xfrm>
            <a:custGeom>
              <a:avLst/>
              <a:gdLst>
                <a:gd name="connsiteX0" fmla="*/ 5578856 w 5578855"/>
                <a:gd name="connsiteY0" fmla="*/ 1168908 h 1956180"/>
                <a:gd name="connsiteX1" fmla="*/ 4878134 w 5578855"/>
                <a:gd name="connsiteY1" fmla="*/ 1267841 h 1956180"/>
                <a:gd name="connsiteX2" fmla="*/ 1238377 w 5578855"/>
                <a:gd name="connsiteY2" fmla="*/ 1781683 h 1956180"/>
                <a:gd name="connsiteX3" fmla="*/ 2223 w 5578855"/>
                <a:gd name="connsiteY3" fmla="*/ 1956181 h 1956180"/>
                <a:gd name="connsiteX4" fmla="*/ 0 w 5578855"/>
                <a:gd name="connsiteY4" fmla="*/ 0 h 1956180"/>
                <a:gd name="connsiteX5" fmla="*/ 5578603 w 5578855"/>
                <a:gd name="connsiteY5" fmla="*/ 0 h 1956180"/>
                <a:gd name="connsiteX6" fmla="*/ 5578856 w 5578855"/>
                <a:gd name="connsiteY6" fmla="*/ 1168908 h 195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8855" h="1956180">
                  <a:moveTo>
                    <a:pt x="5578856" y="1168908"/>
                  </a:moveTo>
                  <a:cubicBezTo>
                    <a:pt x="5345240" y="1201865"/>
                    <a:pt x="5111687" y="1234885"/>
                    <a:pt x="4878134" y="1267841"/>
                  </a:cubicBezTo>
                  <a:cubicBezTo>
                    <a:pt x="3664839" y="1439101"/>
                    <a:pt x="2451608" y="1610424"/>
                    <a:pt x="1238377" y="1781683"/>
                  </a:cubicBezTo>
                  <a:cubicBezTo>
                    <a:pt x="826326" y="1839849"/>
                    <a:pt x="414274" y="1898015"/>
                    <a:pt x="2223" y="1956181"/>
                  </a:cubicBezTo>
                  <a:lnTo>
                    <a:pt x="0" y="0"/>
                  </a:lnTo>
                  <a:lnTo>
                    <a:pt x="5578603" y="0"/>
                  </a:lnTo>
                  <a:lnTo>
                    <a:pt x="5578856" y="1168908"/>
                  </a:lnTo>
                  <a:close/>
                </a:path>
              </a:pathLst>
            </a:custGeom>
            <a:noFill/>
            <a:ln w="10287" cap="flat">
              <a:solidFill>
                <a:srgbClr val="ADDC91"/>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820C3116-694F-7482-DA20-E0E11D43C373}"/>
                </a:ext>
              </a:extLst>
            </p:cNvPr>
            <p:cNvSpPr/>
            <p:nvPr/>
          </p:nvSpPr>
          <p:spPr>
            <a:xfrm>
              <a:off x="7900797" y="2198089"/>
              <a:ext cx="1242631" cy="669417"/>
            </a:xfrm>
            <a:custGeom>
              <a:avLst/>
              <a:gdLst>
                <a:gd name="connsiteX0" fmla="*/ 0 w 1242631"/>
                <a:gd name="connsiteY0" fmla="*/ 0 h 669417"/>
                <a:gd name="connsiteX1" fmla="*/ 1242632 w 1242631"/>
                <a:gd name="connsiteY1" fmla="*/ 669417 h 669417"/>
              </a:gdLst>
              <a:ahLst/>
              <a:cxnLst>
                <a:cxn ang="0">
                  <a:pos x="connsiteX0" y="connsiteY0"/>
                </a:cxn>
                <a:cxn ang="0">
                  <a:pos x="connsiteX1" y="connsiteY1"/>
                </a:cxn>
              </a:cxnLst>
              <a:rect l="l" t="t" r="r" b="b"/>
              <a:pathLst>
                <a:path w="1242631" h="669417">
                  <a:moveTo>
                    <a:pt x="0" y="0"/>
                  </a:moveTo>
                  <a:lnTo>
                    <a:pt x="1242632" y="669417"/>
                  </a:lnTo>
                </a:path>
              </a:pathLst>
            </a:custGeom>
            <a:ln w="10287" cap="flat">
              <a:solidFill>
                <a:srgbClr val="ADDC91"/>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7E98BF7D-9740-2B57-ADC5-63C8D3A13C2B}"/>
                </a:ext>
              </a:extLst>
            </p:cNvPr>
            <p:cNvSpPr/>
            <p:nvPr/>
          </p:nvSpPr>
          <p:spPr>
            <a:xfrm>
              <a:off x="2316035" y="2983648"/>
              <a:ext cx="1242567" cy="669480"/>
            </a:xfrm>
            <a:custGeom>
              <a:avLst/>
              <a:gdLst>
                <a:gd name="connsiteX0" fmla="*/ 0 w 1242567"/>
                <a:gd name="connsiteY0" fmla="*/ 0 h 669480"/>
                <a:gd name="connsiteX1" fmla="*/ 1242568 w 1242567"/>
                <a:gd name="connsiteY1" fmla="*/ 669481 h 669480"/>
              </a:gdLst>
              <a:ahLst/>
              <a:cxnLst>
                <a:cxn ang="0">
                  <a:pos x="connsiteX0" y="connsiteY0"/>
                </a:cxn>
                <a:cxn ang="0">
                  <a:pos x="connsiteX1" y="connsiteY1"/>
                </a:cxn>
              </a:cxnLst>
              <a:rect l="l" t="t" r="r" b="b"/>
              <a:pathLst>
                <a:path w="1242567" h="669480">
                  <a:moveTo>
                    <a:pt x="0" y="0"/>
                  </a:moveTo>
                  <a:lnTo>
                    <a:pt x="1242568" y="669481"/>
                  </a:lnTo>
                </a:path>
              </a:pathLst>
            </a:custGeom>
            <a:ln w="10287" cap="flat">
              <a:solidFill>
                <a:srgbClr val="ADDC91"/>
              </a:solidFill>
              <a:prstDash val="solid"/>
              <a:round/>
            </a:ln>
          </p:spPr>
          <p:txBody>
            <a:bodyPr rtlCol="0" anchor="ctr"/>
            <a:lstStyle/>
            <a:p>
              <a:endParaRPr lang="en-US"/>
            </a:p>
          </p:txBody>
        </p:sp>
      </p:grpSp>
      <p:sp>
        <p:nvSpPr>
          <p:cNvPr id="23" name="Freeform: Shape 22">
            <a:extLst>
              <a:ext uri="{FF2B5EF4-FFF2-40B4-BE49-F238E27FC236}">
                <a16:creationId xmlns:a16="http://schemas.microsoft.com/office/drawing/2014/main" id="{90D5BD27-EF1D-9FB4-136D-37F8907DC7BC}"/>
              </a:ext>
            </a:extLst>
          </p:cNvPr>
          <p:cNvSpPr/>
          <p:nvPr userDrawn="1"/>
        </p:nvSpPr>
        <p:spPr>
          <a:xfrm>
            <a:off x="0" y="4487010"/>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81DBEA8A-0011-0525-9CD4-E7C5C91BD48B}"/>
              </a:ext>
            </a:extLst>
          </p:cNvPr>
          <p:cNvSpPr/>
          <p:nvPr userDrawn="1"/>
        </p:nvSpPr>
        <p:spPr>
          <a:xfrm>
            <a:off x="0" y="1028358"/>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pic>
        <p:nvPicPr>
          <p:cNvPr id="9" name="Graphic 8">
            <a:extLst>
              <a:ext uri="{FF2B5EF4-FFF2-40B4-BE49-F238E27FC236}">
                <a16:creationId xmlns:a16="http://schemas.microsoft.com/office/drawing/2014/main" id="{592F76EC-5E71-D281-C560-D0C51C53F24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40193315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5348-5C71-3BFD-02EB-E268182BB260}"/>
              </a:ext>
            </a:extLst>
          </p:cNvPr>
          <p:cNvSpPr>
            <a:spLocks noGrp="1"/>
          </p:cNvSpPr>
          <p:nvPr>
            <p:ph type="title"/>
          </p:nvPr>
        </p:nvSpPr>
        <p:spPr>
          <a:xfrm>
            <a:off x="1128698" y="4762803"/>
            <a:ext cx="10581439" cy="1205058"/>
          </a:xfrm>
        </p:spPr>
        <p:txBody>
          <a:bodyPr vert="horz" lIns="91440" tIns="45720" rIns="91440" bIns="45720" rtlCol="0" anchor="ctr">
            <a:normAutofit/>
          </a:bodyPr>
          <a:lstStyle>
            <a:lvl1pPr>
              <a:defRPr lang="en-SA" sz="5400" dirty="0">
                <a:solidFill>
                  <a:schemeClr val="accent2"/>
                </a:solidFill>
                <a:latin typeface="Montserrat-Arabic" pitchFamily="2" charset="-78"/>
                <a:cs typeface="Montserrat-Arabic" pitchFamily="2" charset="-78"/>
              </a:defRPr>
            </a:lvl1pPr>
          </a:lstStyle>
          <a:p>
            <a:pPr marL="0" lvl="0" rtl="1"/>
            <a:r>
              <a:rPr lang="en-US"/>
              <a:t>Click to edit Master title style</a:t>
            </a:r>
            <a:endParaRPr lang="en-SA"/>
          </a:p>
        </p:txBody>
      </p:sp>
      <p:sp>
        <p:nvSpPr>
          <p:cNvPr id="3" name="Text Placeholder 2">
            <a:extLst>
              <a:ext uri="{FF2B5EF4-FFF2-40B4-BE49-F238E27FC236}">
                <a16:creationId xmlns:a16="http://schemas.microsoft.com/office/drawing/2014/main" id="{1932AAC7-3F76-2905-A3CF-9FA2243AAFBE}"/>
              </a:ext>
            </a:extLst>
          </p:cNvPr>
          <p:cNvSpPr>
            <a:spLocks noGrp="1"/>
          </p:cNvSpPr>
          <p:nvPr>
            <p:ph type="body" idx="1"/>
          </p:nvPr>
        </p:nvSpPr>
        <p:spPr>
          <a:xfrm>
            <a:off x="481863" y="2474914"/>
            <a:ext cx="1137387" cy="654050"/>
          </a:xfrm>
        </p:spPr>
        <p:txBody>
          <a:bodyPr>
            <a:normAutofit/>
          </a:bodyPr>
          <a:lstStyle>
            <a:lvl1pPr marL="0" indent="0">
              <a:buNone/>
              <a:defRPr sz="1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A28A84-FA36-784B-7BCB-B2DCBB702DE8}"/>
              </a:ext>
            </a:extLst>
          </p:cNvPr>
          <p:cNvSpPr>
            <a:spLocks noGrp="1"/>
          </p:cNvSpPr>
          <p:nvPr>
            <p:ph type="dt" sz="half" idx="10"/>
          </p:nvPr>
        </p:nvSpPr>
        <p:spPr>
          <a:xfrm>
            <a:off x="1128698" y="6227339"/>
            <a:ext cx="2743200" cy="365125"/>
          </a:xfrm>
        </p:spPr>
        <p:txBody>
          <a:bodyPr/>
          <a:lstStyle/>
          <a:p>
            <a:fld id="{90518998-0747-FE42-A87D-701EFEA3D47B}" type="datetimeFigureOut">
              <a:rPr lang="en-SA" smtClean="0"/>
              <a:t>11/17/2025</a:t>
            </a:fld>
            <a:endParaRPr lang="en-SA"/>
          </a:p>
        </p:txBody>
      </p:sp>
      <p:sp>
        <p:nvSpPr>
          <p:cNvPr id="5" name="Footer Placeholder 4">
            <a:extLst>
              <a:ext uri="{FF2B5EF4-FFF2-40B4-BE49-F238E27FC236}">
                <a16:creationId xmlns:a16="http://schemas.microsoft.com/office/drawing/2014/main" id="{301077E0-8186-A593-4069-12A615FBF87A}"/>
              </a:ext>
            </a:extLst>
          </p:cNvPr>
          <p:cNvSpPr>
            <a:spLocks noGrp="1"/>
          </p:cNvSpPr>
          <p:nvPr>
            <p:ph type="ftr" sz="quarter" idx="11"/>
          </p:nvPr>
        </p:nvSpPr>
        <p:spPr>
          <a:xfrm>
            <a:off x="4329098" y="6227339"/>
            <a:ext cx="4114800" cy="365125"/>
          </a:xfrm>
        </p:spPr>
        <p:txBody>
          <a:bodyPr/>
          <a:lstStyle/>
          <a:p>
            <a:endParaRPr lang="en-SA"/>
          </a:p>
        </p:txBody>
      </p:sp>
      <p:sp>
        <p:nvSpPr>
          <p:cNvPr id="6" name="Slide Number Placeholder 5">
            <a:extLst>
              <a:ext uri="{FF2B5EF4-FFF2-40B4-BE49-F238E27FC236}">
                <a16:creationId xmlns:a16="http://schemas.microsoft.com/office/drawing/2014/main" id="{54F6EF12-47BF-361E-6FF0-603059C2D9AE}"/>
              </a:ext>
            </a:extLst>
          </p:cNvPr>
          <p:cNvSpPr>
            <a:spLocks noGrp="1"/>
          </p:cNvSpPr>
          <p:nvPr>
            <p:ph type="sldNum" sz="quarter" idx="12"/>
          </p:nvPr>
        </p:nvSpPr>
        <p:spPr>
          <a:xfrm>
            <a:off x="11282926" y="6227339"/>
            <a:ext cx="495618" cy="365125"/>
          </a:xfrm>
        </p:spPr>
        <p:txBody>
          <a:bodyPr/>
          <a:lstStyle>
            <a:lvl1pPr>
              <a:defRPr lang="en-SA" sz="1800" smtClean="0">
                <a:solidFill>
                  <a:schemeClr val="bg1"/>
                </a:solidFill>
              </a:defRPr>
            </a:lvl1pPr>
          </a:lstStyle>
          <a:p>
            <a:pPr algn="l"/>
            <a:fld id="{0B5D68DA-F15D-0F40-9055-781099452C22}" type="slidenum">
              <a:rPr lang="en-US" smtClean="0"/>
              <a:pPr algn="l"/>
              <a:t>‹#›</a:t>
            </a:fld>
            <a:endParaRPr lang="en-US"/>
          </a:p>
        </p:txBody>
      </p:sp>
      <p:grpSp>
        <p:nvGrpSpPr>
          <p:cNvPr id="12" name="Graphic 9">
            <a:extLst>
              <a:ext uri="{FF2B5EF4-FFF2-40B4-BE49-F238E27FC236}">
                <a16:creationId xmlns:a16="http://schemas.microsoft.com/office/drawing/2014/main" id="{74655B69-6D60-B801-20C4-E6D410E810B9}"/>
              </a:ext>
            </a:extLst>
          </p:cNvPr>
          <p:cNvGrpSpPr/>
          <p:nvPr userDrawn="1"/>
        </p:nvGrpSpPr>
        <p:grpSpPr>
          <a:xfrm>
            <a:off x="2316035" y="1029181"/>
            <a:ext cx="9875964" cy="3457828"/>
            <a:chOff x="2316035" y="1029181"/>
            <a:chExt cx="9875964" cy="3457828"/>
          </a:xfrm>
          <a:noFill/>
        </p:grpSpPr>
        <p:grpSp>
          <p:nvGrpSpPr>
            <p:cNvPr id="13" name="Graphic 9">
              <a:extLst>
                <a:ext uri="{FF2B5EF4-FFF2-40B4-BE49-F238E27FC236}">
                  <a16:creationId xmlns:a16="http://schemas.microsoft.com/office/drawing/2014/main" id="{4E08D199-635A-CC67-3B7C-DC098CB94EBB}"/>
                </a:ext>
              </a:extLst>
            </p:cNvPr>
            <p:cNvGrpSpPr/>
            <p:nvPr/>
          </p:nvGrpSpPr>
          <p:grpSpPr>
            <a:xfrm>
              <a:off x="7971663" y="1029181"/>
              <a:ext cx="4220336" cy="3457828"/>
              <a:chOff x="7971663" y="1029181"/>
              <a:chExt cx="4220336" cy="3457828"/>
            </a:xfrm>
            <a:noFill/>
          </p:grpSpPr>
          <p:sp>
            <p:nvSpPr>
              <p:cNvPr id="18" name="Freeform: Shape 17">
                <a:extLst>
                  <a:ext uri="{FF2B5EF4-FFF2-40B4-BE49-F238E27FC236}">
                    <a16:creationId xmlns:a16="http://schemas.microsoft.com/office/drawing/2014/main" id="{109AC4E3-CE3F-6DAB-2BBF-B5533B7A431F}"/>
                  </a:ext>
                </a:extLst>
              </p:cNvPr>
              <p:cNvSpPr/>
              <p:nvPr/>
            </p:nvSpPr>
            <p:spPr>
              <a:xfrm>
                <a:off x="11568493" y="2436277"/>
                <a:ext cx="623506" cy="2050732"/>
              </a:xfrm>
              <a:custGeom>
                <a:avLst/>
                <a:gdLst>
                  <a:gd name="connsiteX0" fmla="*/ 0 w 623506"/>
                  <a:gd name="connsiteY0" fmla="*/ 2050732 h 2050732"/>
                  <a:gd name="connsiteX1" fmla="*/ 825 w 623506"/>
                  <a:gd name="connsiteY1" fmla="*/ 88075 h 2050732"/>
                  <a:gd name="connsiteX2" fmla="*/ 623506 w 623506"/>
                  <a:gd name="connsiteY2" fmla="*/ 0 h 2050732"/>
                </a:gdLst>
                <a:ahLst/>
                <a:cxnLst>
                  <a:cxn ang="0">
                    <a:pos x="connsiteX0" y="connsiteY0"/>
                  </a:cxn>
                  <a:cxn ang="0">
                    <a:pos x="connsiteX1" y="connsiteY1"/>
                  </a:cxn>
                  <a:cxn ang="0">
                    <a:pos x="connsiteX2" y="connsiteY2"/>
                  </a:cxn>
                </a:cxnLst>
                <a:rect l="l" t="t" r="r" b="b"/>
                <a:pathLst>
                  <a:path w="623506" h="2050732">
                    <a:moveTo>
                      <a:pt x="0" y="2050732"/>
                    </a:moveTo>
                    <a:lnTo>
                      <a:pt x="825" y="88075"/>
                    </a:lnTo>
                    <a:lnTo>
                      <a:pt x="623506" y="0"/>
                    </a:lnTo>
                  </a:path>
                </a:pathLst>
              </a:custGeom>
              <a:noFill/>
              <a:ln w="10287" cap="flat">
                <a:solidFill>
                  <a:srgbClr val="ADDC91"/>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43ED661A-F945-8A23-2E55-61CD0388DB5F}"/>
                  </a:ext>
                </a:extLst>
              </p:cNvPr>
              <p:cNvSpPr/>
              <p:nvPr/>
            </p:nvSpPr>
            <p:spPr>
              <a:xfrm>
                <a:off x="9348025" y="1029181"/>
                <a:ext cx="2053970" cy="3457828"/>
              </a:xfrm>
              <a:custGeom>
                <a:avLst/>
                <a:gdLst>
                  <a:gd name="connsiteX0" fmla="*/ 2053971 w 2053970"/>
                  <a:gd name="connsiteY0" fmla="*/ 0 h 3457828"/>
                  <a:gd name="connsiteX1" fmla="*/ 1331278 w 2053970"/>
                  <a:gd name="connsiteY1" fmla="*/ 776542 h 3457828"/>
                  <a:gd name="connsiteX2" fmla="*/ 1199769 w 2053970"/>
                  <a:gd name="connsiteY2" fmla="*/ 946658 h 3457828"/>
                  <a:gd name="connsiteX3" fmla="*/ 1050227 w 2053970"/>
                  <a:gd name="connsiteY3" fmla="*/ 1154176 h 3457828"/>
                  <a:gd name="connsiteX4" fmla="*/ 976185 w 2053970"/>
                  <a:gd name="connsiteY4" fmla="*/ 1263206 h 3457828"/>
                  <a:gd name="connsiteX5" fmla="*/ 976185 w 2053970"/>
                  <a:gd name="connsiteY5" fmla="*/ 1263206 h 3457828"/>
                  <a:gd name="connsiteX6" fmla="*/ 0 w 2053970"/>
                  <a:gd name="connsiteY6" fmla="*/ 3457829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970" h="3457828">
                    <a:moveTo>
                      <a:pt x="2053971" y="0"/>
                    </a:moveTo>
                    <a:cubicBezTo>
                      <a:pt x="1793431" y="239713"/>
                      <a:pt x="1551686" y="500063"/>
                      <a:pt x="1331278" y="776542"/>
                    </a:cubicBezTo>
                    <a:cubicBezTo>
                      <a:pt x="1286510" y="832549"/>
                      <a:pt x="1242695" y="889318"/>
                      <a:pt x="1199769" y="946658"/>
                    </a:cubicBezTo>
                    <a:cubicBezTo>
                      <a:pt x="1148652" y="1014984"/>
                      <a:pt x="1098804" y="1084136"/>
                      <a:pt x="1050227" y="1154176"/>
                    </a:cubicBezTo>
                    <a:cubicBezTo>
                      <a:pt x="1025207" y="1190308"/>
                      <a:pt x="1000506" y="1226630"/>
                      <a:pt x="976185" y="1263206"/>
                    </a:cubicBezTo>
                    <a:lnTo>
                      <a:pt x="976185" y="1263206"/>
                    </a:lnTo>
                    <a:cubicBezTo>
                      <a:pt x="529463" y="1933385"/>
                      <a:pt x="196406" y="2677986"/>
                      <a:pt x="0" y="3457829"/>
                    </a:cubicBezTo>
                  </a:path>
                </a:pathLst>
              </a:custGeom>
              <a:noFill/>
              <a:ln w="10287" cap="flat">
                <a:solidFill>
                  <a:srgbClr val="ADDC91"/>
                </a:solid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E989601E-0290-9055-ACEC-326F02F5037F}"/>
                  </a:ext>
                </a:extLst>
              </p:cNvPr>
              <p:cNvSpPr/>
              <p:nvPr/>
            </p:nvSpPr>
            <p:spPr>
              <a:xfrm>
                <a:off x="7971663" y="1029181"/>
                <a:ext cx="1552193" cy="3457828"/>
              </a:xfrm>
              <a:custGeom>
                <a:avLst/>
                <a:gdLst>
                  <a:gd name="connsiteX0" fmla="*/ 0 w 1552193"/>
                  <a:gd name="connsiteY0" fmla="*/ 3457829 h 3457828"/>
                  <a:gd name="connsiteX1" fmla="*/ 11620 w 1552193"/>
                  <a:gd name="connsiteY1" fmla="*/ 3381312 h 3457828"/>
                  <a:gd name="connsiteX2" fmla="*/ 402781 w 1552193"/>
                  <a:gd name="connsiteY2" fmla="*/ 1947164 h 3457828"/>
                  <a:gd name="connsiteX3" fmla="*/ 585216 w 1552193"/>
                  <a:gd name="connsiteY3" fmla="*/ 1522413 h 3457828"/>
                  <a:gd name="connsiteX4" fmla="*/ 1171766 w 1552193"/>
                  <a:gd name="connsiteY4" fmla="*/ 501269 h 3457828"/>
                  <a:gd name="connsiteX5" fmla="*/ 1434402 w 1552193"/>
                  <a:gd name="connsiteY5" fmla="*/ 145415 h 3457828"/>
                  <a:gd name="connsiteX6" fmla="*/ 1552194 w 1552193"/>
                  <a:gd name="connsiteY6" fmla="*/ 0 h 345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2193" h="3457828">
                    <a:moveTo>
                      <a:pt x="0" y="3457829"/>
                    </a:moveTo>
                    <a:cubicBezTo>
                      <a:pt x="3683" y="3432302"/>
                      <a:pt x="7556" y="3406839"/>
                      <a:pt x="11620" y="3381312"/>
                    </a:cubicBezTo>
                    <a:cubicBezTo>
                      <a:pt x="89726" y="2890457"/>
                      <a:pt x="221806" y="2409254"/>
                      <a:pt x="402781" y="1947164"/>
                    </a:cubicBezTo>
                    <a:cubicBezTo>
                      <a:pt x="458851" y="1803654"/>
                      <a:pt x="519747" y="1661922"/>
                      <a:pt x="585216" y="1522413"/>
                    </a:cubicBezTo>
                    <a:cubicBezTo>
                      <a:pt x="751967" y="1166622"/>
                      <a:pt x="948309" y="824674"/>
                      <a:pt x="1171766" y="501269"/>
                    </a:cubicBezTo>
                    <a:cubicBezTo>
                      <a:pt x="1255522" y="379921"/>
                      <a:pt x="1343152" y="261239"/>
                      <a:pt x="1434402" y="145415"/>
                    </a:cubicBezTo>
                    <a:cubicBezTo>
                      <a:pt x="1472946" y="96457"/>
                      <a:pt x="1512253" y="47942"/>
                      <a:pt x="1552194" y="0"/>
                    </a:cubicBezTo>
                  </a:path>
                </a:pathLst>
              </a:custGeom>
              <a:noFill/>
              <a:ln w="10287" cap="flat">
                <a:solidFill>
                  <a:srgbClr val="ADDC91"/>
                </a:solid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44B82900-B82A-DEAC-4B0C-2DC9C7277B6C}"/>
                  </a:ext>
                </a:extLst>
              </p:cNvPr>
              <p:cNvSpPr/>
              <p:nvPr/>
            </p:nvSpPr>
            <p:spPr>
              <a:xfrm>
                <a:off x="10323766" y="1592172"/>
                <a:ext cx="1868233" cy="2894774"/>
              </a:xfrm>
              <a:custGeom>
                <a:avLst/>
                <a:gdLst>
                  <a:gd name="connsiteX0" fmla="*/ 1868233 w 1868233"/>
                  <a:gd name="connsiteY0" fmla="*/ 0 h 2894774"/>
                  <a:gd name="connsiteX1" fmla="*/ 355536 w 1868233"/>
                  <a:gd name="connsiteY1" fmla="*/ 213550 h 2894774"/>
                  <a:gd name="connsiteX2" fmla="*/ 508 w 1868233"/>
                  <a:gd name="connsiteY2" fmla="*/ 263652 h 2894774"/>
                  <a:gd name="connsiteX3" fmla="*/ 508 w 1868233"/>
                  <a:gd name="connsiteY3" fmla="*/ 700215 h 2894774"/>
                  <a:gd name="connsiteX4" fmla="*/ 508 w 1868233"/>
                  <a:gd name="connsiteY4" fmla="*/ 700215 h 2894774"/>
                  <a:gd name="connsiteX5" fmla="*/ 0 w 1868233"/>
                  <a:gd name="connsiteY5" fmla="*/ 2894775 h 2894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8233" h="2894774">
                    <a:moveTo>
                      <a:pt x="1868233" y="0"/>
                    </a:moveTo>
                    <a:cubicBezTo>
                      <a:pt x="1363980" y="71183"/>
                      <a:pt x="859727" y="142367"/>
                      <a:pt x="355536" y="213550"/>
                    </a:cubicBezTo>
                    <a:cubicBezTo>
                      <a:pt x="237172" y="230251"/>
                      <a:pt x="118872" y="246952"/>
                      <a:pt x="508" y="263652"/>
                    </a:cubicBezTo>
                    <a:lnTo>
                      <a:pt x="508" y="700215"/>
                    </a:lnTo>
                    <a:cubicBezTo>
                      <a:pt x="508" y="700215"/>
                      <a:pt x="508" y="700215"/>
                      <a:pt x="508" y="700215"/>
                    </a:cubicBezTo>
                    <a:lnTo>
                      <a:pt x="0" y="2894775"/>
                    </a:lnTo>
                  </a:path>
                </a:pathLst>
              </a:custGeom>
              <a:noFill/>
              <a:ln w="10287" cap="flat">
                <a:solidFill>
                  <a:srgbClr val="ADDC91"/>
                </a:solidFill>
                <a:prstDash val="solid"/>
                <a:round/>
              </a:ln>
            </p:spPr>
            <p:txBody>
              <a:bodyPr rtlCol="0" anchor="ctr"/>
              <a:lstStyle/>
              <a:p>
                <a:endParaRPr lang="en-US"/>
              </a:p>
            </p:txBody>
          </p:sp>
          <p:sp>
            <p:nvSpPr>
              <p:cNvPr id="22" name="Freeform: Shape 21">
                <a:extLst>
                  <a:ext uri="{FF2B5EF4-FFF2-40B4-BE49-F238E27FC236}">
                    <a16:creationId xmlns:a16="http://schemas.microsoft.com/office/drawing/2014/main" id="{D11C454F-0F59-9272-CA03-CDF505D91EFC}"/>
                  </a:ext>
                </a:extLst>
              </p:cNvPr>
              <p:cNvSpPr/>
              <p:nvPr/>
            </p:nvSpPr>
            <p:spPr>
              <a:xfrm>
                <a:off x="10324274" y="1855824"/>
                <a:ext cx="1245044" cy="668528"/>
              </a:xfrm>
              <a:custGeom>
                <a:avLst/>
                <a:gdLst>
                  <a:gd name="connsiteX0" fmla="*/ 0 w 1245044"/>
                  <a:gd name="connsiteY0" fmla="*/ 0 h 668528"/>
                  <a:gd name="connsiteX1" fmla="*/ 1245044 w 1245044"/>
                  <a:gd name="connsiteY1" fmla="*/ 668528 h 668528"/>
                </a:gdLst>
                <a:ahLst/>
                <a:cxnLst>
                  <a:cxn ang="0">
                    <a:pos x="connsiteX0" y="connsiteY0"/>
                  </a:cxn>
                  <a:cxn ang="0">
                    <a:pos x="connsiteX1" y="connsiteY1"/>
                  </a:cxn>
                </a:cxnLst>
                <a:rect l="l" t="t" r="r" b="b"/>
                <a:pathLst>
                  <a:path w="1245044" h="668528">
                    <a:moveTo>
                      <a:pt x="0" y="0"/>
                    </a:moveTo>
                    <a:lnTo>
                      <a:pt x="1245044" y="668528"/>
                    </a:lnTo>
                  </a:path>
                </a:pathLst>
              </a:custGeom>
              <a:ln w="10287" cap="flat">
                <a:solidFill>
                  <a:srgbClr val="ADDC91"/>
                </a:solidFill>
                <a:prstDash val="solid"/>
                <a:round/>
              </a:ln>
            </p:spPr>
            <p:txBody>
              <a:bodyPr rtlCol="0" anchor="ctr"/>
              <a:lstStyle/>
              <a:p>
                <a:endParaRPr lang="en-US"/>
              </a:p>
            </p:txBody>
          </p:sp>
        </p:grpSp>
        <p:sp>
          <p:nvSpPr>
            <p:cNvPr id="14" name="Freeform: Shape 13">
              <a:extLst>
                <a:ext uri="{FF2B5EF4-FFF2-40B4-BE49-F238E27FC236}">
                  <a16:creationId xmlns:a16="http://schemas.microsoft.com/office/drawing/2014/main" id="{C92C94D7-7F29-0A73-7429-3A51441933A0}"/>
                </a:ext>
              </a:extLst>
            </p:cNvPr>
            <p:cNvSpPr/>
            <p:nvPr/>
          </p:nvSpPr>
          <p:spPr>
            <a:xfrm>
              <a:off x="3558666" y="1029181"/>
              <a:ext cx="5584761" cy="2627820"/>
            </a:xfrm>
            <a:custGeom>
              <a:avLst/>
              <a:gdLst>
                <a:gd name="connsiteX0" fmla="*/ 5584762 w 5584761"/>
                <a:gd name="connsiteY0" fmla="*/ 0 h 2627820"/>
                <a:gd name="connsiteX1" fmla="*/ 5584762 w 5584761"/>
                <a:gd name="connsiteY1" fmla="*/ 1838389 h 2627820"/>
                <a:gd name="connsiteX2" fmla="*/ 4815777 w 5584761"/>
                <a:gd name="connsiteY2" fmla="*/ 1947164 h 2627820"/>
                <a:gd name="connsiteX3" fmla="*/ 2477 w 5584761"/>
                <a:gd name="connsiteY3" fmla="*/ 2627821 h 2627820"/>
                <a:gd name="connsiteX4" fmla="*/ 1651 w 5584761"/>
                <a:gd name="connsiteY4" fmla="*/ 1781683 h 2627820"/>
                <a:gd name="connsiteX5" fmla="*/ 0 w 5584761"/>
                <a:gd name="connsiteY5" fmla="*/ 0 h 2627820"/>
                <a:gd name="connsiteX6" fmla="*/ 5584762 w 5584761"/>
                <a:gd name="connsiteY6" fmla="*/ 0 h 262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4761" h="2627820">
                  <a:moveTo>
                    <a:pt x="5584762" y="0"/>
                  </a:moveTo>
                  <a:lnTo>
                    <a:pt x="5584762" y="1838389"/>
                  </a:lnTo>
                  <a:lnTo>
                    <a:pt x="4815777" y="1947164"/>
                  </a:lnTo>
                  <a:lnTo>
                    <a:pt x="2477" y="2627821"/>
                  </a:lnTo>
                  <a:lnTo>
                    <a:pt x="1651" y="1781683"/>
                  </a:lnTo>
                  <a:lnTo>
                    <a:pt x="0" y="0"/>
                  </a:lnTo>
                  <a:lnTo>
                    <a:pt x="5584762" y="0"/>
                  </a:lnTo>
                  <a:close/>
                </a:path>
              </a:pathLst>
            </a:custGeom>
            <a:noFill/>
            <a:ln w="10287" cap="flat">
              <a:solidFill>
                <a:srgbClr val="ADDC91"/>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040CDCB6-8905-1313-4BD4-5B30394E9A4A}"/>
                </a:ext>
              </a:extLst>
            </p:cNvPr>
            <p:cNvSpPr/>
            <p:nvPr/>
          </p:nvSpPr>
          <p:spPr>
            <a:xfrm>
              <a:off x="2321941" y="1029181"/>
              <a:ext cx="5578855" cy="1956180"/>
            </a:xfrm>
            <a:custGeom>
              <a:avLst/>
              <a:gdLst>
                <a:gd name="connsiteX0" fmla="*/ 5578856 w 5578855"/>
                <a:gd name="connsiteY0" fmla="*/ 1168908 h 1956180"/>
                <a:gd name="connsiteX1" fmla="*/ 4878134 w 5578855"/>
                <a:gd name="connsiteY1" fmla="*/ 1267841 h 1956180"/>
                <a:gd name="connsiteX2" fmla="*/ 1238377 w 5578855"/>
                <a:gd name="connsiteY2" fmla="*/ 1781683 h 1956180"/>
                <a:gd name="connsiteX3" fmla="*/ 2223 w 5578855"/>
                <a:gd name="connsiteY3" fmla="*/ 1956181 h 1956180"/>
                <a:gd name="connsiteX4" fmla="*/ 0 w 5578855"/>
                <a:gd name="connsiteY4" fmla="*/ 0 h 1956180"/>
                <a:gd name="connsiteX5" fmla="*/ 5578603 w 5578855"/>
                <a:gd name="connsiteY5" fmla="*/ 0 h 1956180"/>
                <a:gd name="connsiteX6" fmla="*/ 5578856 w 5578855"/>
                <a:gd name="connsiteY6" fmla="*/ 1168908 h 195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8855" h="1956180">
                  <a:moveTo>
                    <a:pt x="5578856" y="1168908"/>
                  </a:moveTo>
                  <a:cubicBezTo>
                    <a:pt x="5345240" y="1201865"/>
                    <a:pt x="5111687" y="1234885"/>
                    <a:pt x="4878134" y="1267841"/>
                  </a:cubicBezTo>
                  <a:cubicBezTo>
                    <a:pt x="3664839" y="1439101"/>
                    <a:pt x="2451608" y="1610424"/>
                    <a:pt x="1238377" y="1781683"/>
                  </a:cubicBezTo>
                  <a:cubicBezTo>
                    <a:pt x="826326" y="1839849"/>
                    <a:pt x="414274" y="1898015"/>
                    <a:pt x="2223" y="1956181"/>
                  </a:cubicBezTo>
                  <a:lnTo>
                    <a:pt x="0" y="0"/>
                  </a:lnTo>
                  <a:lnTo>
                    <a:pt x="5578603" y="0"/>
                  </a:lnTo>
                  <a:lnTo>
                    <a:pt x="5578856" y="1168908"/>
                  </a:lnTo>
                  <a:close/>
                </a:path>
              </a:pathLst>
            </a:custGeom>
            <a:noFill/>
            <a:ln w="10287" cap="flat">
              <a:solidFill>
                <a:srgbClr val="ADDC91"/>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820C3116-694F-7482-DA20-E0E11D43C373}"/>
                </a:ext>
              </a:extLst>
            </p:cNvPr>
            <p:cNvSpPr/>
            <p:nvPr/>
          </p:nvSpPr>
          <p:spPr>
            <a:xfrm>
              <a:off x="7900797" y="2198089"/>
              <a:ext cx="1242631" cy="669417"/>
            </a:xfrm>
            <a:custGeom>
              <a:avLst/>
              <a:gdLst>
                <a:gd name="connsiteX0" fmla="*/ 0 w 1242631"/>
                <a:gd name="connsiteY0" fmla="*/ 0 h 669417"/>
                <a:gd name="connsiteX1" fmla="*/ 1242632 w 1242631"/>
                <a:gd name="connsiteY1" fmla="*/ 669417 h 669417"/>
              </a:gdLst>
              <a:ahLst/>
              <a:cxnLst>
                <a:cxn ang="0">
                  <a:pos x="connsiteX0" y="connsiteY0"/>
                </a:cxn>
                <a:cxn ang="0">
                  <a:pos x="connsiteX1" y="connsiteY1"/>
                </a:cxn>
              </a:cxnLst>
              <a:rect l="l" t="t" r="r" b="b"/>
              <a:pathLst>
                <a:path w="1242631" h="669417">
                  <a:moveTo>
                    <a:pt x="0" y="0"/>
                  </a:moveTo>
                  <a:lnTo>
                    <a:pt x="1242632" y="669417"/>
                  </a:lnTo>
                </a:path>
              </a:pathLst>
            </a:custGeom>
            <a:ln w="10287" cap="flat">
              <a:solidFill>
                <a:srgbClr val="ADDC91"/>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7E98BF7D-9740-2B57-ADC5-63C8D3A13C2B}"/>
                </a:ext>
              </a:extLst>
            </p:cNvPr>
            <p:cNvSpPr/>
            <p:nvPr/>
          </p:nvSpPr>
          <p:spPr>
            <a:xfrm>
              <a:off x="2316035" y="2983648"/>
              <a:ext cx="1242567" cy="669480"/>
            </a:xfrm>
            <a:custGeom>
              <a:avLst/>
              <a:gdLst>
                <a:gd name="connsiteX0" fmla="*/ 0 w 1242567"/>
                <a:gd name="connsiteY0" fmla="*/ 0 h 669480"/>
                <a:gd name="connsiteX1" fmla="*/ 1242568 w 1242567"/>
                <a:gd name="connsiteY1" fmla="*/ 669481 h 669480"/>
              </a:gdLst>
              <a:ahLst/>
              <a:cxnLst>
                <a:cxn ang="0">
                  <a:pos x="connsiteX0" y="connsiteY0"/>
                </a:cxn>
                <a:cxn ang="0">
                  <a:pos x="connsiteX1" y="connsiteY1"/>
                </a:cxn>
              </a:cxnLst>
              <a:rect l="l" t="t" r="r" b="b"/>
              <a:pathLst>
                <a:path w="1242567" h="669480">
                  <a:moveTo>
                    <a:pt x="0" y="0"/>
                  </a:moveTo>
                  <a:lnTo>
                    <a:pt x="1242568" y="669481"/>
                  </a:lnTo>
                </a:path>
              </a:pathLst>
            </a:custGeom>
            <a:ln w="10287" cap="flat">
              <a:solidFill>
                <a:srgbClr val="ADDC91"/>
              </a:solidFill>
              <a:prstDash val="solid"/>
              <a:round/>
            </a:ln>
          </p:spPr>
          <p:txBody>
            <a:bodyPr rtlCol="0" anchor="ctr"/>
            <a:lstStyle/>
            <a:p>
              <a:endParaRPr lang="en-US"/>
            </a:p>
          </p:txBody>
        </p:sp>
      </p:grpSp>
      <p:sp>
        <p:nvSpPr>
          <p:cNvPr id="23" name="Freeform: Shape 22">
            <a:extLst>
              <a:ext uri="{FF2B5EF4-FFF2-40B4-BE49-F238E27FC236}">
                <a16:creationId xmlns:a16="http://schemas.microsoft.com/office/drawing/2014/main" id="{90D5BD27-EF1D-9FB4-136D-37F8907DC7BC}"/>
              </a:ext>
            </a:extLst>
          </p:cNvPr>
          <p:cNvSpPr/>
          <p:nvPr userDrawn="1"/>
        </p:nvSpPr>
        <p:spPr>
          <a:xfrm>
            <a:off x="0" y="4487010"/>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81DBEA8A-0011-0525-9CD4-E7C5C91BD48B}"/>
              </a:ext>
            </a:extLst>
          </p:cNvPr>
          <p:cNvSpPr/>
          <p:nvPr userDrawn="1"/>
        </p:nvSpPr>
        <p:spPr>
          <a:xfrm>
            <a:off x="0" y="1028358"/>
            <a:ext cx="12192000" cy="6350"/>
          </a:xfrm>
          <a:custGeom>
            <a:avLst/>
            <a:gdLst>
              <a:gd name="connsiteX0" fmla="*/ 12192000 w 12192000"/>
              <a:gd name="connsiteY0" fmla="*/ 0 h 6350"/>
              <a:gd name="connsiteX1" fmla="*/ 0 w 12192000"/>
              <a:gd name="connsiteY1" fmla="*/ 0 h 6350"/>
            </a:gdLst>
            <a:ahLst/>
            <a:cxnLst>
              <a:cxn ang="0">
                <a:pos x="connsiteX0" y="connsiteY0"/>
              </a:cxn>
              <a:cxn ang="0">
                <a:pos x="connsiteX1" y="connsiteY1"/>
              </a:cxn>
            </a:cxnLst>
            <a:rect l="l" t="t" r="r" b="b"/>
            <a:pathLst>
              <a:path w="12192000" h="6350">
                <a:moveTo>
                  <a:pt x="12192000" y="0"/>
                </a:moveTo>
                <a:lnTo>
                  <a:pt x="0" y="0"/>
                </a:lnTo>
              </a:path>
            </a:pathLst>
          </a:custGeom>
          <a:ln w="10287" cap="flat">
            <a:solidFill>
              <a:srgbClr val="ADDC91"/>
            </a:solidFill>
            <a:prstDash val="solid"/>
            <a:round/>
          </a:ln>
        </p:spPr>
        <p:txBody>
          <a:bodyPr rtlCol="0" anchor="ctr"/>
          <a:lstStyle/>
          <a:p>
            <a:endParaRPr lang="en-US"/>
          </a:p>
        </p:txBody>
      </p:sp>
      <p:pic>
        <p:nvPicPr>
          <p:cNvPr id="7" name="Graphic 6">
            <a:extLst>
              <a:ext uri="{FF2B5EF4-FFF2-40B4-BE49-F238E27FC236}">
                <a16:creationId xmlns:a16="http://schemas.microsoft.com/office/drawing/2014/main" id="{6EB78262-28E6-8FFD-D9E6-47E6DE5EBD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7204476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4D48-2322-BF47-D9F3-D01D25742A90}"/>
              </a:ext>
            </a:extLst>
          </p:cNvPr>
          <p:cNvSpPr>
            <a:spLocks noGrp="1"/>
          </p:cNvSpPr>
          <p:nvPr>
            <p:ph type="title"/>
          </p:nvPr>
        </p:nvSpPr>
        <p:spPr>
          <a:xfrm>
            <a:off x="1022032" y="983388"/>
            <a:ext cx="10331767" cy="502766"/>
          </a:xfrm>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02A210FC-E60A-0192-C0BF-056AF13556AE}"/>
              </a:ext>
            </a:extLst>
          </p:cNvPr>
          <p:cNvSpPr>
            <a:spLocks noGrp="1"/>
          </p:cNvSpPr>
          <p:nvPr>
            <p:ph sz="half" idx="1"/>
          </p:nvPr>
        </p:nvSpPr>
        <p:spPr>
          <a:xfrm>
            <a:off x="1022032" y="1825625"/>
            <a:ext cx="499776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Content Placeholder 3">
            <a:extLst>
              <a:ext uri="{FF2B5EF4-FFF2-40B4-BE49-F238E27FC236}">
                <a16:creationId xmlns:a16="http://schemas.microsoft.com/office/drawing/2014/main" id="{22CC423C-E9B0-D420-50B4-908433219379}"/>
              </a:ext>
            </a:extLst>
          </p:cNvPr>
          <p:cNvSpPr>
            <a:spLocks noGrp="1"/>
          </p:cNvSpPr>
          <p:nvPr>
            <p:ph sz="half" idx="2"/>
          </p:nvPr>
        </p:nvSpPr>
        <p:spPr>
          <a:xfrm>
            <a:off x="6356032" y="1825625"/>
            <a:ext cx="499776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Date Placeholder 4">
            <a:extLst>
              <a:ext uri="{FF2B5EF4-FFF2-40B4-BE49-F238E27FC236}">
                <a16:creationId xmlns:a16="http://schemas.microsoft.com/office/drawing/2014/main" id="{48A7D4DC-4940-CA2F-13EC-DDD58D58C0A0}"/>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6" name="Footer Placeholder 5">
            <a:extLst>
              <a:ext uri="{FF2B5EF4-FFF2-40B4-BE49-F238E27FC236}">
                <a16:creationId xmlns:a16="http://schemas.microsoft.com/office/drawing/2014/main" id="{EF16F22C-6978-B5EE-B88E-5AEEECE249BF}"/>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6E3DF8BE-B766-979D-BF36-4991BD4AE746}"/>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9346369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60062-DEB0-2EA1-472F-EA2DF6D7B47A}"/>
              </a:ext>
            </a:extLst>
          </p:cNvPr>
          <p:cNvSpPr>
            <a:spLocks noGrp="1"/>
          </p:cNvSpPr>
          <p:nvPr>
            <p:ph type="title"/>
          </p:nvPr>
        </p:nvSpPr>
        <p:spPr>
          <a:xfrm>
            <a:off x="1022032" y="983388"/>
            <a:ext cx="10333355" cy="502766"/>
          </a:xfrm>
        </p:spPr>
        <p:txBody>
          <a:bodyPr/>
          <a:lstStyle/>
          <a:p>
            <a:r>
              <a:rPr lang="en-US"/>
              <a:t>Click to edit Master title style</a:t>
            </a:r>
            <a:endParaRPr lang="en-SA"/>
          </a:p>
        </p:txBody>
      </p:sp>
      <p:sp>
        <p:nvSpPr>
          <p:cNvPr id="3" name="Text Placeholder 2">
            <a:extLst>
              <a:ext uri="{FF2B5EF4-FFF2-40B4-BE49-F238E27FC236}">
                <a16:creationId xmlns:a16="http://schemas.microsoft.com/office/drawing/2014/main" id="{FD3AF610-1800-A551-18A2-F6835412CD0F}"/>
              </a:ext>
            </a:extLst>
          </p:cNvPr>
          <p:cNvSpPr>
            <a:spLocks noGrp="1"/>
          </p:cNvSpPr>
          <p:nvPr>
            <p:ph type="body" idx="1"/>
          </p:nvPr>
        </p:nvSpPr>
        <p:spPr>
          <a:xfrm>
            <a:off x="1022032" y="1681163"/>
            <a:ext cx="4975543"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8913C2-6FA7-E164-AF89-CCCE0FF6333D}"/>
              </a:ext>
            </a:extLst>
          </p:cNvPr>
          <p:cNvSpPr>
            <a:spLocks noGrp="1"/>
          </p:cNvSpPr>
          <p:nvPr>
            <p:ph sz="half" idx="2"/>
          </p:nvPr>
        </p:nvSpPr>
        <p:spPr>
          <a:xfrm>
            <a:off x="1022032" y="2505075"/>
            <a:ext cx="4975543" cy="3684588"/>
          </a:xfrm>
        </p:spPr>
        <p:txBody>
          <a:bodyPr>
            <a:norm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Text Placeholder 4">
            <a:extLst>
              <a:ext uri="{FF2B5EF4-FFF2-40B4-BE49-F238E27FC236}">
                <a16:creationId xmlns:a16="http://schemas.microsoft.com/office/drawing/2014/main" id="{5E2D444F-44B3-BD5A-D3CA-1754B694F8DE}"/>
              </a:ext>
            </a:extLst>
          </p:cNvPr>
          <p:cNvSpPr>
            <a:spLocks noGrp="1"/>
          </p:cNvSpPr>
          <p:nvPr>
            <p:ph type="body" sz="quarter" idx="3"/>
          </p:nvPr>
        </p:nvSpPr>
        <p:spPr>
          <a:xfrm>
            <a:off x="6355342" y="1681163"/>
            <a:ext cx="5000046"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BD216E-468D-430D-BCBE-D7E9D5FDB772}"/>
              </a:ext>
            </a:extLst>
          </p:cNvPr>
          <p:cNvSpPr>
            <a:spLocks noGrp="1"/>
          </p:cNvSpPr>
          <p:nvPr>
            <p:ph sz="quarter" idx="4"/>
          </p:nvPr>
        </p:nvSpPr>
        <p:spPr>
          <a:xfrm>
            <a:off x="6355342" y="2505075"/>
            <a:ext cx="5000046" cy="3684588"/>
          </a:xfrm>
        </p:spPr>
        <p:txBody>
          <a:bodyPr>
            <a:norm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Date Placeholder 6">
            <a:extLst>
              <a:ext uri="{FF2B5EF4-FFF2-40B4-BE49-F238E27FC236}">
                <a16:creationId xmlns:a16="http://schemas.microsoft.com/office/drawing/2014/main" id="{F6E48803-3612-F425-10E2-054898EB02EC}"/>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8" name="Footer Placeholder 7">
            <a:extLst>
              <a:ext uri="{FF2B5EF4-FFF2-40B4-BE49-F238E27FC236}">
                <a16:creationId xmlns:a16="http://schemas.microsoft.com/office/drawing/2014/main" id="{B5F20EC7-C147-6794-4A16-FB5F462871A5}"/>
              </a:ext>
            </a:extLst>
          </p:cNvPr>
          <p:cNvSpPr>
            <a:spLocks noGrp="1"/>
          </p:cNvSpPr>
          <p:nvPr>
            <p:ph type="ftr" sz="quarter" idx="11"/>
          </p:nvPr>
        </p:nvSpPr>
        <p:spPr/>
        <p:txBody>
          <a:bodyPr/>
          <a:lstStyle/>
          <a:p>
            <a:endParaRPr lang="en-SA"/>
          </a:p>
        </p:txBody>
      </p:sp>
      <p:sp>
        <p:nvSpPr>
          <p:cNvPr id="9" name="Slide Number Placeholder 8">
            <a:extLst>
              <a:ext uri="{FF2B5EF4-FFF2-40B4-BE49-F238E27FC236}">
                <a16:creationId xmlns:a16="http://schemas.microsoft.com/office/drawing/2014/main" id="{B65416F0-9271-2CD6-FE54-1CF9A8A3342C}"/>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19633353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3503-4694-DBA2-6704-30CAEC7422D7}"/>
              </a:ext>
            </a:extLst>
          </p:cNvPr>
          <p:cNvSpPr>
            <a:spLocks noGrp="1"/>
          </p:cNvSpPr>
          <p:nvPr>
            <p:ph type="title"/>
          </p:nvPr>
        </p:nvSpPr>
        <p:spPr>
          <a:xfrm>
            <a:off x="488632" y="377363"/>
            <a:ext cx="9358101" cy="502766"/>
          </a:xfrm>
        </p:spPr>
        <p:txBody>
          <a:bodyPr anchor="b"/>
          <a:lstStyle>
            <a:lvl1pPr>
              <a:defRPr/>
            </a:lvl1pPr>
          </a:lstStyle>
          <a:p>
            <a:r>
              <a:rPr lang="en-US"/>
              <a:t>Click to edit Master title style</a:t>
            </a:r>
            <a:endParaRPr lang="en-SA"/>
          </a:p>
        </p:txBody>
      </p:sp>
      <p:sp>
        <p:nvSpPr>
          <p:cNvPr id="3" name="Date Placeholder 2">
            <a:extLst>
              <a:ext uri="{FF2B5EF4-FFF2-40B4-BE49-F238E27FC236}">
                <a16:creationId xmlns:a16="http://schemas.microsoft.com/office/drawing/2014/main" id="{13038B37-EA02-27A4-9A65-6F8C4D31C550}"/>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4" name="Footer Placeholder 3">
            <a:extLst>
              <a:ext uri="{FF2B5EF4-FFF2-40B4-BE49-F238E27FC236}">
                <a16:creationId xmlns:a16="http://schemas.microsoft.com/office/drawing/2014/main" id="{D12EADFF-FE0A-9D98-1A51-D8EA5AAEF8B2}"/>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A51F58C3-B696-177D-7399-A1BBEA0B9274}"/>
              </a:ext>
            </a:extLst>
          </p:cNvPr>
          <p:cNvSpPr>
            <a:spLocks noGrp="1"/>
          </p:cNvSpPr>
          <p:nvPr>
            <p:ph type="sldNum" sz="quarter" idx="12"/>
          </p:nvPr>
        </p:nvSpPr>
        <p:spPr/>
        <p:txBody>
          <a:bodyPr/>
          <a:lstStyle/>
          <a:p>
            <a:fld id="{0B5D68DA-F15D-0F40-9055-781099452C22}" type="slidenum">
              <a:rPr lang="en-SA" smtClean="0"/>
              <a:t>‹#›</a:t>
            </a:fld>
            <a:endParaRPr lang="en-SA"/>
          </a:p>
        </p:txBody>
      </p:sp>
      <p:sp>
        <p:nvSpPr>
          <p:cNvPr id="7" name="Text Placeholder 6">
            <a:extLst>
              <a:ext uri="{FF2B5EF4-FFF2-40B4-BE49-F238E27FC236}">
                <a16:creationId xmlns:a16="http://schemas.microsoft.com/office/drawing/2014/main" id="{97FC23A0-3DB0-3235-6681-51E9B77975CC}"/>
              </a:ext>
            </a:extLst>
          </p:cNvPr>
          <p:cNvSpPr>
            <a:spLocks noGrp="1"/>
          </p:cNvSpPr>
          <p:nvPr>
            <p:ph type="body" sz="quarter" idx="13"/>
          </p:nvPr>
        </p:nvSpPr>
        <p:spPr>
          <a:xfrm>
            <a:off x="488950" y="804731"/>
            <a:ext cx="11205745" cy="668867"/>
          </a:xfrm>
        </p:spPr>
        <p:txBody>
          <a:bodyPr anchor="ctr">
            <a:normAutofit/>
          </a:bodyPr>
          <a:lstStyle>
            <a:lvl1pPr marL="0" indent="0">
              <a:buFontTx/>
              <a:buNone/>
              <a:defRPr sz="1800"/>
            </a:lvl1pPr>
          </a:lstStyle>
          <a:p>
            <a:pPr lvl="0"/>
            <a:endParaRPr lang="en-US"/>
          </a:p>
        </p:txBody>
      </p:sp>
    </p:spTree>
    <p:extLst>
      <p:ext uri="{BB962C8B-B14F-4D97-AF65-F5344CB8AC3E}">
        <p14:creationId xmlns:p14="http://schemas.microsoft.com/office/powerpoint/2010/main" val="32847911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A2801-B6D8-6D48-4F20-913B2FA85935}"/>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3" name="Footer Placeholder 2">
            <a:extLst>
              <a:ext uri="{FF2B5EF4-FFF2-40B4-BE49-F238E27FC236}">
                <a16:creationId xmlns:a16="http://schemas.microsoft.com/office/drawing/2014/main" id="{0E39F25C-7EAD-3B95-4918-48993E1DAB17}"/>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4AF8586F-B1CF-A186-7967-65494EA0F5B4}"/>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2897643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9001-ADF7-BAF5-CA35-38AAC75A702C}"/>
              </a:ext>
            </a:extLst>
          </p:cNvPr>
          <p:cNvSpPr>
            <a:spLocks noGrp="1"/>
          </p:cNvSpPr>
          <p:nvPr>
            <p:ph type="title"/>
          </p:nvPr>
        </p:nvSpPr>
        <p:spPr>
          <a:xfrm>
            <a:off x="1022033" y="983386"/>
            <a:ext cx="3749992" cy="1074013"/>
          </a:xfrm>
        </p:spPr>
        <p:txBody>
          <a:bodyPr anchor="b">
            <a:normAutofit/>
          </a:bodyPr>
          <a:lstStyle>
            <a:lvl1pPr>
              <a:defRPr sz="2600"/>
            </a:lvl1pPr>
          </a:lstStyle>
          <a:p>
            <a:r>
              <a:rPr lang="en-US"/>
              <a:t>Click to edit Master title style</a:t>
            </a:r>
            <a:endParaRPr lang="en-SA"/>
          </a:p>
        </p:txBody>
      </p:sp>
      <p:sp>
        <p:nvSpPr>
          <p:cNvPr id="3" name="Content Placeholder 2">
            <a:extLst>
              <a:ext uri="{FF2B5EF4-FFF2-40B4-BE49-F238E27FC236}">
                <a16:creationId xmlns:a16="http://schemas.microsoft.com/office/drawing/2014/main" id="{63E8A21D-232B-7A76-13D0-0B4D8E2B1347}"/>
              </a:ext>
            </a:extLst>
          </p:cNvPr>
          <p:cNvSpPr>
            <a:spLocks noGrp="1"/>
          </p:cNvSpPr>
          <p:nvPr>
            <p:ph idx="1"/>
          </p:nvPr>
        </p:nvSpPr>
        <p:spPr>
          <a:xfrm>
            <a:off x="5183188" y="987425"/>
            <a:ext cx="6172200" cy="4873625"/>
          </a:xfrm>
        </p:spPr>
        <p:txBody>
          <a:bodyPr>
            <a:normAutofit/>
          </a:bodyPr>
          <a:lstStyle>
            <a:lvl1pPr>
              <a:defRPr sz="1000"/>
            </a:lvl1pPr>
            <a:lvl2pPr>
              <a:defRPr sz="1000"/>
            </a:lvl2pPr>
            <a:lvl3pPr>
              <a:defRPr sz="1000"/>
            </a:lvl3pPr>
            <a:lvl4pPr>
              <a:defRPr sz="1000"/>
            </a:lvl4pPr>
            <a:lvl5pPr>
              <a:defRPr sz="1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Text Placeholder 3">
            <a:extLst>
              <a:ext uri="{FF2B5EF4-FFF2-40B4-BE49-F238E27FC236}">
                <a16:creationId xmlns:a16="http://schemas.microsoft.com/office/drawing/2014/main" id="{B62C5E46-B0E0-858F-96EE-261D4061CAA2}"/>
              </a:ext>
            </a:extLst>
          </p:cNvPr>
          <p:cNvSpPr>
            <a:spLocks noGrp="1"/>
          </p:cNvSpPr>
          <p:nvPr>
            <p:ph type="body" sz="half" idx="2"/>
          </p:nvPr>
        </p:nvSpPr>
        <p:spPr>
          <a:xfrm>
            <a:off x="1022033" y="2057400"/>
            <a:ext cx="3749992" cy="381158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D66F3A-A5DA-930B-F377-8D2038D694C2}"/>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6" name="Footer Placeholder 5">
            <a:extLst>
              <a:ext uri="{FF2B5EF4-FFF2-40B4-BE49-F238E27FC236}">
                <a16:creationId xmlns:a16="http://schemas.microsoft.com/office/drawing/2014/main" id="{018B8EF5-3F8D-7743-7703-458588063251}"/>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A2666288-07F9-0852-6C2B-83F8C8122F90}"/>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2175265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A792-C586-900E-83B8-092717D1E561}"/>
              </a:ext>
            </a:extLst>
          </p:cNvPr>
          <p:cNvSpPr>
            <a:spLocks noGrp="1"/>
          </p:cNvSpPr>
          <p:nvPr>
            <p:ph type="title"/>
          </p:nvPr>
        </p:nvSpPr>
        <p:spPr>
          <a:xfrm>
            <a:off x="1022033" y="983386"/>
            <a:ext cx="3749992" cy="1074013"/>
          </a:xfrm>
        </p:spPr>
        <p:txBody>
          <a:bodyPr anchor="b">
            <a:normAutofit/>
          </a:bodyPr>
          <a:lstStyle>
            <a:lvl1pPr>
              <a:defRPr sz="2600"/>
            </a:lvl1pPr>
          </a:lstStyle>
          <a:p>
            <a:r>
              <a:rPr lang="en-US"/>
              <a:t>Click to edit Master title style</a:t>
            </a:r>
            <a:endParaRPr lang="en-SA"/>
          </a:p>
        </p:txBody>
      </p:sp>
      <p:sp>
        <p:nvSpPr>
          <p:cNvPr id="3" name="Picture Placeholder 2">
            <a:extLst>
              <a:ext uri="{FF2B5EF4-FFF2-40B4-BE49-F238E27FC236}">
                <a16:creationId xmlns:a16="http://schemas.microsoft.com/office/drawing/2014/main" id="{77F9BF3A-192F-4D71-0488-EE2D165D6C19}"/>
              </a:ext>
            </a:extLst>
          </p:cNvPr>
          <p:cNvSpPr>
            <a:spLocks noGrp="1"/>
          </p:cNvSpPr>
          <p:nvPr>
            <p:ph type="pic" idx="1"/>
          </p:nvPr>
        </p:nvSpPr>
        <p:spPr>
          <a:xfrm>
            <a:off x="5183188" y="987425"/>
            <a:ext cx="6172200" cy="4873625"/>
          </a:xfrm>
        </p:spPr>
        <p:txBody>
          <a:bodyPr>
            <a:normAutofit/>
          </a:bodyPr>
          <a:lstStyle>
            <a:lvl1pPr marL="0" indent="0">
              <a:buNone/>
              <a:defRPr sz="1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A"/>
          </a:p>
        </p:txBody>
      </p:sp>
      <p:sp>
        <p:nvSpPr>
          <p:cNvPr id="4" name="Text Placeholder 3">
            <a:extLst>
              <a:ext uri="{FF2B5EF4-FFF2-40B4-BE49-F238E27FC236}">
                <a16:creationId xmlns:a16="http://schemas.microsoft.com/office/drawing/2014/main" id="{11F0A535-861E-F7D1-62E5-09DA1DF57D2E}"/>
              </a:ext>
            </a:extLst>
          </p:cNvPr>
          <p:cNvSpPr>
            <a:spLocks noGrp="1"/>
          </p:cNvSpPr>
          <p:nvPr>
            <p:ph type="body" sz="half" idx="2"/>
          </p:nvPr>
        </p:nvSpPr>
        <p:spPr>
          <a:xfrm>
            <a:off x="1022033" y="2057400"/>
            <a:ext cx="3749992" cy="381158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8C8CD-3661-8BD6-8E28-0A8FD3A8F2EC}"/>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6" name="Footer Placeholder 5">
            <a:extLst>
              <a:ext uri="{FF2B5EF4-FFF2-40B4-BE49-F238E27FC236}">
                <a16:creationId xmlns:a16="http://schemas.microsoft.com/office/drawing/2014/main" id="{D1EED391-4882-AF75-3AFC-27A751A521DC}"/>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F802E5E3-C811-DC35-6E2A-01164510ABA4}"/>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32130196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6EE7-2EFF-2700-2B17-D2F211F24433}"/>
              </a:ext>
            </a:extLst>
          </p:cNvPr>
          <p:cNvSpPr>
            <a:spLocks noGrp="1"/>
          </p:cNvSpPr>
          <p:nvPr>
            <p:ph type="title"/>
          </p:nvPr>
        </p:nvSpPr>
        <p:spPr>
          <a:xfrm>
            <a:off x="1022032" y="983388"/>
            <a:ext cx="10331768" cy="502766"/>
          </a:xfrm>
        </p:spPr>
        <p:txBody>
          <a:bodyPr/>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CFC24F05-8C01-D61E-6E2C-C02392CB99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C9527619-4CC8-7DDB-A9D1-04934D13F1A2}"/>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5" name="Footer Placeholder 4">
            <a:extLst>
              <a:ext uri="{FF2B5EF4-FFF2-40B4-BE49-F238E27FC236}">
                <a16:creationId xmlns:a16="http://schemas.microsoft.com/office/drawing/2014/main" id="{90A30ABF-FB53-E700-08C9-916A455FC314}"/>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0F3D6F69-917F-95CA-BF51-A445D6986A9D}"/>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1858230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E2486BB-56B6-4F82-8F2C-FD9C3C745AC4}"/>
              </a:ext>
            </a:extLst>
          </p:cNvPr>
          <p:cNvSpPr>
            <a:spLocks noGrp="1"/>
          </p:cNvSpPr>
          <p:nvPr>
            <p:ph type="pic" sz="quarter" idx="10"/>
          </p:nvPr>
        </p:nvSpPr>
        <p:spPr>
          <a:xfrm>
            <a:off x="1" y="0"/>
            <a:ext cx="3934691" cy="4128655"/>
          </a:xfrm>
          <a:custGeom>
            <a:avLst/>
            <a:gdLst>
              <a:gd name="connsiteX0" fmla="*/ 0 w 3934691"/>
              <a:gd name="connsiteY0" fmla="*/ 0 h 4128655"/>
              <a:gd name="connsiteX1" fmla="*/ 3934691 w 3934691"/>
              <a:gd name="connsiteY1" fmla="*/ 0 h 4128655"/>
              <a:gd name="connsiteX2" fmla="*/ 3934691 w 3934691"/>
              <a:gd name="connsiteY2" fmla="*/ 4128655 h 4128655"/>
              <a:gd name="connsiteX3" fmla="*/ 0 w 3934691"/>
              <a:gd name="connsiteY3" fmla="*/ 4128655 h 4128655"/>
            </a:gdLst>
            <a:ahLst/>
            <a:cxnLst>
              <a:cxn ang="0">
                <a:pos x="connsiteX0" y="connsiteY0"/>
              </a:cxn>
              <a:cxn ang="0">
                <a:pos x="connsiteX1" y="connsiteY1"/>
              </a:cxn>
              <a:cxn ang="0">
                <a:pos x="connsiteX2" y="connsiteY2"/>
              </a:cxn>
              <a:cxn ang="0">
                <a:pos x="connsiteX3" y="connsiteY3"/>
              </a:cxn>
            </a:cxnLst>
            <a:rect l="l" t="t" r="r" b="b"/>
            <a:pathLst>
              <a:path w="3934691" h="4128655">
                <a:moveTo>
                  <a:pt x="0" y="0"/>
                </a:moveTo>
                <a:lnTo>
                  <a:pt x="3934691" y="0"/>
                </a:lnTo>
                <a:lnTo>
                  <a:pt x="3934691" y="4128655"/>
                </a:lnTo>
                <a:lnTo>
                  <a:pt x="0" y="4128655"/>
                </a:lnTo>
                <a:close/>
              </a:path>
            </a:pathLst>
          </a:custGeom>
        </p:spPr>
        <p:txBody>
          <a:bodyPr wrap="square">
            <a:noAutofit/>
          </a:bodyPr>
          <a:lstStyle/>
          <a:p>
            <a:endParaRPr lang="en-ID"/>
          </a:p>
        </p:txBody>
      </p:sp>
      <p:sp>
        <p:nvSpPr>
          <p:cNvPr id="9" name="Picture Placeholder 8">
            <a:extLst>
              <a:ext uri="{FF2B5EF4-FFF2-40B4-BE49-F238E27FC236}">
                <a16:creationId xmlns:a16="http://schemas.microsoft.com/office/drawing/2014/main" id="{C5FC5E68-C2B9-4846-AC7A-069354E3CA3E}"/>
              </a:ext>
            </a:extLst>
          </p:cNvPr>
          <p:cNvSpPr>
            <a:spLocks noGrp="1"/>
          </p:cNvSpPr>
          <p:nvPr>
            <p:ph type="pic" sz="quarter" idx="11"/>
          </p:nvPr>
        </p:nvSpPr>
        <p:spPr>
          <a:xfrm>
            <a:off x="2516579" y="2064328"/>
            <a:ext cx="3579421" cy="4128655"/>
          </a:xfrm>
          <a:custGeom>
            <a:avLst/>
            <a:gdLst>
              <a:gd name="connsiteX0" fmla="*/ 0 w 3579421"/>
              <a:gd name="connsiteY0" fmla="*/ 0 h 4128655"/>
              <a:gd name="connsiteX1" fmla="*/ 3579421 w 3579421"/>
              <a:gd name="connsiteY1" fmla="*/ 0 h 4128655"/>
              <a:gd name="connsiteX2" fmla="*/ 3579421 w 3579421"/>
              <a:gd name="connsiteY2" fmla="*/ 4128655 h 4128655"/>
              <a:gd name="connsiteX3" fmla="*/ 0 w 3579421"/>
              <a:gd name="connsiteY3" fmla="*/ 4128655 h 4128655"/>
            </a:gdLst>
            <a:ahLst/>
            <a:cxnLst>
              <a:cxn ang="0">
                <a:pos x="connsiteX0" y="connsiteY0"/>
              </a:cxn>
              <a:cxn ang="0">
                <a:pos x="connsiteX1" y="connsiteY1"/>
              </a:cxn>
              <a:cxn ang="0">
                <a:pos x="connsiteX2" y="connsiteY2"/>
              </a:cxn>
              <a:cxn ang="0">
                <a:pos x="connsiteX3" y="connsiteY3"/>
              </a:cxn>
            </a:cxnLst>
            <a:rect l="l" t="t" r="r" b="b"/>
            <a:pathLst>
              <a:path w="3579421" h="4128655">
                <a:moveTo>
                  <a:pt x="0" y="0"/>
                </a:moveTo>
                <a:lnTo>
                  <a:pt x="3579421" y="0"/>
                </a:lnTo>
                <a:lnTo>
                  <a:pt x="3579421" y="4128655"/>
                </a:lnTo>
                <a:lnTo>
                  <a:pt x="0" y="4128655"/>
                </a:lnTo>
                <a:close/>
              </a:path>
            </a:pathLst>
          </a:custGeom>
        </p:spPr>
        <p:txBody>
          <a:bodyPr wrap="square">
            <a:noAutofit/>
          </a:bodyPr>
          <a:lstStyle/>
          <a:p>
            <a:endParaRPr lang="en-ID"/>
          </a:p>
        </p:txBody>
      </p:sp>
    </p:spTree>
    <p:extLst>
      <p:ext uri="{BB962C8B-B14F-4D97-AF65-F5344CB8AC3E}">
        <p14:creationId xmlns:p14="http://schemas.microsoft.com/office/powerpoint/2010/main" val="7001518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9926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D3FA540-01D0-488B-84FA-53C8235E1E80}"/>
              </a:ext>
            </a:extLst>
          </p:cNvPr>
          <p:cNvSpPr>
            <a:spLocks noGrp="1"/>
          </p:cNvSpPr>
          <p:nvPr>
            <p:ph type="pic" sz="quarter" idx="10"/>
          </p:nvPr>
        </p:nvSpPr>
        <p:spPr>
          <a:xfrm>
            <a:off x="6573079" y="1921565"/>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8" name="Picture Placeholder 7">
            <a:extLst>
              <a:ext uri="{FF2B5EF4-FFF2-40B4-BE49-F238E27FC236}">
                <a16:creationId xmlns:a16="http://schemas.microsoft.com/office/drawing/2014/main" id="{DBF6EC45-906D-43A3-8A2B-DD4DEA4D6CFB}"/>
              </a:ext>
            </a:extLst>
          </p:cNvPr>
          <p:cNvSpPr>
            <a:spLocks noGrp="1"/>
          </p:cNvSpPr>
          <p:nvPr>
            <p:ph type="pic" sz="quarter" idx="11"/>
          </p:nvPr>
        </p:nvSpPr>
        <p:spPr>
          <a:xfrm>
            <a:off x="9115604" y="4134679"/>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70606FCD-B250-49F4-A654-C014B3847595}"/>
              </a:ext>
            </a:extLst>
          </p:cNvPr>
          <p:cNvSpPr>
            <a:spLocks noGrp="1"/>
          </p:cNvSpPr>
          <p:nvPr>
            <p:ph type="pic" sz="quarter" idx="12"/>
          </p:nvPr>
        </p:nvSpPr>
        <p:spPr>
          <a:xfrm>
            <a:off x="4026769" y="4134679"/>
            <a:ext cx="2292627" cy="1961323"/>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Tree>
    <p:extLst>
      <p:ext uri="{BB962C8B-B14F-4D97-AF65-F5344CB8AC3E}">
        <p14:creationId xmlns:p14="http://schemas.microsoft.com/office/powerpoint/2010/main" val="23313512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1C191C-3ADD-4648-B51E-C0CEBFB331F3}"/>
              </a:ext>
            </a:extLst>
          </p:cNvPr>
          <p:cNvSpPr>
            <a:spLocks noGrp="1"/>
          </p:cNvSpPr>
          <p:nvPr>
            <p:ph type="pic" sz="quarter" idx="10"/>
          </p:nvPr>
        </p:nvSpPr>
        <p:spPr>
          <a:xfrm>
            <a:off x="2" y="3429000"/>
            <a:ext cx="4306655" cy="3429000"/>
          </a:xfrm>
          <a:custGeom>
            <a:avLst/>
            <a:gdLst>
              <a:gd name="connsiteX0" fmla="*/ 0 w 4306654"/>
              <a:gd name="connsiteY0" fmla="*/ 0 h 3429000"/>
              <a:gd name="connsiteX1" fmla="*/ 4306654 w 4306654"/>
              <a:gd name="connsiteY1" fmla="*/ 0 h 3429000"/>
              <a:gd name="connsiteX2" fmla="*/ 4306654 w 4306654"/>
              <a:gd name="connsiteY2" fmla="*/ 3429000 h 3429000"/>
              <a:gd name="connsiteX3" fmla="*/ 0 w 4306654"/>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06654" h="3429000">
                <a:moveTo>
                  <a:pt x="0" y="0"/>
                </a:moveTo>
                <a:lnTo>
                  <a:pt x="4306654" y="0"/>
                </a:lnTo>
                <a:lnTo>
                  <a:pt x="4306654" y="3429000"/>
                </a:lnTo>
                <a:lnTo>
                  <a:pt x="0" y="3429000"/>
                </a:lnTo>
                <a:close/>
              </a:path>
            </a:pathLst>
          </a:custGeom>
        </p:spPr>
        <p:txBody>
          <a:bodyPr wrap="square">
            <a:noAutofit/>
          </a:bodyPr>
          <a:lstStyle/>
          <a:p>
            <a:endParaRPr lang="en-US"/>
          </a:p>
        </p:txBody>
      </p:sp>
    </p:spTree>
    <p:extLst>
      <p:ext uri="{BB962C8B-B14F-4D97-AF65-F5344CB8AC3E}">
        <p14:creationId xmlns:p14="http://schemas.microsoft.com/office/powerpoint/2010/main" val="28137727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1C191C-3ADD-4648-B51E-C0CEBFB331F3}"/>
              </a:ext>
            </a:extLst>
          </p:cNvPr>
          <p:cNvSpPr>
            <a:spLocks noGrp="1"/>
          </p:cNvSpPr>
          <p:nvPr>
            <p:ph type="pic" sz="quarter" idx="10"/>
          </p:nvPr>
        </p:nvSpPr>
        <p:spPr>
          <a:xfrm>
            <a:off x="2" y="3429000"/>
            <a:ext cx="4306655" cy="3429000"/>
          </a:xfrm>
          <a:custGeom>
            <a:avLst/>
            <a:gdLst>
              <a:gd name="connsiteX0" fmla="*/ 0 w 4306654"/>
              <a:gd name="connsiteY0" fmla="*/ 0 h 3429000"/>
              <a:gd name="connsiteX1" fmla="*/ 4306654 w 4306654"/>
              <a:gd name="connsiteY1" fmla="*/ 0 h 3429000"/>
              <a:gd name="connsiteX2" fmla="*/ 4306654 w 4306654"/>
              <a:gd name="connsiteY2" fmla="*/ 3429000 h 3429000"/>
              <a:gd name="connsiteX3" fmla="*/ 0 w 4306654"/>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06654" h="3429000">
                <a:moveTo>
                  <a:pt x="0" y="0"/>
                </a:moveTo>
                <a:lnTo>
                  <a:pt x="4306654" y="0"/>
                </a:lnTo>
                <a:lnTo>
                  <a:pt x="4306654" y="3429000"/>
                </a:lnTo>
                <a:lnTo>
                  <a:pt x="0" y="3429000"/>
                </a:lnTo>
                <a:close/>
              </a:path>
            </a:pathLst>
          </a:custGeom>
        </p:spPr>
        <p:txBody>
          <a:bodyPr wrap="square">
            <a:noAutofit/>
          </a:bodyPr>
          <a:lstStyle/>
          <a:p>
            <a:endParaRPr lang="en-US"/>
          </a:p>
        </p:txBody>
      </p:sp>
      <p:sp>
        <p:nvSpPr>
          <p:cNvPr id="3" name="Slide Number Placeholder 5">
            <a:extLst>
              <a:ext uri="{FF2B5EF4-FFF2-40B4-BE49-F238E27FC236}">
                <a16:creationId xmlns:a16="http://schemas.microsoft.com/office/drawing/2014/main" id="{4AAE5FE2-0A8A-05F3-BB27-43F34B8214E3}"/>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0B5D68DA-F15D-0F40-9055-781099452C22}" type="slidenum">
              <a:rPr lang="en-SA" smtClean="0"/>
              <a:pPr/>
              <a:t>‹#›</a:t>
            </a:fld>
            <a:endParaRPr lang="en-SA"/>
          </a:p>
        </p:txBody>
      </p:sp>
      <p:pic>
        <p:nvPicPr>
          <p:cNvPr id="2" name="Graphic 1">
            <a:extLst>
              <a:ext uri="{FF2B5EF4-FFF2-40B4-BE49-F238E27FC236}">
                <a16:creationId xmlns:a16="http://schemas.microsoft.com/office/drawing/2014/main" id="{DC72EFC4-5D4F-B420-88DB-427EC4A49F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32379928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D692-EB70-CF9B-1BE5-ABF0D918C412}"/>
              </a:ext>
            </a:extLst>
          </p:cNvPr>
          <p:cNvSpPr>
            <a:spLocks noGrp="1"/>
          </p:cNvSpPr>
          <p:nvPr>
            <p:ph type="title"/>
          </p:nvPr>
        </p:nvSpPr>
        <p:spPr/>
        <p:txBody>
          <a:bodyPr/>
          <a:lstStyle/>
          <a:p>
            <a:r>
              <a:rPr lang="en-US"/>
              <a:t>Click to edit Master title style</a:t>
            </a:r>
            <a:endParaRPr lang="en-SA"/>
          </a:p>
        </p:txBody>
      </p:sp>
      <p:sp>
        <p:nvSpPr>
          <p:cNvPr id="3" name="Date Placeholder 2">
            <a:extLst>
              <a:ext uri="{FF2B5EF4-FFF2-40B4-BE49-F238E27FC236}">
                <a16:creationId xmlns:a16="http://schemas.microsoft.com/office/drawing/2014/main" id="{C7B09315-A544-1F73-FAD5-F1839775714B}"/>
              </a:ext>
            </a:extLst>
          </p:cNvPr>
          <p:cNvSpPr>
            <a:spLocks noGrp="1"/>
          </p:cNvSpPr>
          <p:nvPr>
            <p:ph type="dt" sz="half" idx="10"/>
          </p:nvPr>
        </p:nvSpPr>
        <p:spPr/>
        <p:txBody>
          <a:bodyPr/>
          <a:lstStyle/>
          <a:p>
            <a:fld id="{90518998-0747-FE42-A87D-701EFEA3D47B}" type="datetimeFigureOut">
              <a:rPr lang="en-SA" smtClean="0"/>
              <a:t>11/17/2025</a:t>
            </a:fld>
            <a:endParaRPr lang="en-SA"/>
          </a:p>
        </p:txBody>
      </p:sp>
      <p:sp>
        <p:nvSpPr>
          <p:cNvPr id="4" name="Footer Placeholder 3">
            <a:extLst>
              <a:ext uri="{FF2B5EF4-FFF2-40B4-BE49-F238E27FC236}">
                <a16:creationId xmlns:a16="http://schemas.microsoft.com/office/drawing/2014/main" id="{D606A53A-F453-BE69-5170-61AC1A295984}"/>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761EEBF2-767A-7D62-D8B8-CDD72C716B13}"/>
              </a:ext>
            </a:extLst>
          </p:cNvPr>
          <p:cNvSpPr>
            <a:spLocks noGrp="1"/>
          </p:cNvSpPr>
          <p:nvPr>
            <p:ph type="sldNum" sz="quarter" idx="12"/>
          </p:nvPr>
        </p:nvSpPr>
        <p:spPr/>
        <p:txBody>
          <a:bodyPr/>
          <a:lstStyle/>
          <a:p>
            <a:fld id="{0B5D68DA-F15D-0F40-9055-781099452C22}" type="slidenum">
              <a:rPr lang="en-SA" smtClean="0"/>
              <a:t>‹#›</a:t>
            </a:fld>
            <a:endParaRPr lang="en-SA"/>
          </a:p>
        </p:txBody>
      </p:sp>
    </p:spTree>
    <p:extLst>
      <p:ext uri="{BB962C8B-B14F-4D97-AF65-F5344CB8AC3E}">
        <p14:creationId xmlns:p14="http://schemas.microsoft.com/office/powerpoint/2010/main" val="17767074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03C49F2E-2C94-4AA8-A832-005038B09360}"/>
              </a:ext>
            </a:extLst>
          </p:cNvPr>
          <p:cNvSpPr>
            <a:spLocks noGrp="1"/>
          </p:cNvSpPr>
          <p:nvPr>
            <p:ph type="sldNum" sz="quarter" idx="4"/>
          </p:nvPr>
        </p:nvSpPr>
        <p:spPr>
          <a:xfrm>
            <a:off x="11282926" y="6227339"/>
            <a:ext cx="492443" cy="204839"/>
          </a:xfrm>
          <a:prstGeom prst="rect">
            <a:avLst/>
          </a:prstGeom>
        </p:spPr>
        <p:txBody>
          <a:bodyPr vert="horz" lIns="91440" tIns="45720" rIns="91440" bIns="45720" rtlCol="0" anchor="ctr"/>
          <a:lstStyle>
            <a:lvl1pPr algn="ctr">
              <a:defRPr sz="1200">
                <a:solidFill>
                  <a:schemeClr val="tx1"/>
                </a:solidFill>
                <a:latin typeface="Montserrat SemiBold" panose="00000700000000000000" pitchFamily="50" charset="0"/>
                <a:ea typeface="Open Sans Light" panose="020B0606030504020204" pitchFamily="34" charset="0"/>
                <a:cs typeface="Open Sans Light" panose="020B0606030504020204" pitchFamily="34" charset="0"/>
              </a:defRPr>
            </a:lvl1pPr>
          </a:lstStyle>
          <a:p>
            <a:fld id="{58B2BE56-A1DF-44BF-AF31-08C6097C884E}" type="slidenum">
              <a:rPr lang="en-US" smtClean="0"/>
              <a:pPr/>
              <a:t>‹#›</a:t>
            </a:fld>
            <a:endParaRPr lang="en-US"/>
          </a:p>
        </p:txBody>
      </p:sp>
    </p:spTree>
    <p:extLst>
      <p:ext uri="{BB962C8B-B14F-4D97-AF65-F5344CB8AC3E}">
        <p14:creationId xmlns:p14="http://schemas.microsoft.com/office/powerpoint/2010/main" val="255524884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DAB3EE7-6D9F-2AF4-2607-9602451BBD9E}"/>
              </a:ext>
            </a:extLst>
          </p:cNvPr>
          <p:cNvSpPr>
            <a:spLocks noGrp="1"/>
          </p:cNvSpPr>
          <p:nvPr>
            <p:ph type="pic" sz="quarter" idx="15"/>
          </p:nvPr>
        </p:nvSpPr>
        <p:spPr>
          <a:xfrm>
            <a:off x="525807" y="1661392"/>
            <a:ext cx="2542952" cy="4134387"/>
          </a:xfrm>
          <a:custGeom>
            <a:avLst/>
            <a:gdLst>
              <a:gd name="connsiteX0" fmla="*/ 0 w 2542952"/>
              <a:gd name="connsiteY0" fmla="*/ 0 h 4134387"/>
              <a:gd name="connsiteX1" fmla="*/ 2542952 w 2542952"/>
              <a:gd name="connsiteY1" fmla="*/ 0 h 4134387"/>
              <a:gd name="connsiteX2" fmla="*/ 2542952 w 2542952"/>
              <a:gd name="connsiteY2" fmla="*/ 4134387 h 4134387"/>
              <a:gd name="connsiteX3" fmla="*/ 0 w 2542952"/>
              <a:gd name="connsiteY3" fmla="*/ 4134387 h 4134387"/>
            </a:gdLst>
            <a:ahLst/>
            <a:cxnLst>
              <a:cxn ang="0">
                <a:pos x="connsiteX0" y="connsiteY0"/>
              </a:cxn>
              <a:cxn ang="0">
                <a:pos x="connsiteX1" y="connsiteY1"/>
              </a:cxn>
              <a:cxn ang="0">
                <a:pos x="connsiteX2" y="connsiteY2"/>
              </a:cxn>
              <a:cxn ang="0">
                <a:pos x="connsiteX3" y="connsiteY3"/>
              </a:cxn>
            </a:cxnLst>
            <a:rect l="l" t="t" r="r" b="b"/>
            <a:pathLst>
              <a:path w="2542952" h="4134387">
                <a:moveTo>
                  <a:pt x="0" y="0"/>
                </a:moveTo>
                <a:lnTo>
                  <a:pt x="2542952" y="0"/>
                </a:lnTo>
                <a:lnTo>
                  <a:pt x="2542952" y="4134387"/>
                </a:lnTo>
                <a:lnTo>
                  <a:pt x="0" y="4134387"/>
                </a:lnTo>
                <a:close/>
              </a:path>
            </a:pathLst>
          </a:custGeom>
          <a:solidFill>
            <a:schemeClr val="bg1">
              <a:lumMod val="95000"/>
            </a:schemeClr>
          </a:solidFill>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78053FC4-7F90-3191-53B0-156CD863F209}"/>
              </a:ext>
            </a:extLst>
          </p:cNvPr>
          <p:cNvSpPr>
            <a:spLocks noGrp="1"/>
          </p:cNvSpPr>
          <p:nvPr>
            <p:ph type="pic" sz="quarter" idx="16"/>
          </p:nvPr>
        </p:nvSpPr>
        <p:spPr>
          <a:xfrm>
            <a:off x="3219373" y="1661392"/>
            <a:ext cx="2542952" cy="4134387"/>
          </a:xfrm>
          <a:custGeom>
            <a:avLst/>
            <a:gdLst>
              <a:gd name="connsiteX0" fmla="*/ 0 w 2542952"/>
              <a:gd name="connsiteY0" fmla="*/ 0 h 4134387"/>
              <a:gd name="connsiteX1" fmla="*/ 2542952 w 2542952"/>
              <a:gd name="connsiteY1" fmla="*/ 0 h 4134387"/>
              <a:gd name="connsiteX2" fmla="*/ 2542952 w 2542952"/>
              <a:gd name="connsiteY2" fmla="*/ 4134387 h 4134387"/>
              <a:gd name="connsiteX3" fmla="*/ 0 w 2542952"/>
              <a:gd name="connsiteY3" fmla="*/ 4134387 h 4134387"/>
            </a:gdLst>
            <a:ahLst/>
            <a:cxnLst>
              <a:cxn ang="0">
                <a:pos x="connsiteX0" y="connsiteY0"/>
              </a:cxn>
              <a:cxn ang="0">
                <a:pos x="connsiteX1" y="connsiteY1"/>
              </a:cxn>
              <a:cxn ang="0">
                <a:pos x="connsiteX2" y="connsiteY2"/>
              </a:cxn>
              <a:cxn ang="0">
                <a:pos x="connsiteX3" y="connsiteY3"/>
              </a:cxn>
            </a:cxnLst>
            <a:rect l="l" t="t" r="r" b="b"/>
            <a:pathLst>
              <a:path w="2542952" h="4134387">
                <a:moveTo>
                  <a:pt x="0" y="0"/>
                </a:moveTo>
                <a:lnTo>
                  <a:pt x="2542952" y="0"/>
                </a:lnTo>
                <a:lnTo>
                  <a:pt x="2542952" y="4134387"/>
                </a:lnTo>
                <a:lnTo>
                  <a:pt x="0" y="4134387"/>
                </a:lnTo>
                <a:close/>
              </a:path>
            </a:pathLst>
          </a:custGeom>
          <a:solidFill>
            <a:schemeClr val="bg1">
              <a:lumMod val="95000"/>
            </a:schemeClr>
          </a:solidFill>
        </p:spPr>
        <p:txBody>
          <a:bodyPr wrap="square">
            <a:noAutofit/>
          </a:bodyPr>
          <a:lstStyle>
            <a:lvl1pPr>
              <a:defRPr sz="1000"/>
            </a:lvl1pPr>
          </a:lstStyle>
          <a:p>
            <a:endParaRPr lang="en-US"/>
          </a:p>
        </p:txBody>
      </p:sp>
      <p:sp>
        <p:nvSpPr>
          <p:cNvPr id="13" name="Footer Placeholder 4">
            <a:extLst>
              <a:ext uri="{FF2B5EF4-FFF2-40B4-BE49-F238E27FC236}">
                <a16:creationId xmlns:a16="http://schemas.microsoft.com/office/drawing/2014/main" id="{E026706C-E833-4A06-B637-7E86AD724F97}"/>
              </a:ext>
            </a:extLst>
          </p:cNvPr>
          <p:cNvSpPr>
            <a:spLocks noGrp="1"/>
          </p:cNvSpPr>
          <p:nvPr>
            <p:ph type="ftr" sz="quarter" idx="3"/>
          </p:nvPr>
        </p:nvSpPr>
        <p:spPr>
          <a:xfrm>
            <a:off x="457200" y="6147196"/>
            <a:ext cx="3009900" cy="365125"/>
          </a:xfrm>
          <a:prstGeom prst="rect">
            <a:avLst/>
          </a:prstGeom>
        </p:spPr>
        <p:txBody>
          <a:bodyPr vert="horz" lIns="91440" tIns="45720" rIns="91440" bIns="45720" rtlCol="0" anchor="ctr"/>
          <a:lstStyle>
            <a:lvl1pPr algn="l">
              <a:defRPr sz="1400">
                <a:solidFill>
                  <a:schemeClr val="tx1">
                    <a:tint val="75000"/>
                  </a:schemeClr>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r>
              <a:rPr lang="en-US">
                <a:solidFill>
                  <a:schemeClr val="tx1"/>
                </a:solidFill>
                <a:latin typeface="Montserrat SemiBold" panose="00000700000000000000" pitchFamily="50" charset="0"/>
                <a:ea typeface="Open Sans bold" panose="020B0806030504020204" pitchFamily="34" charset="0"/>
                <a:cs typeface="Open Sans bold" panose="020B0806030504020204" pitchFamily="34" charset="0"/>
              </a:rPr>
              <a:t>Pitch Deck | </a:t>
            </a:r>
            <a:r>
              <a:rPr lang="en-US">
                <a:solidFill>
                  <a:schemeClr val="accent1"/>
                </a:solidFill>
                <a:latin typeface="Montserrat SemiBold" panose="00000700000000000000" pitchFamily="50" charset="0"/>
              </a:rPr>
              <a:t>Presentation</a:t>
            </a:r>
          </a:p>
        </p:txBody>
      </p:sp>
    </p:spTree>
    <p:extLst>
      <p:ext uri="{BB962C8B-B14F-4D97-AF65-F5344CB8AC3E}">
        <p14:creationId xmlns:p14="http://schemas.microsoft.com/office/powerpoint/2010/main" val="380516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430672" y="2528151"/>
            <a:ext cx="8466256" cy="856319"/>
          </a:xfrm>
          <a:prstGeom prst="rect">
            <a:avLst/>
          </a:prstGeom>
        </p:spPr>
        <p:txBody>
          <a:bodyPr lIns="0" rIns="0" anchor="b">
            <a:noAutofit/>
          </a:bodyPr>
          <a:lstStyle>
            <a:lvl1pPr>
              <a:defRPr sz="3200" b="0" i="0">
                <a:solidFill>
                  <a:schemeClr val="bg1"/>
                </a:solidFill>
                <a:latin typeface="Montserrat-Arabic" panose="00000500000000000000" pitchFamily="2" charset="-78"/>
                <a:cs typeface="Montserrat-Arabic" panose="00000500000000000000"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431777" y="4265289"/>
            <a:ext cx="3457143" cy="432536"/>
          </a:xfrm>
          <a:prstGeom prst="rect">
            <a:avLst/>
          </a:prstGeom>
        </p:spPr>
        <p:txBody>
          <a:bodyPr>
            <a:normAutofit/>
          </a:bodyPr>
          <a:lstStyle>
            <a:lvl1pPr marL="0" indent="0">
              <a:buNone/>
              <a:defRPr sz="1467" b="0" i="0">
                <a:solidFill>
                  <a:schemeClr val="accent2"/>
                </a:solidFill>
                <a:latin typeface="Fund Light" pitchFamily="2" charset="-78"/>
                <a:cs typeface="Fund Light" pitchFamily="2" charset="-78"/>
              </a:defRPr>
            </a:lvl1pPr>
            <a:lvl2pPr marL="660363" indent="0">
              <a:buNone/>
              <a:defRPr sz="2889">
                <a:solidFill>
                  <a:schemeClr val="tx1">
                    <a:tint val="75000"/>
                  </a:schemeClr>
                </a:solidFill>
              </a:defRPr>
            </a:lvl2pPr>
            <a:lvl3pPr marL="1320727" indent="0">
              <a:buNone/>
              <a:defRPr sz="2600">
                <a:solidFill>
                  <a:schemeClr val="tx1">
                    <a:tint val="75000"/>
                  </a:schemeClr>
                </a:solidFill>
              </a:defRPr>
            </a:lvl3pPr>
            <a:lvl4pPr marL="1981089" indent="0">
              <a:buNone/>
              <a:defRPr sz="2311">
                <a:solidFill>
                  <a:schemeClr val="tx1">
                    <a:tint val="75000"/>
                  </a:schemeClr>
                </a:solidFill>
              </a:defRPr>
            </a:lvl4pPr>
            <a:lvl5pPr marL="2641453" indent="0">
              <a:buNone/>
              <a:defRPr sz="2311">
                <a:solidFill>
                  <a:schemeClr val="tx1">
                    <a:tint val="75000"/>
                  </a:schemeClr>
                </a:solidFill>
              </a:defRPr>
            </a:lvl5pPr>
            <a:lvl6pPr marL="3301816" indent="0">
              <a:buNone/>
              <a:defRPr sz="2311">
                <a:solidFill>
                  <a:schemeClr val="tx1">
                    <a:tint val="75000"/>
                  </a:schemeClr>
                </a:solidFill>
              </a:defRPr>
            </a:lvl6pPr>
            <a:lvl7pPr marL="3962180" indent="0">
              <a:buNone/>
              <a:defRPr sz="2311">
                <a:solidFill>
                  <a:schemeClr val="tx1">
                    <a:tint val="75000"/>
                  </a:schemeClr>
                </a:solidFill>
              </a:defRPr>
            </a:lvl7pPr>
            <a:lvl8pPr marL="4622542" indent="0">
              <a:buNone/>
              <a:defRPr sz="2311">
                <a:solidFill>
                  <a:schemeClr val="tx1">
                    <a:tint val="75000"/>
                  </a:schemeClr>
                </a:solidFill>
              </a:defRPr>
            </a:lvl8pPr>
            <a:lvl9pPr marL="5282905" indent="0">
              <a:buNone/>
              <a:defRPr sz="2311">
                <a:solidFill>
                  <a:schemeClr val="tx1">
                    <a:tint val="75000"/>
                  </a:schemeClr>
                </a:solidFill>
              </a:defRPr>
            </a:lvl9pPr>
          </a:lstStyle>
          <a:p>
            <a:pPr lvl="0"/>
            <a:r>
              <a:rPr lang="en-US"/>
              <a:t>00 Month 0000</a:t>
            </a:r>
          </a:p>
        </p:txBody>
      </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430672" y="3469682"/>
            <a:ext cx="8451851" cy="444500"/>
          </a:xfrm>
          <a:prstGeom prst="rect">
            <a:avLst/>
          </a:prstGeom>
        </p:spPr>
        <p:txBody>
          <a:bodyPr anchor="b">
            <a:noAutofit/>
          </a:bodyPr>
          <a:lstStyle>
            <a:lvl1pPr marL="0" indent="0">
              <a:buNone/>
              <a:defRPr lang="en-US" sz="2133"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228594" lvl="0" indent="-228594">
              <a:spcBef>
                <a:spcPct val="0"/>
              </a:spcBef>
            </a:pPr>
            <a:r>
              <a:rPr lang="en-US"/>
              <a:t>CLICK TO EDIT SUB-TITLE</a:t>
            </a:r>
          </a:p>
        </p:txBody>
      </p:sp>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41689" y="4073676"/>
            <a:ext cx="9583404"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319FFBFC-8FAE-BD02-EA4F-941B8F261CF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8272" y="382462"/>
            <a:ext cx="1807763" cy="378369"/>
          </a:xfrm>
          <a:prstGeom prst="rect">
            <a:avLst/>
          </a:prstGeom>
        </p:spPr>
      </p:pic>
    </p:spTree>
    <p:extLst>
      <p:ext uri="{BB962C8B-B14F-4D97-AF65-F5344CB8AC3E}">
        <p14:creationId xmlns:p14="http://schemas.microsoft.com/office/powerpoint/2010/main" val="15967728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Title">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a:lstStyle/>
          <a:p>
            <a:r>
              <a:rPr lang="en-US"/>
              <a:t>CLICK TO EDIT MASTER TITLE STYLE</a:t>
            </a:r>
            <a:endParaRPr lang="en-SA"/>
          </a:p>
        </p:txBody>
      </p:sp>
      <p:grpSp>
        <p:nvGrpSpPr>
          <p:cNvPr id="36" name="Group 35">
            <a:extLst>
              <a:ext uri="{FF2B5EF4-FFF2-40B4-BE49-F238E27FC236}">
                <a16:creationId xmlns:a16="http://schemas.microsoft.com/office/drawing/2014/main" id="{8D7A2728-7734-5A71-9136-C6EA975CF764}"/>
              </a:ext>
            </a:extLst>
          </p:cNvPr>
          <p:cNvGrpSpPr/>
          <p:nvPr userDrawn="1"/>
        </p:nvGrpSpPr>
        <p:grpSpPr>
          <a:xfrm>
            <a:off x="1420911" y="-822889"/>
            <a:ext cx="205568" cy="823066"/>
            <a:chOff x="2734138" y="-887726"/>
            <a:chExt cx="2352552" cy="887903"/>
          </a:xfrm>
        </p:grpSpPr>
        <p:sp>
          <p:nvSpPr>
            <p:cNvPr id="37" name="Freeform: Shape 36">
              <a:extLst>
                <a:ext uri="{FF2B5EF4-FFF2-40B4-BE49-F238E27FC236}">
                  <a16:creationId xmlns:a16="http://schemas.microsoft.com/office/drawing/2014/main" id="{98BE33A2-0BF8-FAAE-35D1-80A420F0EA89}"/>
                </a:ext>
              </a:extLst>
            </p:cNvPr>
            <p:cNvSpPr/>
            <p:nvPr/>
          </p:nvSpPr>
          <p:spPr>
            <a:xfrm>
              <a:off x="2734138" y="-221795"/>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22323F"/>
            </a:solidFill>
            <a:ln w="136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8A1FABE-0A81-398B-125A-373F1FF1D53E}"/>
                </a:ext>
              </a:extLst>
            </p:cNvPr>
            <p:cNvSpPr/>
            <p:nvPr/>
          </p:nvSpPr>
          <p:spPr>
            <a:xfrm>
              <a:off x="2734138" y="-443768"/>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E87722"/>
            </a:solidFill>
            <a:ln w="136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30465A0-B6F1-A3EC-53AC-7B293EAF4097}"/>
                </a:ext>
              </a:extLst>
            </p:cNvPr>
            <p:cNvSpPr/>
            <p:nvPr/>
          </p:nvSpPr>
          <p:spPr>
            <a:xfrm>
              <a:off x="2734138" y="-665753"/>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8DC8E8"/>
            </a:solidFill>
            <a:ln w="136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AAA93B5-1E21-08E1-F52E-E6FFA737A49E}"/>
                </a:ext>
              </a:extLst>
            </p:cNvPr>
            <p:cNvSpPr/>
            <p:nvPr/>
          </p:nvSpPr>
          <p:spPr>
            <a:xfrm>
              <a:off x="2734138" y="-887726"/>
              <a:ext cx="2352552" cy="221972"/>
            </a:xfrm>
            <a:custGeom>
              <a:avLst/>
              <a:gdLst>
                <a:gd name="connsiteX0" fmla="*/ 0 w 2352552"/>
                <a:gd name="connsiteY0" fmla="*/ 0 h 221972"/>
                <a:gd name="connsiteX1" fmla="*/ 2352553 w 2352552"/>
                <a:gd name="connsiteY1" fmla="*/ 0 h 221972"/>
                <a:gd name="connsiteX2" fmla="*/ 2352553 w 2352552"/>
                <a:gd name="connsiteY2" fmla="*/ 221972 h 221972"/>
                <a:gd name="connsiteX3" fmla="*/ 0 w 2352552"/>
                <a:gd name="connsiteY3" fmla="*/ 221972 h 221972"/>
              </a:gdLst>
              <a:ahLst/>
              <a:cxnLst>
                <a:cxn ang="0">
                  <a:pos x="connsiteX0" y="connsiteY0"/>
                </a:cxn>
                <a:cxn ang="0">
                  <a:pos x="connsiteX1" y="connsiteY1"/>
                </a:cxn>
                <a:cxn ang="0">
                  <a:pos x="connsiteX2" y="connsiteY2"/>
                </a:cxn>
                <a:cxn ang="0">
                  <a:pos x="connsiteX3" y="connsiteY3"/>
                </a:cxn>
              </a:cxnLst>
              <a:rect l="l" t="t" r="r" b="b"/>
              <a:pathLst>
                <a:path w="2352552" h="221972">
                  <a:moveTo>
                    <a:pt x="0" y="0"/>
                  </a:moveTo>
                  <a:lnTo>
                    <a:pt x="2352553" y="0"/>
                  </a:lnTo>
                  <a:lnTo>
                    <a:pt x="2352553" y="221972"/>
                  </a:lnTo>
                  <a:lnTo>
                    <a:pt x="0" y="221972"/>
                  </a:lnTo>
                  <a:close/>
                </a:path>
              </a:pathLst>
            </a:custGeom>
            <a:solidFill>
              <a:srgbClr val="173F35"/>
            </a:solidFill>
            <a:ln w="1364" cap="flat">
              <a:noFill/>
              <a:prstDash val="solid"/>
              <a:miter/>
            </a:ln>
          </p:spPr>
          <p:txBody>
            <a:bodyPr rtlCol="0" anchor="ctr"/>
            <a:lstStyle/>
            <a:p>
              <a:endParaRPr lang="en-US"/>
            </a:p>
          </p:txBody>
        </p:sp>
      </p:grpSp>
      <p:pic>
        <p:nvPicPr>
          <p:cNvPr id="41" name="Graphic 40">
            <a:extLst>
              <a:ext uri="{FF2B5EF4-FFF2-40B4-BE49-F238E27FC236}">
                <a16:creationId xmlns:a16="http://schemas.microsoft.com/office/drawing/2014/main" id="{26119658-2494-FE9A-C467-45F3E2B80D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819545"/>
            <a:ext cx="1462088" cy="819543"/>
          </a:xfrm>
          <a:prstGeom prst="rect">
            <a:avLst/>
          </a:prstGeom>
        </p:spPr>
      </p:pic>
    </p:spTree>
    <p:extLst>
      <p:ext uri="{BB962C8B-B14F-4D97-AF65-F5344CB8AC3E}">
        <p14:creationId xmlns:p14="http://schemas.microsoft.com/office/powerpoint/2010/main" val="809326088"/>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Wild Photo">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5E63D79-F6F7-439B-48FC-E42AFDA3BCF2}"/>
              </a:ext>
            </a:extLst>
          </p:cNvPr>
          <p:cNvSpPr>
            <a:spLocks noGrp="1"/>
          </p:cNvSpPr>
          <p:nvPr>
            <p:ph type="pic" sz="quarter" idx="11"/>
          </p:nvPr>
        </p:nvSpPr>
        <p:spPr>
          <a:xfrm>
            <a:off x="1022032" y="1571629"/>
            <a:ext cx="10738168" cy="2065640"/>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0" name="Text Placeholder 15">
            <a:extLst>
              <a:ext uri="{FF2B5EF4-FFF2-40B4-BE49-F238E27FC236}">
                <a16:creationId xmlns:a16="http://schemas.microsoft.com/office/drawing/2014/main" id="{593BAA84-AAE3-47BE-B61F-C606F8B8FFC9}"/>
              </a:ext>
            </a:extLst>
          </p:cNvPr>
          <p:cNvSpPr>
            <a:spLocks noGrp="1"/>
          </p:cNvSpPr>
          <p:nvPr>
            <p:ph type="body" sz="quarter" idx="15" hasCustomPrompt="1"/>
          </p:nvPr>
        </p:nvSpPr>
        <p:spPr>
          <a:xfrm>
            <a:off x="1022033" y="3899854"/>
            <a:ext cx="10738167" cy="329003"/>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able Placeholder 14">
            <a:extLst>
              <a:ext uri="{FF2B5EF4-FFF2-40B4-BE49-F238E27FC236}">
                <a16:creationId xmlns:a16="http://schemas.microsoft.com/office/drawing/2014/main" id="{160FE0B8-0092-10F7-C222-248997B2309D}"/>
              </a:ext>
            </a:extLst>
          </p:cNvPr>
          <p:cNvSpPr>
            <a:spLocks noGrp="1"/>
          </p:cNvSpPr>
          <p:nvPr>
            <p:ph type="tbl" sz="quarter" idx="16"/>
          </p:nvPr>
        </p:nvSpPr>
        <p:spPr>
          <a:xfrm>
            <a:off x="1022032" y="4506119"/>
            <a:ext cx="10738168" cy="1562364"/>
          </a:xfrm>
          <a:prstGeom prst="rect">
            <a:avLst/>
          </a:prstGeom>
        </p:spPr>
        <p:txBody>
          <a:bodyPr/>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itle 4">
            <a:extLst>
              <a:ext uri="{FF2B5EF4-FFF2-40B4-BE49-F238E27FC236}">
                <a16:creationId xmlns:a16="http://schemas.microsoft.com/office/drawing/2014/main" id="{34481DCD-520F-982D-71E2-7389450C1C08}"/>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3401024079"/>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Heavy Content ">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F3C60F4-E3AA-1F3F-DDB1-3E1512E32193}"/>
              </a:ext>
            </a:extLst>
          </p:cNvPr>
          <p:cNvSpPr>
            <a:spLocks noGrp="1"/>
          </p:cNvSpPr>
          <p:nvPr>
            <p:ph type="body" sz="quarter" idx="11" hasCustomPrompt="1"/>
          </p:nvPr>
        </p:nvSpPr>
        <p:spPr>
          <a:xfrm>
            <a:off x="1021643" y="1870339"/>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15" name="Text Placeholder 14">
            <a:extLst>
              <a:ext uri="{FF2B5EF4-FFF2-40B4-BE49-F238E27FC236}">
                <a16:creationId xmlns:a16="http://schemas.microsoft.com/office/drawing/2014/main" id="{EE6A8381-4A00-FD4F-E99A-2B679E9B33FF}"/>
              </a:ext>
            </a:extLst>
          </p:cNvPr>
          <p:cNvSpPr>
            <a:spLocks noGrp="1"/>
          </p:cNvSpPr>
          <p:nvPr>
            <p:ph type="body" sz="quarter" idx="20" hasCustomPrompt="1"/>
          </p:nvPr>
        </p:nvSpPr>
        <p:spPr>
          <a:xfrm>
            <a:off x="1022033" y="2854390"/>
            <a:ext cx="10739874" cy="941523"/>
          </a:xfrm>
        </p:spPr>
        <p:txBody>
          <a:bodyPr>
            <a:normAutofit/>
          </a:bodyPr>
          <a:lstStyle>
            <a:lvl4pPr>
              <a:defRPr sz="1000"/>
            </a:lvl4pPr>
          </a:lstStyle>
          <a:p>
            <a:pPr lvl="3"/>
            <a:r>
              <a:rPr lang="en-US"/>
              <a:t>Body text here</a:t>
            </a:r>
          </a:p>
          <a:p>
            <a:pPr lvl="3"/>
            <a:r>
              <a:rPr lang="en-US"/>
              <a:t>Body text here</a:t>
            </a:r>
          </a:p>
          <a:p>
            <a:pPr lvl="3"/>
            <a:r>
              <a:rPr lang="en-US"/>
              <a:t>Body text here</a:t>
            </a:r>
          </a:p>
          <a:p>
            <a:pPr lvl="3"/>
            <a:r>
              <a:rPr lang="en-US"/>
              <a:t>Body text here</a:t>
            </a:r>
          </a:p>
        </p:txBody>
      </p:sp>
      <p:sp>
        <p:nvSpPr>
          <p:cNvPr id="20" name="Text Placeholder 15">
            <a:extLst>
              <a:ext uri="{FF2B5EF4-FFF2-40B4-BE49-F238E27FC236}">
                <a16:creationId xmlns:a16="http://schemas.microsoft.com/office/drawing/2014/main" id="{34AF7102-903E-2E0D-CF4D-AEE7D0606356}"/>
              </a:ext>
            </a:extLst>
          </p:cNvPr>
          <p:cNvSpPr>
            <a:spLocks noGrp="1"/>
          </p:cNvSpPr>
          <p:nvPr>
            <p:ph type="body" sz="quarter" idx="21" hasCustomPrompt="1"/>
          </p:nvPr>
        </p:nvSpPr>
        <p:spPr>
          <a:xfrm>
            <a:off x="1021643" y="3953325"/>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24" name="Text Placeholder 15">
            <a:extLst>
              <a:ext uri="{FF2B5EF4-FFF2-40B4-BE49-F238E27FC236}">
                <a16:creationId xmlns:a16="http://schemas.microsoft.com/office/drawing/2014/main" id="{CA02BEB5-EB10-8F01-2D87-300ACE5E516C}"/>
              </a:ext>
            </a:extLst>
          </p:cNvPr>
          <p:cNvSpPr>
            <a:spLocks noGrp="1"/>
          </p:cNvSpPr>
          <p:nvPr>
            <p:ph type="body" sz="quarter" idx="23" hasCustomPrompt="1"/>
          </p:nvPr>
        </p:nvSpPr>
        <p:spPr>
          <a:xfrm>
            <a:off x="1021643" y="5065539"/>
            <a:ext cx="1073284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accent2"/>
                </a:solidFill>
                <a:latin typeface="Fund Light" pitchFamily="2" charset="-78"/>
                <a:ea typeface="+mn-ea"/>
                <a:cs typeface="Fund Light" pitchFamily="2" charset="-78"/>
              </a:defRPr>
            </a:lvl1pPr>
          </a:lstStyle>
          <a:p>
            <a:pPr lvl="0"/>
            <a:r>
              <a:rPr lang="en-US"/>
              <a:t>TITLE</a:t>
            </a:r>
          </a:p>
        </p:txBody>
      </p:sp>
      <p:sp>
        <p:nvSpPr>
          <p:cNvPr id="27" name="Text Placeholder 26">
            <a:extLst>
              <a:ext uri="{FF2B5EF4-FFF2-40B4-BE49-F238E27FC236}">
                <a16:creationId xmlns:a16="http://schemas.microsoft.com/office/drawing/2014/main" id="{31360F0F-A667-7019-2E37-33DD8B68A971}"/>
              </a:ext>
            </a:extLst>
          </p:cNvPr>
          <p:cNvSpPr>
            <a:spLocks noGrp="1"/>
          </p:cNvSpPr>
          <p:nvPr>
            <p:ph type="body" sz="quarter" idx="25" hasCustomPrompt="1"/>
          </p:nvPr>
        </p:nvSpPr>
        <p:spPr>
          <a:xfrm>
            <a:off x="1021643" y="2196323"/>
            <a:ext cx="10732848" cy="636951"/>
          </a:xfrm>
        </p:spPr>
        <p:txBody>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8" name="Text Placeholder 26">
            <a:extLst>
              <a:ext uri="{FF2B5EF4-FFF2-40B4-BE49-F238E27FC236}">
                <a16:creationId xmlns:a16="http://schemas.microsoft.com/office/drawing/2014/main" id="{53DBBEB4-7B3E-DCA7-64CA-BB578A31E44C}"/>
              </a:ext>
            </a:extLst>
          </p:cNvPr>
          <p:cNvSpPr>
            <a:spLocks noGrp="1"/>
          </p:cNvSpPr>
          <p:nvPr>
            <p:ph type="body" sz="quarter" idx="26" hasCustomPrompt="1"/>
          </p:nvPr>
        </p:nvSpPr>
        <p:spPr>
          <a:xfrm>
            <a:off x="1021643" y="4281155"/>
            <a:ext cx="10732849" cy="636951"/>
          </a:xfrm>
        </p:spPr>
        <p:txBody>
          <a:bodyPr>
            <a:noAutofit/>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9" name="Text Placeholder 26">
            <a:extLst>
              <a:ext uri="{FF2B5EF4-FFF2-40B4-BE49-F238E27FC236}">
                <a16:creationId xmlns:a16="http://schemas.microsoft.com/office/drawing/2014/main" id="{C06685A2-318B-C098-6BDF-C4687A7AC986}"/>
              </a:ext>
            </a:extLst>
          </p:cNvPr>
          <p:cNvSpPr>
            <a:spLocks noGrp="1"/>
          </p:cNvSpPr>
          <p:nvPr>
            <p:ph type="body" sz="quarter" idx="27" hasCustomPrompt="1"/>
          </p:nvPr>
        </p:nvSpPr>
        <p:spPr>
          <a:xfrm>
            <a:off x="1021643" y="5390627"/>
            <a:ext cx="10732848" cy="552973"/>
          </a:xfrm>
        </p:spPr>
        <p:txBody>
          <a:bodyPr>
            <a:noAutofit/>
          </a:bodyPr>
          <a:lstStyle>
            <a:lvl1pPr marL="0" indent="0" algn="just">
              <a:buNone/>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32" name="Title 4">
            <a:extLst>
              <a:ext uri="{FF2B5EF4-FFF2-40B4-BE49-F238E27FC236}">
                <a16:creationId xmlns:a16="http://schemas.microsoft.com/office/drawing/2014/main" id="{134029DC-1981-2D55-218B-23C049E5A225}"/>
              </a:ext>
            </a:extLst>
          </p:cNvPr>
          <p:cNvSpPr>
            <a:spLocks noGrp="1"/>
          </p:cNvSpPr>
          <p:nvPr>
            <p:ph type="title" hasCustomPrompt="1"/>
          </p:nvPr>
        </p:nvSpPr>
        <p:spPr>
          <a:xfrm>
            <a:off x="1022033" y="983246"/>
            <a:ext cx="10330179" cy="498899"/>
          </a:xfrm>
        </p:spPr>
        <p:txBody>
          <a:bodyPr>
            <a:noAutofit/>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316528507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Heavy Content ">
    <p:spTree>
      <p:nvGrpSpPr>
        <p:cNvPr id="1" name=""/>
        <p:cNvGrpSpPr/>
        <p:nvPr/>
      </p:nvGrpSpPr>
      <p:grpSpPr>
        <a:xfrm>
          <a:off x="0" y="0"/>
          <a:ext cx="0" cy="0"/>
          <a:chOff x="0" y="0"/>
          <a:chExt cx="0" cy="0"/>
        </a:xfrm>
      </p:grpSpPr>
      <p:sp>
        <p:nvSpPr>
          <p:cNvPr id="7" name="Text Placeholder 15">
            <a:extLst>
              <a:ext uri="{FF2B5EF4-FFF2-40B4-BE49-F238E27FC236}">
                <a16:creationId xmlns:a16="http://schemas.microsoft.com/office/drawing/2014/main" id="{EE77B192-B893-8971-B271-AC63637A2065}"/>
              </a:ext>
            </a:extLst>
          </p:cNvPr>
          <p:cNvSpPr>
            <a:spLocks noGrp="1"/>
          </p:cNvSpPr>
          <p:nvPr>
            <p:ph type="body" sz="quarter" idx="11" hasCustomPrompt="1"/>
          </p:nvPr>
        </p:nvSpPr>
        <p:spPr>
          <a:xfrm>
            <a:off x="1022032" y="1669831"/>
            <a:ext cx="10738167"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8" name="Text Placeholder 26">
            <a:extLst>
              <a:ext uri="{FF2B5EF4-FFF2-40B4-BE49-F238E27FC236}">
                <a16:creationId xmlns:a16="http://schemas.microsoft.com/office/drawing/2014/main" id="{0361BD90-5B42-10E2-969A-B5889292C21C}"/>
              </a:ext>
            </a:extLst>
          </p:cNvPr>
          <p:cNvSpPr>
            <a:spLocks noGrp="1"/>
          </p:cNvSpPr>
          <p:nvPr>
            <p:ph type="body" sz="quarter" idx="25" hasCustomPrompt="1"/>
          </p:nvPr>
        </p:nvSpPr>
        <p:spPr>
          <a:xfrm>
            <a:off x="1022033" y="1995815"/>
            <a:ext cx="10738168" cy="4256790"/>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1" name="Title 4">
            <a:extLst>
              <a:ext uri="{FF2B5EF4-FFF2-40B4-BE49-F238E27FC236}">
                <a16:creationId xmlns:a16="http://schemas.microsoft.com/office/drawing/2014/main" id="{2E6A1F2E-D8AD-3208-9C3F-9BD0654DA9F2}"/>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2926203509"/>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Heavy Content ">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9740954-8C27-8302-D638-45CFCA778965}"/>
              </a:ext>
            </a:extLst>
          </p:cNvPr>
          <p:cNvSpPr>
            <a:spLocks noGrp="1"/>
          </p:cNvSpPr>
          <p:nvPr>
            <p:ph type="pic" sz="quarter" idx="14"/>
          </p:nvPr>
        </p:nvSpPr>
        <p:spPr>
          <a:xfrm>
            <a:off x="6902039" y="1991442"/>
            <a:ext cx="4858161" cy="4305868"/>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ext Placeholder 15">
            <a:extLst>
              <a:ext uri="{FF2B5EF4-FFF2-40B4-BE49-F238E27FC236}">
                <a16:creationId xmlns:a16="http://schemas.microsoft.com/office/drawing/2014/main" id="{9DEB9C49-F9DD-9E0B-CA20-D228F3BF856C}"/>
              </a:ext>
            </a:extLst>
          </p:cNvPr>
          <p:cNvSpPr>
            <a:spLocks noGrp="1"/>
          </p:cNvSpPr>
          <p:nvPr>
            <p:ph type="body" sz="quarter" idx="11" hasCustomPrompt="1"/>
          </p:nvPr>
        </p:nvSpPr>
        <p:spPr>
          <a:xfrm>
            <a:off x="1022032" y="1665458"/>
            <a:ext cx="10738167"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6" name="Text Placeholder 26">
            <a:extLst>
              <a:ext uri="{FF2B5EF4-FFF2-40B4-BE49-F238E27FC236}">
                <a16:creationId xmlns:a16="http://schemas.microsoft.com/office/drawing/2014/main" id="{DF34FA57-6720-CCDD-D940-7AFDA13CBF48}"/>
              </a:ext>
            </a:extLst>
          </p:cNvPr>
          <p:cNvSpPr>
            <a:spLocks noGrp="1"/>
          </p:cNvSpPr>
          <p:nvPr>
            <p:ph type="body" sz="quarter" idx="25" hasCustomPrompt="1"/>
          </p:nvPr>
        </p:nvSpPr>
        <p:spPr>
          <a:xfrm>
            <a:off x="1022033" y="1991442"/>
            <a:ext cx="4858161" cy="429469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4" name="Title 4">
            <a:extLst>
              <a:ext uri="{FF2B5EF4-FFF2-40B4-BE49-F238E27FC236}">
                <a16:creationId xmlns:a16="http://schemas.microsoft.com/office/drawing/2014/main" id="{7972ED5C-D7A9-7213-5E4E-7FEEA79C1FCF}"/>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1903903490"/>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Heavy Content ">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8DF0694E-B26D-4C07-3464-889128CF46CC}"/>
              </a:ext>
            </a:extLst>
          </p:cNvPr>
          <p:cNvSpPr>
            <a:spLocks noGrp="1"/>
          </p:cNvSpPr>
          <p:nvPr>
            <p:ph type="body" sz="quarter" idx="11" hasCustomPrompt="1"/>
          </p:nvPr>
        </p:nvSpPr>
        <p:spPr>
          <a:xfrm>
            <a:off x="1015416" y="1816892"/>
            <a:ext cx="4877386"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7" name="Text Placeholder 26">
            <a:extLst>
              <a:ext uri="{FF2B5EF4-FFF2-40B4-BE49-F238E27FC236}">
                <a16:creationId xmlns:a16="http://schemas.microsoft.com/office/drawing/2014/main" id="{E4D84FB3-7CB7-EB17-D9F0-978923A22963}"/>
              </a:ext>
            </a:extLst>
          </p:cNvPr>
          <p:cNvSpPr>
            <a:spLocks noGrp="1"/>
          </p:cNvSpPr>
          <p:nvPr>
            <p:ph type="body" sz="quarter" idx="25" hasCustomPrompt="1"/>
          </p:nvPr>
        </p:nvSpPr>
        <p:spPr>
          <a:xfrm>
            <a:off x="1022033" y="2142875"/>
            <a:ext cx="4870767" cy="1935879"/>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Picture Placeholder 5">
            <a:extLst>
              <a:ext uri="{FF2B5EF4-FFF2-40B4-BE49-F238E27FC236}">
                <a16:creationId xmlns:a16="http://schemas.microsoft.com/office/drawing/2014/main" id="{2689D924-B573-9F3B-11FD-1A189D0ACA31}"/>
              </a:ext>
            </a:extLst>
          </p:cNvPr>
          <p:cNvSpPr>
            <a:spLocks noGrp="1"/>
          </p:cNvSpPr>
          <p:nvPr>
            <p:ph type="pic" sz="quarter" idx="14"/>
          </p:nvPr>
        </p:nvSpPr>
        <p:spPr>
          <a:xfrm>
            <a:off x="6889433" y="2142876"/>
            <a:ext cx="4870768" cy="4154432"/>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4" name="Picture Placeholder 5">
            <a:extLst>
              <a:ext uri="{FF2B5EF4-FFF2-40B4-BE49-F238E27FC236}">
                <a16:creationId xmlns:a16="http://schemas.microsoft.com/office/drawing/2014/main" id="{37CF3A16-6EF2-45BE-1B4F-3C77259A317E}"/>
              </a:ext>
            </a:extLst>
          </p:cNvPr>
          <p:cNvSpPr>
            <a:spLocks noGrp="1"/>
          </p:cNvSpPr>
          <p:nvPr>
            <p:ph type="pic" sz="quarter" idx="27"/>
          </p:nvPr>
        </p:nvSpPr>
        <p:spPr>
          <a:xfrm>
            <a:off x="1015415" y="4417459"/>
            <a:ext cx="4877385" cy="1861014"/>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18" name="Title 4">
            <a:extLst>
              <a:ext uri="{FF2B5EF4-FFF2-40B4-BE49-F238E27FC236}">
                <a16:creationId xmlns:a16="http://schemas.microsoft.com/office/drawing/2014/main" id="{53D343EC-4656-122D-3A78-738663F7AB57}"/>
              </a:ext>
            </a:extLst>
          </p:cNvPr>
          <p:cNvSpPr>
            <a:spLocks noGrp="1"/>
          </p:cNvSpPr>
          <p:nvPr>
            <p:ph type="title" hasCustomPrompt="1"/>
          </p:nvPr>
        </p:nvSpPr>
        <p:spPr>
          <a:xfrm>
            <a:off x="1022033" y="983386"/>
            <a:ext cx="7585892" cy="502761"/>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1583220408"/>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_Heavy Content ">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999BEE0A-983E-CF6E-3446-3D7EE05835CB}"/>
              </a:ext>
            </a:extLst>
          </p:cNvPr>
          <p:cNvSpPr>
            <a:spLocks noGrp="1"/>
          </p:cNvSpPr>
          <p:nvPr>
            <p:ph type="body" sz="quarter" idx="11" hasCustomPrompt="1"/>
          </p:nvPr>
        </p:nvSpPr>
        <p:spPr>
          <a:xfrm>
            <a:off x="976313" y="1786974"/>
            <a:ext cx="1078388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6" name="Picture Placeholder 5">
            <a:extLst>
              <a:ext uri="{FF2B5EF4-FFF2-40B4-BE49-F238E27FC236}">
                <a16:creationId xmlns:a16="http://schemas.microsoft.com/office/drawing/2014/main" id="{CB929CED-133E-AE9C-4043-4E351A200028}"/>
              </a:ext>
            </a:extLst>
          </p:cNvPr>
          <p:cNvSpPr>
            <a:spLocks noGrp="1"/>
          </p:cNvSpPr>
          <p:nvPr>
            <p:ph type="pic" sz="quarter" idx="14"/>
          </p:nvPr>
        </p:nvSpPr>
        <p:spPr>
          <a:xfrm>
            <a:off x="6841003" y="2112957"/>
            <a:ext cx="4916486" cy="4184345"/>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7" name="Picture Placeholder 5">
            <a:extLst>
              <a:ext uri="{FF2B5EF4-FFF2-40B4-BE49-F238E27FC236}">
                <a16:creationId xmlns:a16="http://schemas.microsoft.com/office/drawing/2014/main" id="{FE3DC04A-A27A-0749-391E-FC16FFFBBF19}"/>
              </a:ext>
            </a:extLst>
          </p:cNvPr>
          <p:cNvSpPr>
            <a:spLocks noGrp="1"/>
          </p:cNvSpPr>
          <p:nvPr>
            <p:ph type="pic" sz="quarter" idx="27"/>
          </p:nvPr>
        </p:nvSpPr>
        <p:spPr>
          <a:xfrm>
            <a:off x="976312" y="4310863"/>
            <a:ext cx="4916487" cy="1986305"/>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18" name="Picture Placeholder 5">
            <a:extLst>
              <a:ext uri="{FF2B5EF4-FFF2-40B4-BE49-F238E27FC236}">
                <a16:creationId xmlns:a16="http://schemas.microsoft.com/office/drawing/2014/main" id="{750E1692-A5A5-77B1-1F6F-2CFEA35184A1}"/>
              </a:ext>
            </a:extLst>
          </p:cNvPr>
          <p:cNvSpPr>
            <a:spLocks noGrp="1"/>
          </p:cNvSpPr>
          <p:nvPr>
            <p:ph type="pic" sz="quarter" idx="18"/>
          </p:nvPr>
        </p:nvSpPr>
        <p:spPr>
          <a:xfrm>
            <a:off x="976312" y="2114864"/>
            <a:ext cx="4916487" cy="1986305"/>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4" name="Title 4">
            <a:extLst>
              <a:ext uri="{FF2B5EF4-FFF2-40B4-BE49-F238E27FC236}">
                <a16:creationId xmlns:a16="http://schemas.microsoft.com/office/drawing/2014/main" id="{B34E6867-AD99-2838-8C10-ECFAACFC6CC1}"/>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86382595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6_Heavy Content ">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E91A9CE8-D9B8-8207-FFF9-1084438AEA25}"/>
              </a:ext>
            </a:extLst>
          </p:cNvPr>
          <p:cNvSpPr>
            <a:spLocks noGrp="1"/>
          </p:cNvSpPr>
          <p:nvPr>
            <p:ph type="body" sz="quarter" idx="11" hasCustomPrompt="1"/>
          </p:nvPr>
        </p:nvSpPr>
        <p:spPr>
          <a:xfrm>
            <a:off x="1022032" y="1817511"/>
            <a:ext cx="1073816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Picture Placeholder 5">
            <a:extLst>
              <a:ext uri="{FF2B5EF4-FFF2-40B4-BE49-F238E27FC236}">
                <a16:creationId xmlns:a16="http://schemas.microsoft.com/office/drawing/2014/main" id="{DE209958-14EE-8110-80D6-28C39824E8D4}"/>
              </a:ext>
            </a:extLst>
          </p:cNvPr>
          <p:cNvSpPr>
            <a:spLocks noGrp="1"/>
          </p:cNvSpPr>
          <p:nvPr>
            <p:ph type="pic" sz="quarter" idx="27"/>
          </p:nvPr>
        </p:nvSpPr>
        <p:spPr>
          <a:xfrm>
            <a:off x="1022032" y="4304761"/>
            <a:ext cx="4870767" cy="1992541"/>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5" name="Picture Placeholder 5">
            <a:extLst>
              <a:ext uri="{FF2B5EF4-FFF2-40B4-BE49-F238E27FC236}">
                <a16:creationId xmlns:a16="http://schemas.microsoft.com/office/drawing/2014/main" id="{030635A7-4B2F-AA42-CC6F-4CF4E4C3D7BD}"/>
              </a:ext>
            </a:extLst>
          </p:cNvPr>
          <p:cNvSpPr>
            <a:spLocks noGrp="1"/>
          </p:cNvSpPr>
          <p:nvPr>
            <p:ph type="pic" sz="quarter" idx="18"/>
          </p:nvPr>
        </p:nvSpPr>
        <p:spPr>
          <a:xfrm>
            <a:off x="1022032" y="2145401"/>
            <a:ext cx="4870767" cy="1992541"/>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26" name="Picture Placeholder 5">
            <a:extLst>
              <a:ext uri="{FF2B5EF4-FFF2-40B4-BE49-F238E27FC236}">
                <a16:creationId xmlns:a16="http://schemas.microsoft.com/office/drawing/2014/main" id="{8A74BDD0-A9DE-AF09-A11C-41CCDD567CCE}"/>
              </a:ext>
            </a:extLst>
          </p:cNvPr>
          <p:cNvSpPr>
            <a:spLocks noGrp="1"/>
          </p:cNvSpPr>
          <p:nvPr>
            <p:ph type="pic" sz="quarter" idx="28"/>
          </p:nvPr>
        </p:nvSpPr>
        <p:spPr>
          <a:xfrm>
            <a:off x="6889432" y="4304761"/>
            <a:ext cx="4870767" cy="1992541"/>
          </a:xfrm>
          <a:prstGeom prst="rect">
            <a:avLst/>
          </a:prstGeom>
        </p:spPr>
        <p:txBody>
          <a:bodyPr anchor="t"/>
          <a:lstStyle>
            <a:lvl1pPr marL="0" indent="0" algn="ctr">
              <a:buNone/>
              <a:defRPr sz="1600">
                <a:solidFill>
                  <a:schemeClr val="tx1"/>
                </a:solidFill>
                <a:latin typeface="Montserrat-Arabic" panose="00000500000000000000" pitchFamily="2" charset="-78"/>
                <a:cs typeface="Montserrat-Arabic" panose="00000500000000000000" pitchFamily="2" charset="-78"/>
              </a:defRPr>
            </a:lvl1pPr>
          </a:lstStyle>
          <a:p>
            <a:endParaRPr lang="en-SA"/>
          </a:p>
        </p:txBody>
      </p:sp>
      <p:sp>
        <p:nvSpPr>
          <p:cNvPr id="27" name="Picture Placeholder 5">
            <a:extLst>
              <a:ext uri="{FF2B5EF4-FFF2-40B4-BE49-F238E27FC236}">
                <a16:creationId xmlns:a16="http://schemas.microsoft.com/office/drawing/2014/main" id="{F001EE93-86CC-1631-6ECC-1A09ECA433E8}"/>
              </a:ext>
            </a:extLst>
          </p:cNvPr>
          <p:cNvSpPr>
            <a:spLocks noGrp="1"/>
          </p:cNvSpPr>
          <p:nvPr>
            <p:ph type="pic" sz="quarter" idx="29"/>
          </p:nvPr>
        </p:nvSpPr>
        <p:spPr>
          <a:xfrm>
            <a:off x="6889432" y="2145401"/>
            <a:ext cx="4870767" cy="1992541"/>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0" name="Title 4">
            <a:extLst>
              <a:ext uri="{FF2B5EF4-FFF2-40B4-BE49-F238E27FC236}">
                <a16:creationId xmlns:a16="http://schemas.microsoft.com/office/drawing/2014/main" id="{732A8086-D40C-0171-EA62-CA630F60A730}"/>
              </a:ext>
            </a:extLst>
          </p:cNvPr>
          <p:cNvSpPr>
            <a:spLocks noGrp="1"/>
          </p:cNvSpPr>
          <p:nvPr>
            <p:ph type="title" hasCustomPrompt="1"/>
          </p:nvPr>
        </p:nvSpPr>
        <p:spPr>
          <a:xfrm>
            <a:off x="1022033" y="983386"/>
            <a:ext cx="7585892" cy="502765"/>
          </a:xfrm>
        </p:spPr>
        <p:txBody>
          <a:bodyPr>
            <a:noAutofit/>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3854860439"/>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Heavy Content ">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F7B5159B-DD76-53E1-A1B7-565EEC39B250}"/>
              </a:ext>
            </a:extLst>
          </p:cNvPr>
          <p:cNvSpPr>
            <a:spLocks noGrp="1"/>
          </p:cNvSpPr>
          <p:nvPr>
            <p:ph type="pic" sz="quarter" idx="11"/>
          </p:nvPr>
        </p:nvSpPr>
        <p:spPr>
          <a:xfrm>
            <a:off x="1022000" y="4001383"/>
            <a:ext cx="10738201" cy="2295928"/>
          </a:xfrm>
          <a:prstGeom prst="rect">
            <a:avLst/>
          </a:prstGeom>
        </p:spPr>
        <p:txBody>
          <a:bodyPr anchor="t"/>
          <a:lstStyle>
            <a:lvl1pPr marL="0" indent="0" algn="ctr" defTabSz="914377" rtl="1" eaLnBrk="1" latinLnBrk="0" hangingPunct="1">
              <a:lnSpc>
                <a:spcPct val="150000"/>
              </a:lnSpc>
              <a:spcBef>
                <a:spcPts val="0"/>
              </a:spcBef>
              <a:buClr>
                <a:schemeClr val="bg2"/>
              </a:buClr>
              <a:buFont typeface="Arial" panose="020B0604020202020204" pitchFamily="34" charset="0"/>
              <a:buNone/>
              <a:defRPr sz="1600">
                <a:solidFill>
                  <a:schemeClr val="tx1"/>
                </a:solidFill>
                <a:latin typeface="Montserrat-Arabic" panose="00000500000000000000" pitchFamily="2" charset="-78"/>
                <a:cs typeface="Montserrat-Arabic" panose="00000500000000000000"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 name="Text Placeholder 15">
            <a:extLst>
              <a:ext uri="{FF2B5EF4-FFF2-40B4-BE49-F238E27FC236}">
                <a16:creationId xmlns:a16="http://schemas.microsoft.com/office/drawing/2014/main" id="{82E5DD3A-DC8C-3C86-99AE-9879313ADA98}"/>
              </a:ext>
            </a:extLst>
          </p:cNvPr>
          <p:cNvSpPr>
            <a:spLocks noGrp="1"/>
          </p:cNvSpPr>
          <p:nvPr>
            <p:ph type="body" sz="quarter" idx="12" hasCustomPrompt="1"/>
          </p:nvPr>
        </p:nvSpPr>
        <p:spPr>
          <a:xfrm>
            <a:off x="1022035" y="1599757"/>
            <a:ext cx="10738166"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C87D6031-A671-4CA7-B8CD-855A9E548B71}"/>
              </a:ext>
            </a:extLst>
          </p:cNvPr>
          <p:cNvSpPr>
            <a:spLocks noGrp="1"/>
          </p:cNvSpPr>
          <p:nvPr>
            <p:ph type="body" sz="quarter" idx="25" hasCustomPrompt="1"/>
          </p:nvPr>
        </p:nvSpPr>
        <p:spPr>
          <a:xfrm>
            <a:off x="1022033" y="1925740"/>
            <a:ext cx="10738167" cy="177997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C0E66309-A0FA-530A-0FA7-3F979A9EA203}"/>
              </a:ext>
            </a:extLst>
          </p:cNvPr>
          <p:cNvSpPr>
            <a:spLocks noGrp="1"/>
          </p:cNvSpPr>
          <p:nvPr>
            <p:ph type="title" hasCustomPrompt="1"/>
          </p:nvPr>
        </p:nvSpPr>
        <p:spPr>
          <a:xfrm>
            <a:off x="1022033" y="983387"/>
            <a:ext cx="7585892" cy="502766"/>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181895872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864B2C5F-15A1-0237-E736-B18B7007540E}"/>
              </a:ext>
            </a:extLst>
          </p:cNvPr>
          <p:cNvSpPr>
            <a:spLocks noGrp="1"/>
          </p:cNvSpPr>
          <p:nvPr>
            <p:ph type="body" sz="quarter" idx="11" hasCustomPrompt="1"/>
          </p:nvPr>
        </p:nvSpPr>
        <p:spPr>
          <a:xfrm>
            <a:off x="1030312" y="1995377"/>
            <a:ext cx="4484112"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FIRST NAME LAST NAME</a:t>
            </a:r>
          </a:p>
        </p:txBody>
      </p:sp>
      <p:sp>
        <p:nvSpPr>
          <p:cNvPr id="18" name="Text Placeholder 15">
            <a:extLst>
              <a:ext uri="{FF2B5EF4-FFF2-40B4-BE49-F238E27FC236}">
                <a16:creationId xmlns:a16="http://schemas.microsoft.com/office/drawing/2014/main" id="{5C6495FB-2E37-9EEA-E8C5-67126F522F98}"/>
              </a:ext>
            </a:extLst>
          </p:cNvPr>
          <p:cNvSpPr>
            <a:spLocks noGrp="1"/>
          </p:cNvSpPr>
          <p:nvPr>
            <p:ph type="body" sz="quarter" idx="12" hasCustomPrompt="1"/>
          </p:nvPr>
        </p:nvSpPr>
        <p:spPr>
          <a:xfrm>
            <a:off x="1030312" y="2401776"/>
            <a:ext cx="4484112" cy="238003"/>
          </a:xfrm>
          <a:prstGeom prst="rect">
            <a:avLst/>
          </a:prstGeom>
        </p:spPr>
        <p:txBody>
          <a:bodyPr/>
          <a:lstStyle>
            <a:lvl1pPr marL="0" indent="0" algn="l" defTabSz="609585" rtl="0" eaLnBrk="1" latinLnBrk="0" hangingPunct="1">
              <a:lnSpc>
                <a:spcPct val="100000"/>
              </a:lnSpc>
              <a:buNone/>
              <a:defRPr lang="en-SA" sz="1067" kern="1200" dirty="0">
                <a:solidFill>
                  <a:schemeClr val="tx2"/>
                </a:solidFill>
                <a:latin typeface="Fund Light" pitchFamily="2" charset="-78"/>
                <a:ea typeface="+mn-ea"/>
                <a:cs typeface="Fund Light" pitchFamily="2" charset="-78"/>
              </a:defRPr>
            </a:lvl1pPr>
          </a:lstStyle>
          <a:p>
            <a:pPr lvl="0"/>
            <a:r>
              <a:rPr lang="en-US"/>
              <a:t>POSITION</a:t>
            </a:r>
            <a:endParaRPr lang="en-SA"/>
          </a:p>
        </p:txBody>
      </p:sp>
      <p:sp>
        <p:nvSpPr>
          <p:cNvPr id="40" name="Picture Placeholder 38">
            <a:extLst>
              <a:ext uri="{FF2B5EF4-FFF2-40B4-BE49-F238E27FC236}">
                <a16:creationId xmlns:a16="http://schemas.microsoft.com/office/drawing/2014/main" id="{936645E6-889A-5051-D79B-F4C7655AD7E6}"/>
              </a:ext>
            </a:extLst>
          </p:cNvPr>
          <p:cNvSpPr>
            <a:spLocks noGrp="1"/>
          </p:cNvSpPr>
          <p:nvPr>
            <p:ph type="pic" sz="quarter" idx="14"/>
          </p:nvPr>
        </p:nvSpPr>
        <p:spPr>
          <a:xfrm>
            <a:off x="7812856" y="2276415"/>
            <a:ext cx="2319083" cy="2319083"/>
          </a:xfrm>
          <a:prstGeom prst="ellipse">
            <a:avLst/>
          </a:prstGeom>
        </p:spPr>
        <p:txBody>
          <a:bodyPr anchor="ctr"/>
          <a:lstStyle>
            <a:lvl1pPr marL="0" indent="0" algn="ctr">
              <a:buNone/>
              <a:defRPr sz="1867">
                <a:latin typeface="Montserrat-Arabic" panose="00000500000000000000" pitchFamily="2" charset="-78"/>
                <a:cs typeface="Montserrat-Arabic" panose="00000500000000000000" pitchFamily="2" charset="-78"/>
              </a:defRPr>
            </a:lvl1pPr>
          </a:lstStyle>
          <a:p>
            <a:endParaRPr lang="en-SA"/>
          </a:p>
        </p:txBody>
      </p:sp>
      <p:sp>
        <p:nvSpPr>
          <p:cNvPr id="41" name="Oval 40">
            <a:extLst>
              <a:ext uri="{FF2B5EF4-FFF2-40B4-BE49-F238E27FC236}">
                <a16:creationId xmlns:a16="http://schemas.microsoft.com/office/drawing/2014/main" id="{5AAC91EF-9292-BEF6-ACFB-00D499714556}"/>
              </a:ext>
            </a:extLst>
          </p:cNvPr>
          <p:cNvSpPr/>
          <p:nvPr userDrawn="1"/>
        </p:nvSpPr>
        <p:spPr>
          <a:xfrm>
            <a:off x="7669127" y="2132686"/>
            <a:ext cx="2606541" cy="2606541"/>
          </a:xfrm>
          <a:prstGeom prst="ellipse">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sz="2400">
              <a:latin typeface="Montserrat-Arabic" panose="00000500000000000000" pitchFamily="2" charset="-78"/>
            </a:endParaRPr>
          </a:p>
        </p:txBody>
      </p:sp>
      <p:sp>
        <p:nvSpPr>
          <p:cNvPr id="3" name="Text Placeholder 26">
            <a:extLst>
              <a:ext uri="{FF2B5EF4-FFF2-40B4-BE49-F238E27FC236}">
                <a16:creationId xmlns:a16="http://schemas.microsoft.com/office/drawing/2014/main" id="{A29F6922-69E1-848C-3CCA-641E2B1D80FF}"/>
              </a:ext>
            </a:extLst>
          </p:cNvPr>
          <p:cNvSpPr>
            <a:spLocks noGrp="1"/>
          </p:cNvSpPr>
          <p:nvPr>
            <p:ph type="body" sz="quarter" idx="25" hasCustomPrompt="1"/>
          </p:nvPr>
        </p:nvSpPr>
        <p:spPr>
          <a:xfrm>
            <a:off x="1022033" y="2783509"/>
            <a:ext cx="4500691" cy="260653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139392B3-A5E4-AB28-63E2-C80852AF00CB}"/>
              </a:ext>
            </a:extLst>
          </p:cNvPr>
          <p:cNvSpPr>
            <a:spLocks noGrp="1"/>
          </p:cNvSpPr>
          <p:nvPr>
            <p:ph type="title" hasCustomPrompt="1"/>
          </p:nvPr>
        </p:nvSpPr>
        <p:spPr>
          <a:xfrm>
            <a:off x="1022033" y="983386"/>
            <a:ext cx="7585892" cy="484567"/>
          </a:xfrm>
        </p:spPr>
        <p:txBody>
          <a:bodyPr/>
          <a:lstStyle>
            <a:lvl1pPr>
              <a:defRPr sz="2600"/>
            </a:lvl1pPr>
          </a:lstStyle>
          <a:p>
            <a:r>
              <a:rPr lang="en-US"/>
              <a:t>CLICK TO EDIT MASTER TITLE STYLE</a:t>
            </a:r>
            <a:endParaRPr lang="en-SA"/>
          </a:p>
        </p:txBody>
      </p:sp>
    </p:spTree>
    <p:extLst>
      <p:ext uri="{BB962C8B-B14F-4D97-AF65-F5344CB8AC3E}">
        <p14:creationId xmlns:p14="http://schemas.microsoft.com/office/powerpoint/2010/main" val="203609830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Profile">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6BAFF34A-EDD5-AC5C-03F6-4E5B273FAD86}"/>
              </a:ext>
            </a:extLst>
          </p:cNvPr>
          <p:cNvSpPr>
            <a:spLocks noGrp="1"/>
          </p:cNvSpPr>
          <p:nvPr>
            <p:ph type="body" sz="quarter" idx="11" hasCustomPrompt="1"/>
          </p:nvPr>
        </p:nvSpPr>
        <p:spPr>
          <a:xfrm>
            <a:off x="1030280" y="2092913"/>
            <a:ext cx="4475864"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28453984-8213-F149-1272-6CB1D89FF1F5}"/>
              </a:ext>
            </a:extLst>
          </p:cNvPr>
          <p:cNvSpPr>
            <a:spLocks noGrp="1"/>
          </p:cNvSpPr>
          <p:nvPr>
            <p:ph type="body" sz="quarter" idx="25" hasCustomPrompt="1"/>
          </p:nvPr>
        </p:nvSpPr>
        <p:spPr>
          <a:xfrm>
            <a:off x="1022033" y="2539669"/>
            <a:ext cx="4492412" cy="2606537"/>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A57B1658-19CD-AEC4-A12E-8D62D086CE5F}"/>
              </a:ext>
            </a:extLst>
          </p:cNvPr>
          <p:cNvSpPr>
            <a:spLocks noGrp="1"/>
          </p:cNvSpPr>
          <p:nvPr>
            <p:ph type="title" hasCustomPrompt="1"/>
          </p:nvPr>
        </p:nvSpPr>
        <p:spPr>
          <a:xfrm>
            <a:off x="1022033" y="983387"/>
            <a:ext cx="7585892" cy="502766"/>
          </a:xfrm>
        </p:spPr>
        <p:txBody>
          <a:bodyPr/>
          <a:lstStyle/>
          <a:p>
            <a:r>
              <a:rPr lang="en-US"/>
              <a:t>CLICK TO EDIT MASTER TITLE STYLE</a:t>
            </a:r>
            <a:endParaRPr lang="en-SA"/>
          </a:p>
        </p:txBody>
      </p:sp>
    </p:spTree>
    <p:extLst>
      <p:ext uri="{BB962C8B-B14F-4D97-AF65-F5344CB8AC3E}">
        <p14:creationId xmlns:p14="http://schemas.microsoft.com/office/powerpoint/2010/main" val="118048058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umber">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661DDD9-977E-A43B-4A90-ABE38DAD5356}"/>
              </a:ext>
            </a:extLst>
          </p:cNvPr>
          <p:cNvCxnSpPr>
            <a:cxnSpLocks/>
          </p:cNvCxnSpPr>
          <p:nvPr userDrawn="1"/>
        </p:nvCxnSpPr>
        <p:spPr>
          <a:xfrm>
            <a:off x="429144" y="3874156"/>
            <a:ext cx="11331029"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F65909-14A7-2935-FEB5-DFB0A8192A6D}"/>
              </a:ext>
            </a:extLst>
          </p:cNvPr>
          <p:cNvCxnSpPr>
            <a:cxnSpLocks/>
          </p:cNvCxnSpPr>
          <p:nvPr userDrawn="1"/>
        </p:nvCxnSpPr>
        <p:spPr>
          <a:xfrm>
            <a:off x="429144" y="5449592"/>
            <a:ext cx="11331029"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sp>
        <p:nvSpPr>
          <p:cNvPr id="48" name="Text Placeholder 15">
            <a:extLst>
              <a:ext uri="{FF2B5EF4-FFF2-40B4-BE49-F238E27FC236}">
                <a16:creationId xmlns:a16="http://schemas.microsoft.com/office/drawing/2014/main" id="{AC6F0ABF-1730-83F6-4BF3-9FF97AE5EAE5}"/>
              </a:ext>
            </a:extLst>
          </p:cNvPr>
          <p:cNvSpPr>
            <a:spLocks noGrp="1"/>
          </p:cNvSpPr>
          <p:nvPr>
            <p:ph type="body" sz="quarter" idx="14" hasCustomPrompt="1"/>
          </p:nvPr>
        </p:nvSpPr>
        <p:spPr>
          <a:xfrm>
            <a:off x="9242519"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49" name="Text Placeholder 15">
            <a:extLst>
              <a:ext uri="{FF2B5EF4-FFF2-40B4-BE49-F238E27FC236}">
                <a16:creationId xmlns:a16="http://schemas.microsoft.com/office/drawing/2014/main" id="{4267A293-ABD0-5AA1-EBE7-F0C1C00CC67E}"/>
              </a:ext>
            </a:extLst>
          </p:cNvPr>
          <p:cNvSpPr>
            <a:spLocks noGrp="1"/>
          </p:cNvSpPr>
          <p:nvPr>
            <p:ph type="body" sz="quarter" idx="15" hasCustomPrompt="1"/>
          </p:nvPr>
        </p:nvSpPr>
        <p:spPr>
          <a:xfrm>
            <a:off x="9242519"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56" name="Text Placeholder 15">
            <a:extLst>
              <a:ext uri="{FF2B5EF4-FFF2-40B4-BE49-F238E27FC236}">
                <a16:creationId xmlns:a16="http://schemas.microsoft.com/office/drawing/2014/main" id="{2D7E3E82-D109-BAE5-A33C-C12AAC8CA330}"/>
              </a:ext>
            </a:extLst>
          </p:cNvPr>
          <p:cNvSpPr>
            <a:spLocks noGrp="1"/>
          </p:cNvSpPr>
          <p:nvPr>
            <p:ph type="body" sz="quarter" idx="16" hasCustomPrompt="1"/>
          </p:nvPr>
        </p:nvSpPr>
        <p:spPr>
          <a:xfrm>
            <a:off x="6802874"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57" name="Text Placeholder 15">
            <a:extLst>
              <a:ext uri="{FF2B5EF4-FFF2-40B4-BE49-F238E27FC236}">
                <a16:creationId xmlns:a16="http://schemas.microsoft.com/office/drawing/2014/main" id="{758AFB6A-B660-04E2-84AD-E45B888A97A5}"/>
              </a:ext>
            </a:extLst>
          </p:cNvPr>
          <p:cNvSpPr>
            <a:spLocks noGrp="1"/>
          </p:cNvSpPr>
          <p:nvPr>
            <p:ph type="body" sz="quarter" idx="17" hasCustomPrompt="1"/>
          </p:nvPr>
        </p:nvSpPr>
        <p:spPr>
          <a:xfrm>
            <a:off x="6802874"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0" name="Text Placeholder 15">
            <a:extLst>
              <a:ext uri="{FF2B5EF4-FFF2-40B4-BE49-F238E27FC236}">
                <a16:creationId xmlns:a16="http://schemas.microsoft.com/office/drawing/2014/main" id="{3F810960-53C9-0AD8-43D9-803A37E6DDD2}"/>
              </a:ext>
            </a:extLst>
          </p:cNvPr>
          <p:cNvSpPr>
            <a:spLocks noGrp="1"/>
          </p:cNvSpPr>
          <p:nvPr>
            <p:ph type="body" sz="quarter" idx="18" hasCustomPrompt="1"/>
          </p:nvPr>
        </p:nvSpPr>
        <p:spPr>
          <a:xfrm>
            <a:off x="4363230"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61" name="Text Placeholder 15">
            <a:extLst>
              <a:ext uri="{FF2B5EF4-FFF2-40B4-BE49-F238E27FC236}">
                <a16:creationId xmlns:a16="http://schemas.microsoft.com/office/drawing/2014/main" id="{36AD7C43-4CE8-C7CB-436A-C20D7ECAEAD8}"/>
              </a:ext>
            </a:extLst>
          </p:cNvPr>
          <p:cNvSpPr>
            <a:spLocks noGrp="1"/>
          </p:cNvSpPr>
          <p:nvPr>
            <p:ph type="body" sz="quarter" idx="19" hasCustomPrompt="1"/>
          </p:nvPr>
        </p:nvSpPr>
        <p:spPr>
          <a:xfrm>
            <a:off x="4363230"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2" name="Text Placeholder 15">
            <a:extLst>
              <a:ext uri="{FF2B5EF4-FFF2-40B4-BE49-F238E27FC236}">
                <a16:creationId xmlns:a16="http://schemas.microsoft.com/office/drawing/2014/main" id="{F0991BFD-A505-06C6-1BCA-EF591B183028}"/>
              </a:ext>
            </a:extLst>
          </p:cNvPr>
          <p:cNvSpPr>
            <a:spLocks noGrp="1"/>
          </p:cNvSpPr>
          <p:nvPr>
            <p:ph type="body" sz="quarter" idx="20" hasCustomPrompt="1"/>
          </p:nvPr>
        </p:nvSpPr>
        <p:spPr>
          <a:xfrm>
            <a:off x="1923586" y="3985663"/>
            <a:ext cx="2047687"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63" name="Text Placeholder 15">
            <a:extLst>
              <a:ext uri="{FF2B5EF4-FFF2-40B4-BE49-F238E27FC236}">
                <a16:creationId xmlns:a16="http://schemas.microsoft.com/office/drawing/2014/main" id="{8D1A3567-2F75-025E-E85F-797AEEC96802}"/>
              </a:ext>
            </a:extLst>
          </p:cNvPr>
          <p:cNvSpPr>
            <a:spLocks noGrp="1"/>
          </p:cNvSpPr>
          <p:nvPr>
            <p:ph type="body" sz="quarter" idx="21" hasCustomPrompt="1"/>
          </p:nvPr>
        </p:nvSpPr>
        <p:spPr>
          <a:xfrm>
            <a:off x="1923586" y="4690744"/>
            <a:ext cx="2047687" cy="333253"/>
          </a:xfrm>
          <a:prstGeom prst="rect">
            <a:avLst/>
          </a:prstGeom>
        </p:spPr>
        <p:txBody>
          <a:bodyPr/>
          <a:lstStyle>
            <a:lvl1pPr marL="0" indent="0" algn="just" defTabSz="609585" rtl="0" eaLnBrk="1" latinLnBrk="0" hangingPunct="1">
              <a:lnSpc>
                <a:spcPct val="100000"/>
              </a:lnSpc>
              <a:buNone/>
              <a:defRPr lang="en-US" sz="1067" b="0" i="0" kern="1200" dirty="0" smtClean="0">
                <a:solidFill>
                  <a:schemeClr val="accent3"/>
                </a:solidFill>
                <a:latin typeface="Fund Light" pitchFamily="2" charset="-78"/>
                <a:ea typeface="+mn-ea"/>
                <a:cs typeface="Fund Light" pitchFamily="2" charset="-78"/>
              </a:defRPr>
            </a:lvl1pPr>
          </a:lstStyle>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Text Goes Here</a:t>
            </a:r>
          </a:p>
          <a:p>
            <a:pPr marL="0" marR="0" lvl="0" indent="0" algn="l" defTabSz="609585"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a:p>
        </p:txBody>
      </p:sp>
      <p:sp>
        <p:nvSpPr>
          <p:cNvPr id="65" name="Text Placeholder 15">
            <a:extLst>
              <a:ext uri="{FF2B5EF4-FFF2-40B4-BE49-F238E27FC236}">
                <a16:creationId xmlns:a16="http://schemas.microsoft.com/office/drawing/2014/main" id="{DB84D0C2-BD08-2A9C-C094-A95884FDECCD}"/>
              </a:ext>
            </a:extLst>
          </p:cNvPr>
          <p:cNvSpPr>
            <a:spLocks noGrp="1"/>
          </p:cNvSpPr>
          <p:nvPr>
            <p:ph type="body" sz="quarter" idx="22" hasCustomPrompt="1"/>
          </p:nvPr>
        </p:nvSpPr>
        <p:spPr>
          <a:xfrm>
            <a:off x="1019279" y="3626021"/>
            <a:ext cx="2038891" cy="231835"/>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66" name="Text Placeholder 15">
            <a:extLst>
              <a:ext uri="{FF2B5EF4-FFF2-40B4-BE49-F238E27FC236}">
                <a16:creationId xmlns:a16="http://schemas.microsoft.com/office/drawing/2014/main" id="{C98837D2-B7AD-AE89-C07A-28E7E4B36ADD}"/>
              </a:ext>
            </a:extLst>
          </p:cNvPr>
          <p:cNvSpPr>
            <a:spLocks noGrp="1"/>
          </p:cNvSpPr>
          <p:nvPr>
            <p:ph type="body" sz="quarter" idx="23" hasCustomPrompt="1"/>
          </p:nvPr>
        </p:nvSpPr>
        <p:spPr>
          <a:xfrm>
            <a:off x="1019280" y="5179821"/>
            <a:ext cx="2025911" cy="231835"/>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67" name="Text Placeholder 15">
            <a:extLst>
              <a:ext uri="{FF2B5EF4-FFF2-40B4-BE49-F238E27FC236}">
                <a16:creationId xmlns:a16="http://schemas.microsoft.com/office/drawing/2014/main" id="{BA9EE524-38F5-6CAA-C076-6059B2ACC4DC}"/>
              </a:ext>
            </a:extLst>
          </p:cNvPr>
          <p:cNvSpPr>
            <a:spLocks noGrp="1"/>
          </p:cNvSpPr>
          <p:nvPr>
            <p:ph type="body" sz="quarter" idx="24" hasCustomPrompt="1"/>
          </p:nvPr>
        </p:nvSpPr>
        <p:spPr>
          <a:xfrm>
            <a:off x="1019280" y="5604705"/>
            <a:ext cx="1506617" cy="677596"/>
          </a:xfrm>
          <a:prstGeom prst="rect">
            <a:avLst/>
          </a:prstGeom>
        </p:spPr>
        <p:txBody>
          <a:bodyPr lIns="0" tIns="0" rIns="0" bIns="0"/>
          <a:lstStyle>
            <a:lvl1pPr marL="0" indent="0" algn="l" defTabSz="609585" rtl="0" eaLnBrk="1" latinLnBrk="0" hangingPunct="1">
              <a:lnSpc>
                <a:spcPct val="100000"/>
              </a:lnSpc>
              <a:buNone/>
              <a:defRPr lang="en-US" sz="4267"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5" name="Text Placeholder 15">
            <a:extLst>
              <a:ext uri="{FF2B5EF4-FFF2-40B4-BE49-F238E27FC236}">
                <a16:creationId xmlns:a16="http://schemas.microsoft.com/office/drawing/2014/main" id="{7D77703E-9CAE-D8FB-4979-33FD8E5761D1}"/>
              </a:ext>
            </a:extLst>
          </p:cNvPr>
          <p:cNvSpPr>
            <a:spLocks noGrp="1"/>
          </p:cNvSpPr>
          <p:nvPr>
            <p:ph type="body" sz="quarter" idx="25" hasCustomPrompt="1"/>
          </p:nvPr>
        </p:nvSpPr>
        <p:spPr>
          <a:xfrm>
            <a:off x="5485278" y="5604705"/>
            <a:ext cx="1525012" cy="677596"/>
          </a:xfrm>
          <a:prstGeom prst="rect">
            <a:avLst/>
          </a:prstGeom>
        </p:spPr>
        <p:txBody>
          <a:bodyPr lIns="36000" tIns="36000" rIns="36000" bIns="36000"/>
          <a:lstStyle>
            <a:lvl1pPr marL="0" indent="0" algn="l" defTabSz="609585" rtl="0" eaLnBrk="1" latinLnBrk="0" hangingPunct="1">
              <a:lnSpc>
                <a:spcPct val="100000"/>
              </a:lnSpc>
              <a:buNone/>
              <a:defRPr lang="en-US" sz="4267" kern="1200" dirty="0" smtClean="0">
                <a:solidFill>
                  <a:schemeClr val="accent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6" name="Text Placeholder 15">
            <a:extLst>
              <a:ext uri="{FF2B5EF4-FFF2-40B4-BE49-F238E27FC236}">
                <a16:creationId xmlns:a16="http://schemas.microsoft.com/office/drawing/2014/main" id="{B73D3E4A-45DC-7D48-A91D-E4528F3461DE}"/>
              </a:ext>
            </a:extLst>
          </p:cNvPr>
          <p:cNvSpPr>
            <a:spLocks noGrp="1"/>
          </p:cNvSpPr>
          <p:nvPr>
            <p:ph type="body" sz="quarter" idx="26" hasCustomPrompt="1"/>
          </p:nvPr>
        </p:nvSpPr>
        <p:spPr>
          <a:xfrm>
            <a:off x="1019279" y="1547150"/>
            <a:ext cx="1817485" cy="1429633"/>
          </a:xfrm>
          <a:prstGeom prst="rect">
            <a:avLst/>
          </a:prstGeom>
        </p:spPr>
        <p:txBody>
          <a:bodyPr lIns="0" tIns="0" rIns="0" bIns="0"/>
          <a:lstStyle>
            <a:lvl1pPr marL="0" indent="0" algn="l" defTabSz="609585" rtl="0" eaLnBrk="1" latinLnBrk="0" hangingPunct="1">
              <a:lnSpc>
                <a:spcPct val="100000"/>
              </a:lnSpc>
              <a:buNone/>
              <a:defRPr lang="en-US" sz="9600"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00</a:t>
            </a:r>
          </a:p>
        </p:txBody>
      </p:sp>
      <p:sp>
        <p:nvSpPr>
          <p:cNvPr id="77" name="Text Placeholder 15">
            <a:extLst>
              <a:ext uri="{FF2B5EF4-FFF2-40B4-BE49-F238E27FC236}">
                <a16:creationId xmlns:a16="http://schemas.microsoft.com/office/drawing/2014/main" id="{8F6EA972-9D94-A23C-C50F-CAA1A5CFCDD6}"/>
              </a:ext>
            </a:extLst>
          </p:cNvPr>
          <p:cNvSpPr>
            <a:spLocks noGrp="1"/>
          </p:cNvSpPr>
          <p:nvPr>
            <p:ph type="body" sz="quarter" idx="27" hasCustomPrompt="1"/>
          </p:nvPr>
        </p:nvSpPr>
        <p:spPr>
          <a:xfrm>
            <a:off x="2905131" y="1961797"/>
            <a:ext cx="733592" cy="811791"/>
          </a:xfrm>
          <a:prstGeom prst="rect">
            <a:avLst/>
          </a:prstGeom>
        </p:spPr>
        <p:txBody>
          <a:bodyPr lIns="36000" tIns="36000" rIns="36000" bIns="36000"/>
          <a:lstStyle>
            <a:lvl1pPr marL="0" indent="0" algn="l" defTabSz="609585" rtl="0" eaLnBrk="1" latinLnBrk="0" hangingPunct="1">
              <a:lnSpc>
                <a:spcPct val="100000"/>
              </a:lnSpc>
              <a:buNone/>
              <a:defRPr lang="en-US" sz="5867" kern="1200" dirty="0" smtClean="0">
                <a:solidFill>
                  <a:schemeClr val="bg2"/>
                </a:solidFill>
                <a:latin typeface="Montserrat-Arabic" panose="00000500000000000000" pitchFamily="2" charset="-78"/>
                <a:ea typeface="+mn-ea"/>
                <a:cs typeface="Montserrat-Arabic" panose="00000500000000000000" pitchFamily="2" charset="-78"/>
              </a:defRPr>
            </a:lvl1pPr>
          </a:lstStyle>
          <a:p>
            <a:pPr lvl="0"/>
            <a:r>
              <a:rPr lang="en-US"/>
              <a:t>K</a:t>
            </a:r>
          </a:p>
        </p:txBody>
      </p:sp>
      <p:sp>
        <p:nvSpPr>
          <p:cNvPr id="78" name="Text Placeholder 15">
            <a:extLst>
              <a:ext uri="{FF2B5EF4-FFF2-40B4-BE49-F238E27FC236}">
                <a16:creationId xmlns:a16="http://schemas.microsoft.com/office/drawing/2014/main" id="{369622A4-8D44-CBB1-A4B4-53006005B5D9}"/>
              </a:ext>
            </a:extLst>
          </p:cNvPr>
          <p:cNvSpPr>
            <a:spLocks noGrp="1"/>
          </p:cNvSpPr>
          <p:nvPr>
            <p:ph type="body" sz="quarter" idx="28" hasCustomPrompt="1"/>
          </p:nvPr>
        </p:nvSpPr>
        <p:spPr>
          <a:xfrm>
            <a:off x="1019280" y="3056816"/>
            <a:ext cx="2619443" cy="292659"/>
          </a:xfrm>
          <a:prstGeom prst="rect">
            <a:avLst/>
          </a:prstGeom>
        </p:spPr>
        <p:txBody>
          <a:bodyPr lIns="0" tIns="0" rIns="0" bIns="0"/>
          <a:lstStyle>
            <a:lvl1pPr marL="0" indent="0" algn="l" defTabSz="609585" rtl="0" eaLnBrk="1" latinLnBrk="0" hangingPunct="1">
              <a:lnSpc>
                <a:spcPct val="100000"/>
              </a:lnSpc>
              <a:buNone/>
              <a:defRPr lang="en-US" sz="933" kern="1200" spc="4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TITLE</a:t>
            </a:r>
          </a:p>
        </p:txBody>
      </p:sp>
      <p:sp>
        <p:nvSpPr>
          <p:cNvPr id="3" name="Text Placeholder 15">
            <a:extLst>
              <a:ext uri="{FF2B5EF4-FFF2-40B4-BE49-F238E27FC236}">
                <a16:creationId xmlns:a16="http://schemas.microsoft.com/office/drawing/2014/main" id="{137D3A14-6950-EAE7-638F-B2D4A63FB0FD}"/>
              </a:ext>
            </a:extLst>
          </p:cNvPr>
          <p:cNvSpPr>
            <a:spLocks noGrp="1"/>
          </p:cNvSpPr>
          <p:nvPr>
            <p:ph type="body" sz="quarter" idx="11" hasCustomPrompt="1"/>
          </p:nvPr>
        </p:nvSpPr>
        <p:spPr>
          <a:xfrm>
            <a:off x="4361528" y="1651352"/>
            <a:ext cx="7398672" cy="324748"/>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19714FDA-0467-8D40-1595-E528EBA7CBDD}"/>
              </a:ext>
            </a:extLst>
          </p:cNvPr>
          <p:cNvSpPr>
            <a:spLocks noGrp="1"/>
          </p:cNvSpPr>
          <p:nvPr>
            <p:ph type="body" sz="quarter" idx="29" hasCustomPrompt="1"/>
          </p:nvPr>
        </p:nvSpPr>
        <p:spPr>
          <a:xfrm>
            <a:off x="4353229" y="2098109"/>
            <a:ext cx="7406944" cy="1379952"/>
          </a:xfrm>
        </p:spPr>
        <p:txBody>
          <a:bodyPr>
            <a:normAutofit/>
          </a:bodyPr>
          <a:lstStyle>
            <a:lvl1pPr algn="just">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19F4C6B2-460B-0061-75C8-D91DB88B87CD}"/>
              </a:ext>
            </a:extLst>
          </p:cNvPr>
          <p:cNvSpPr>
            <a:spLocks noGrp="1"/>
          </p:cNvSpPr>
          <p:nvPr>
            <p:ph type="title" hasCustomPrompt="1"/>
          </p:nvPr>
        </p:nvSpPr>
        <p:spPr>
          <a:xfrm>
            <a:off x="1022033" y="983387"/>
            <a:ext cx="7585892" cy="461729"/>
          </a:xfrm>
          <a:noFill/>
        </p:spPr>
        <p:txBody>
          <a:bodyPr wrap="square" rtlCol="0">
            <a:spAutoFit/>
          </a:bodyPr>
          <a:lstStyle>
            <a:lvl1pPr>
              <a:defRPr lang="en-SA" sz="2600" b="1" dirty="0">
                <a:solidFill>
                  <a:schemeClr val="bg2"/>
                </a:solidFill>
                <a:latin typeface="Alexandria SemiBold" pitchFamily="2" charset="-78"/>
                <a:ea typeface="Open Sans ExtraBold" panose="020B0906030804020204" pitchFamily="34" charset="0"/>
                <a:cs typeface="Alexandria SemiBold" pitchFamily="2" charset="-78"/>
              </a:defRPr>
            </a:lvl1pPr>
          </a:lstStyle>
          <a:p>
            <a:pPr marL="0" lvl="0"/>
            <a:r>
              <a:rPr lang="en-US"/>
              <a:t>CLICK TO EDIT MASTER TITLE STYLE</a:t>
            </a:r>
            <a:endParaRPr lang="en-SA"/>
          </a:p>
        </p:txBody>
      </p:sp>
    </p:spTree>
    <p:extLst>
      <p:ext uri="{BB962C8B-B14F-4D97-AF65-F5344CB8AC3E}">
        <p14:creationId xmlns:p14="http://schemas.microsoft.com/office/powerpoint/2010/main" val="294009766"/>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Content with Title">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99ADD64-F710-373E-44C9-29E181EAC7A0}"/>
              </a:ext>
            </a:extLst>
          </p:cNvPr>
          <p:cNvSpPr/>
          <p:nvPr/>
        </p:nvSpPr>
        <p:spPr>
          <a:xfrm>
            <a:off x="1022033" y="3233276"/>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73" name="Text Placeholder 15">
            <a:extLst>
              <a:ext uri="{FF2B5EF4-FFF2-40B4-BE49-F238E27FC236}">
                <a16:creationId xmlns:a16="http://schemas.microsoft.com/office/drawing/2014/main" id="{5F955A93-28FC-73D1-14F2-B171E0C8D7D4}"/>
              </a:ext>
            </a:extLst>
          </p:cNvPr>
          <p:cNvSpPr>
            <a:spLocks noGrp="1"/>
          </p:cNvSpPr>
          <p:nvPr>
            <p:ph type="body" sz="quarter" idx="14" hasCustomPrompt="1"/>
          </p:nvPr>
        </p:nvSpPr>
        <p:spPr>
          <a:xfrm>
            <a:off x="1042758" y="4221929"/>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75" name="Text Placeholder 15">
            <a:extLst>
              <a:ext uri="{FF2B5EF4-FFF2-40B4-BE49-F238E27FC236}">
                <a16:creationId xmlns:a16="http://schemas.microsoft.com/office/drawing/2014/main" id="{1B8B7915-F4BB-82A6-AE61-7A6F7B962E43}"/>
              </a:ext>
            </a:extLst>
          </p:cNvPr>
          <p:cNvSpPr>
            <a:spLocks noGrp="1"/>
          </p:cNvSpPr>
          <p:nvPr>
            <p:ph type="body" sz="quarter" idx="15" hasCustomPrompt="1"/>
          </p:nvPr>
        </p:nvSpPr>
        <p:spPr>
          <a:xfrm>
            <a:off x="1042758" y="4853298"/>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79" name="Oval 78">
            <a:extLst>
              <a:ext uri="{FF2B5EF4-FFF2-40B4-BE49-F238E27FC236}">
                <a16:creationId xmlns:a16="http://schemas.microsoft.com/office/drawing/2014/main" id="{C405FF7B-5C06-ACC1-11F0-D60ECC8FFF62}"/>
              </a:ext>
            </a:extLst>
          </p:cNvPr>
          <p:cNvSpPr/>
          <p:nvPr userDrawn="1"/>
        </p:nvSpPr>
        <p:spPr>
          <a:xfrm>
            <a:off x="4982358" y="3233276"/>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80" name="Text Placeholder 15">
            <a:extLst>
              <a:ext uri="{FF2B5EF4-FFF2-40B4-BE49-F238E27FC236}">
                <a16:creationId xmlns:a16="http://schemas.microsoft.com/office/drawing/2014/main" id="{76F536E2-44A4-94EB-6605-A77D27B439AC}"/>
              </a:ext>
            </a:extLst>
          </p:cNvPr>
          <p:cNvSpPr>
            <a:spLocks noGrp="1"/>
          </p:cNvSpPr>
          <p:nvPr>
            <p:ph type="body" sz="quarter" idx="16" hasCustomPrompt="1"/>
          </p:nvPr>
        </p:nvSpPr>
        <p:spPr>
          <a:xfrm>
            <a:off x="4992722" y="4221929"/>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81" name="Text Placeholder 15">
            <a:extLst>
              <a:ext uri="{FF2B5EF4-FFF2-40B4-BE49-F238E27FC236}">
                <a16:creationId xmlns:a16="http://schemas.microsoft.com/office/drawing/2014/main" id="{36CC5434-AF46-006D-15E3-334ADBF0BC54}"/>
              </a:ext>
            </a:extLst>
          </p:cNvPr>
          <p:cNvSpPr>
            <a:spLocks noGrp="1"/>
          </p:cNvSpPr>
          <p:nvPr>
            <p:ph type="body" sz="quarter" idx="17" hasCustomPrompt="1"/>
          </p:nvPr>
        </p:nvSpPr>
        <p:spPr>
          <a:xfrm>
            <a:off x="4992722" y="4853298"/>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82" name="Oval 81">
            <a:extLst>
              <a:ext uri="{FF2B5EF4-FFF2-40B4-BE49-F238E27FC236}">
                <a16:creationId xmlns:a16="http://schemas.microsoft.com/office/drawing/2014/main" id="{847E210C-BB3E-A513-EBBB-1A4D988104EF}"/>
              </a:ext>
            </a:extLst>
          </p:cNvPr>
          <p:cNvSpPr/>
          <p:nvPr userDrawn="1"/>
        </p:nvSpPr>
        <p:spPr>
          <a:xfrm>
            <a:off x="8942682" y="3222390"/>
            <a:ext cx="2791895" cy="2791893"/>
          </a:xfrm>
          <a:prstGeom prst="ellipse">
            <a:avLst/>
          </a:prstGeom>
          <a:solidFill>
            <a:schemeClr val="accent5">
              <a:lumMod val="60000"/>
              <a:lumOff val="40000"/>
              <a:alpha val="8247"/>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667">
              <a:latin typeface="Montserrat-Arabic" panose="00000500000000000000" pitchFamily="2" charset="-78"/>
              <a:cs typeface="Montserrat-Arabic" panose="00000500000000000000" pitchFamily="2" charset="-78"/>
            </a:endParaRPr>
          </a:p>
        </p:txBody>
      </p:sp>
      <p:sp>
        <p:nvSpPr>
          <p:cNvPr id="83" name="Text Placeholder 15">
            <a:extLst>
              <a:ext uri="{FF2B5EF4-FFF2-40B4-BE49-F238E27FC236}">
                <a16:creationId xmlns:a16="http://schemas.microsoft.com/office/drawing/2014/main" id="{B2716802-75AE-5B3E-4005-AF177430077D}"/>
              </a:ext>
            </a:extLst>
          </p:cNvPr>
          <p:cNvSpPr>
            <a:spLocks noGrp="1"/>
          </p:cNvSpPr>
          <p:nvPr>
            <p:ph type="body" sz="quarter" idx="18" hasCustomPrompt="1"/>
          </p:nvPr>
        </p:nvSpPr>
        <p:spPr>
          <a:xfrm>
            <a:off x="8963407" y="4211042"/>
            <a:ext cx="2771167" cy="535516"/>
          </a:xfrm>
          <a:prstGeom prst="rect">
            <a:avLst/>
          </a:prstGeom>
        </p:spPr>
        <p:txBody>
          <a:bodyPr/>
          <a:lstStyle>
            <a:lvl1pPr marL="0" indent="0" algn="ctr" defTabSz="609585" rtl="0" eaLnBrk="1" latinLnBrk="0" hangingPunct="1">
              <a:lnSpc>
                <a:spcPct val="100000"/>
              </a:lnSpc>
              <a:buNone/>
              <a:defRPr lang="en-US" sz="3733" kern="1200" dirty="0" smtClean="0">
                <a:solidFill>
                  <a:schemeClr val="tx2"/>
                </a:solidFill>
                <a:latin typeface="Montserrat-Arabic" panose="00000500000000000000" pitchFamily="2" charset="-78"/>
                <a:ea typeface="+mn-ea"/>
                <a:cs typeface="Montserrat-Arabic" panose="00000500000000000000" pitchFamily="2" charset="-78"/>
              </a:defRPr>
            </a:lvl1pPr>
          </a:lstStyle>
          <a:p>
            <a:pPr lvl="0"/>
            <a:r>
              <a:rPr lang="en-US"/>
              <a:t>0000</a:t>
            </a:r>
          </a:p>
        </p:txBody>
      </p:sp>
      <p:sp>
        <p:nvSpPr>
          <p:cNvPr id="84" name="Text Placeholder 15">
            <a:extLst>
              <a:ext uri="{FF2B5EF4-FFF2-40B4-BE49-F238E27FC236}">
                <a16:creationId xmlns:a16="http://schemas.microsoft.com/office/drawing/2014/main" id="{B12A0E62-7182-1C04-0A40-E4B2B510AA68}"/>
              </a:ext>
            </a:extLst>
          </p:cNvPr>
          <p:cNvSpPr>
            <a:spLocks noGrp="1"/>
          </p:cNvSpPr>
          <p:nvPr>
            <p:ph type="body" sz="quarter" idx="19" hasCustomPrompt="1"/>
          </p:nvPr>
        </p:nvSpPr>
        <p:spPr>
          <a:xfrm>
            <a:off x="8963407" y="4842411"/>
            <a:ext cx="2771167" cy="535516"/>
          </a:xfrm>
          <a:prstGeom prst="rect">
            <a:avLst/>
          </a:prstGeom>
        </p:spPr>
        <p:txBody>
          <a:bodyPr/>
          <a:lstStyle>
            <a:lvl1pPr marL="0" indent="0" algn="ctr" defTabSz="609585" rtl="0" eaLnBrk="1" latinLnBrk="0" hangingPunct="1">
              <a:lnSpc>
                <a:spcPct val="100000"/>
              </a:lnSpc>
              <a:buNone/>
              <a:defRPr lang="en-US" sz="1867"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3" name="Text Placeholder 15">
            <a:extLst>
              <a:ext uri="{FF2B5EF4-FFF2-40B4-BE49-F238E27FC236}">
                <a16:creationId xmlns:a16="http://schemas.microsoft.com/office/drawing/2014/main" id="{7BE8C802-A888-24D7-D44A-822C5B3B66D7}"/>
              </a:ext>
            </a:extLst>
          </p:cNvPr>
          <p:cNvSpPr>
            <a:spLocks noGrp="1"/>
          </p:cNvSpPr>
          <p:nvPr>
            <p:ph type="body" sz="quarter" idx="11" hasCustomPrompt="1"/>
          </p:nvPr>
        </p:nvSpPr>
        <p:spPr>
          <a:xfrm>
            <a:off x="1022035" y="1836850"/>
            <a:ext cx="10738168" cy="310316"/>
          </a:xfrm>
          <a:prstGeom prst="rect">
            <a:avLst/>
          </a:prstGeom>
        </p:spPr>
        <p:txBody>
          <a:bodyPr/>
          <a:lstStyle>
            <a:lvl1pPr marL="0" indent="0" algn="l" defTabSz="609585" rtl="0" eaLnBrk="1" latinLnBrk="0" hangingPunct="1">
              <a:lnSpc>
                <a:spcPct val="100000"/>
              </a:lnSpc>
              <a:buNone/>
              <a:defRPr lang="en-US" sz="16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5066CE51-FEF5-CB03-9171-CE9A31CC7F5E}"/>
              </a:ext>
            </a:extLst>
          </p:cNvPr>
          <p:cNvSpPr>
            <a:spLocks noGrp="1"/>
          </p:cNvSpPr>
          <p:nvPr>
            <p:ph type="body" sz="quarter" idx="25" hasCustomPrompt="1"/>
          </p:nvPr>
        </p:nvSpPr>
        <p:spPr>
          <a:xfrm>
            <a:off x="1022033" y="2162833"/>
            <a:ext cx="10738168" cy="972985"/>
          </a:xfrm>
        </p:spPr>
        <p:txBody>
          <a:bodyPr>
            <a:normAutofit/>
          </a:bodyPr>
          <a:lstStyle>
            <a:lvl1pPr algn="just">
              <a:defRPr sz="1000"/>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9A1161F6-A5D5-EEDB-E8A0-949BA1AEDE5E}"/>
              </a:ext>
            </a:extLst>
          </p:cNvPr>
          <p:cNvSpPr>
            <a:spLocks noGrp="1"/>
          </p:cNvSpPr>
          <p:nvPr>
            <p:ph type="title" hasCustomPrompt="1"/>
          </p:nvPr>
        </p:nvSpPr>
        <p:spPr>
          <a:xfrm>
            <a:off x="1022033" y="983387"/>
            <a:ext cx="7585892" cy="452432"/>
          </a:xfrm>
          <a:noFill/>
        </p:spPr>
        <p:txBody>
          <a:bodyPr wrap="square" rtlCol="0">
            <a:spAutoFit/>
          </a:bodyPr>
          <a:lstStyle>
            <a:lvl1pPr>
              <a:defRPr lang="en-SA" sz="2600" b="1" dirty="0">
                <a:solidFill>
                  <a:schemeClr val="bg2"/>
                </a:solidFill>
                <a:latin typeface="Montserrat" panose="00000500000000000000" pitchFamily="50" charset="0"/>
                <a:ea typeface="Open Sans ExtraBold" panose="020B0906030804020204" pitchFamily="34" charset="0"/>
                <a:cs typeface="Arial" panose="020B0604020202020204" pitchFamily="34" charset="0"/>
              </a:defRPr>
            </a:lvl1pPr>
          </a:lstStyle>
          <a:p>
            <a:pPr marL="0" lvl="0"/>
            <a:r>
              <a:rPr lang="en-US"/>
              <a:t>CLICK TO EDIT MASTER TITLE STYLE</a:t>
            </a:r>
            <a:endParaRPr lang="en-SA"/>
          </a:p>
        </p:txBody>
      </p:sp>
    </p:spTree>
    <p:extLst>
      <p:ext uri="{BB962C8B-B14F-4D97-AF65-F5344CB8AC3E}">
        <p14:creationId xmlns:p14="http://schemas.microsoft.com/office/powerpoint/2010/main" val="99182893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38"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21" Type="http://schemas.openxmlformats.org/officeDocument/2006/relationships/slideLayout" Target="../slideLayouts/slideLayout53.xml"/><Relationship Id="rId34" Type="http://schemas.openxmlformats.org/officeDocument/2006/relationships/tags" Target="../tags/tag2.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theme" Target="../theme/theme2.xml"/><Relationship Id="rId38" Type="http://schemas.openxmlformats.org/officeDocument/2006/relationships/image" Target="../media/image3.svg"/><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image" Target="../media/image2.png"/><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image" Target="../media/image1.emf"/><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oleObject" Target="../embeddings/oleObject1.bin"/><Relationship Id="rId8" Type="http://schemas.openxmlformats.org/officeDocument/2006/relationships/slideLayout" Target="../slideLayouts/slideLayout40.xml"/><Relationship Id="rId3"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3369AC-A9BF-C1C4-0D92-D781D14DD093}"/>
              </a:ext>
            </a:extLst>
          </p:cNvPr>
          <p:cNvGraphicFramePr>
            <a:graphicFrameLocks noChangeAspect="1"/>
          </p:cNvGraphicFramePr>
          <p:nvPr userDrawn="1">
            <p:custDataLst>
              <p:tags r:id="rId34"/>
            </p:custDataLst>
            <p:extLst>
              <p:ext uri="{D42A27DB-BD31-4B8C-83A1-F6EECF244321}">
                <p14:modId xmlns:p14="http://schemas.microsoft.com/office/powerpoint/2010/main" val="1365308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73" imgH="473" progId="TCLayout.ActiveDocument.1">
                  <p:embed/>
                </p:oleObj>
              </mc:Choice>
              <mc:Fallback>
                <p:oleObj name="think-cell Slide" r:id="rId35" imgW="473" imgH="473" progId="TCLayout.ActiveDocument.1">
                  <p:embed/>
                  <p:pic>
                    <p:nvPicPr>
                      <p:cNvPr id="9" name="think-cell data - do not delete" hidden="1">
                        <a:extLst>
                          <a:ext uri="{FF2B5EF4-FFF2-40B4-BE49-F238E27FC236}">
                            <a16:creationId xmlns:a16="http://schemas.microsoft.com/office/drawing/2014/main" id="{303369AC-A9BF-C1C4-0D92-D781D14DD093}"/>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B3F7309-95F5-4130-D570-876AEEAF2E5E}"/>
              </a:ext>
            </a:extLst>
          </p:cNvPr>
          <p:cNvSpPr>
            <a:spLocks noGrp="1"/>
          </p:cNvSpPr>
          <p:nvPr>
            <p:ph type="title"/>
          </p:nvPr>
        </p:nvSpPr>
        <p:spPr>
          <a:xfrm>
            <a:off x="1022032" y="983388"/>
            <a:ext cx="10331767" cy="502766"/>
          </a:xfrm>
          <a:prstGeom prst="rect">
            <a:avLst/>
          </a:prstGeom>
        </p:spPr>
        <p:txBody>
          <a:bodyPr vert="horz" lIns="91440" tIns="45720" rIns="91440" bIns="45720" rtlCol="0" anchor="ctr">
            <a:normAutofit/>
          </a:bodyPr>
          <a:lstStyle/>
          <a:p>
            <a:r>
              <a:rPr lang="en-US"/>
              <a:t>Click to edit Master title style</a:t>
            </a:r>
            <a:endParaRPr lang="en-SA"/>
          </a:p>
        </p:txBody>
      </p:sp>
      <p:sp>
        <p:nvSpPr>
          <p:cNvPr id="3" name="Text Placeholder 2">
            <a:extLst>
              <a:ext uri="{FF2B5EF4-FFF2-40B4-BE49-F238E27FC236}">
                <a16:creationId xmlns:a16="http://schemas.microsoft.com/office/drawing/2014/main" id="{A3D1898F-E8C0-EF5C-DB24-E6B5F76EF6C3}"/>
              </a:ext>
            </a:extLst>
          </p:cNvPr>
          <p:cNvSpPr>
            <a:spLocks noGrp="1"/>
          </p:cNvSpPr>
          <p:nvPr>
            <p:ph type="body" idx="1"/>
          </p:nvPr>
        </p:nvSpPr>
        <p:spPr>
          <a:xfrm>
            <a:off x="1022032" y="1825625"/>
            <a:ext cx="1033176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B74697F8-7F54-EB8E-35A0-1DB0866EA1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A"/>
          </a:p>
        </p:txBody>
      </p:sp>
      <p:sp>
        <p:nvSpPr>
          <p:cNvPr id="5" name="Footer Placeholder 4">
            <a:extLst>
              <a:ext uri="{FF2B5EF4-FFF2-40B4-BE49-F238E27FC236}">
                <a16:creationId xmlns:a16="http://schemas.microsoft.com/office/drawing/2014/main" id="{93DC0D71-F59A-C039-B756-1EF295E4FC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A"/>
          </a:p>
        </p:txBody>
      </p:sp>
      <p:sp>
        <p:nvSpPr>
          <p:cNvPr id="6" name="Slide Number Placeholder 5">
            <a:extLst>
              <a:ext uri="{FF2B5EF4-FFF2-40B4-BE49-F238E27FC236}">
                <a16:creationId xmlns:a16="http://schemas.microsoft.com/office/drawing/2014/main" id="{0B2C8442-226F-ECF1-8217-E6B58D480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5D68DA-F15D-0F40-9055-781099452C22}" type="slidenum">
              <a:rPr lang="en-SA" smtClean="0"/>
              <a:t>‹#›</a:t>
            </a:fld>
            <a:endParaRPr lang="en-SA"/>
          </a:p>
        </p:txBody>
      </p:sp>
      <p:pic>
        <p:nvPicPr>
          <p:cNvPr id="7" name="Graphic 6">
            <a:extLst>
              <a:ext uri="{FF2B5EF4-FFF2-40B4-BE49-F238E27FC236}">
                <a16:creationId xmlns:a16="http://schemas.microsoft.com/office/drawing/2014/main" id="{1A988A5D-3EDF-2E09-B60F-F2B5871BB865}"/>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9982200" y="382462"/>
            <a:ext cx="1807763" cy="378369"/>
          </a:xfrm>
          <a:prstGeom prst="rect">
            <a:avLst/>
          </a:prstGeom>
        </p:spPr>
      </p:pic>
    </p:spTree>
    <p:extLst>
      <p:ext uri="{BB962C8B-B14F-4D97-AF65-F5344CB8AC3E}">
        <p14:creationId xmlns:p14="http://schemas.microsoft.com/office/powerpoint/2010/main" val="336820273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Lst>
  <p:hf hdr="0" ft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5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3369AC-A9BF-C1C4-0D92-D781D14DD093}"/>
              </a:ext>
            </a:extLst>
          </p:cNvPr>
          <p:cNvGraphicFramePr>
            <a:graphicFrameLocks noChangeAspect="1"/>
          </p:cNvGraphicFramePr>
          <p:nvPr userDrawn="1">
            <p:custDataLst>
              <p:tags r:id="rId34"/>
            </p:custDataLst>
            <p:extLst>
              <p:ext uri="{D42A27DB-BD31-4B8C-83A1-F6EECF244321}">
                <p14:modId xmlns:p14="http://schemas.microsoft.com/office/powerpoint/2010/main" val="1365308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73" imgH="473" progId="TCLayout.ActiveDocument.1">
                  <p:embed/>
                </p:oleObj>
              </mc:Choice>
              <mc:Fallback>
                <p:oleObj name="think-cell Slide" r:id="rId35" imgW="473" imgH="473" progId="TCLayout.ActiveDocument.1">
                  <p:embed/>
                  <p:pic>
                    <p:nvPicPr>
                      <p:cNvPr id="9" name="think-cell data - do not delete" hidden="1">
                        <a:extLst>
                          <a:ext uri="{FF2B5EF4-FFF2-40B4-BE49-F238E27FC236}">
                            <a16:creationId xmlns:a16="http://schemas.microsoft.com/office/drawing/2014/main" id="{303369AC-A9BF-C1C4-0D92-D781D14DD093}"/>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B3F7309-95F5-4130-D570-876AEEAF2E5E}"/>
              </a:ext>
            </a:extLst>
          </p:cNvPr>
          <p:cNvSpPr>
            <a:spLocks noGrp="1"/>
          </p:cNvSpPr>
          <p:nvPr>
            <p:ph type="title"/>
          </p:nvPr>
        </p:nvSpPr>
        <p:spPr>
          <a:xfrm>
            <a:off x="1022032" y="983388"/>
            <a:ext cx="10331767" cy="502766"/>
          </a:xfrm>
          <a:prstGeom prst="rect">
            <a:avLst/>
          </a:prstGeom>
        </p:spPr>
        <p:txBody>
          <a:bodyPr vert="horz" lIns="91440" tIns="45720" rIns="91440" bIns="45720" rtlCol="0" anchor="ctr">
            <a:normAutofit/>
          </a:bodyPr>
          <a:lstStyle/>
          <a:p>
            <a:r>
              <a:rPr lang="en-US"/>
              <a:t>Click to edit Master title style</a:t>
            </a:r>
            <a:endParaRPr lang="en-SA"/>
          </a:p>
        </p:txBody>
      </p:sp>
      <p:sp>
        <p:nvSpPr>
          <p:cNvPr id="3" name="Text Placeholder 2">
            <a:extLst>
              <a:ext uri="{FF2B5EF4-FFF2-40B4-BE49-F238E27FC236}">
                <a16:creationId xmlns:a16="http://schemas.microsoft.com/office/drawing/2014/main" id="{A3D1898F-E8C0-EF5C-DB24-E6B5F76EF6C3}"/>
              </a:ext>
            </a:extLst>
          </p:cNvPr>
          <p:cNvSpPr>
            <a:spLocks noGrp="1"/>
          </p:cNvSpPr>
          <p:nvPr>
            <p:ph type="body" idx="1"/>
          </p:nvPr>
        </p:nvSpPr>
        <p:spPr>
          <a:xfrm>
            <a:off x="1022032" y="1825625"/>
            <a:ext cx="1033176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B74697F8-7F54-EB8E-35A0-1DB0866EA1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518998-0747-FE42-A87D-701EFEA3D47B}" type="datetimeFigureOut">
              <a:rPr lang="en-SA" smtClean="0"/>
              <a:t>11/17/2025</a:t>
            </a:fld>
            <a:endParaRPr lang="en-SA"/>
          </a:p>
        </p:txBody>
      </p:sp>
      <p:sp>
        <p:nvSpPr>
          <p:cNvPr id="5" name="Footer Placeholder 4">
            <a:extLst>
              <a:ext uri="{FF2B5EF4-FFF2-40B4-BE49-F238E27FC236}">
                <a16:creationId xmlns:a16="http://schemas.microsoft.com/office/drawing/2014/main" id="{93DC0D71-F59A-C039-B756-1EF295E4FC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A"/>
          </a:p>
        </p:txBody>
      </p:sp>
      <p:sp>
        <p:nvSpPr>
          <p:cNvPr id="6" name="Slide Number Placeholder 5">
            <a:extLst>
              <a:ext uri="{FF2B5EF4-FFF2-40B4-BE49-F238E27FC236}">
                <a16:creationId xmlns:a16="http://schemas.microsoft.com/office/drawing/2014/main" id="{0B2C8442-226F-ECF1-8217-E6B58D480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5D68DA-F15D-0F40-9055-781099452C22}" type="slidenum">
              <a:rPr lang="en-SA" smtClean="0"/>
              <a:t>‹#›</a:t>
            </a:fld>
            <a:endParaRPr lang="en-SA"/>
          </a:p>
        </p:txBody>
      </p:sp>
      <p:pic>
        <p:nvPicPr>
          <p:cNvPr id="7" name="Graphic 6">
            <a:extLst>
              <a:ext uri="{FF2B5EF4-FFF2-40B4-BE49-F238E27FC236}">
                <a16:creationId xmlns:a16="http://schemas.microsoft.com/office/drawing/2014/main" id="{1A988A5D-3EDF-2E09-B60F-F2B5871BB865}"/>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9982200" y="382462"/>
            <a:ext cx="1807763" cy="378369"/>
          </a:xfrm>
          <a:prstGeom prst="rect">
            <a:avLst/>
          </a:prstGeom>
        </p:spPr>
      </p:pic>
    </p:spTree>
    <p:extLst>
      <p:ext uri="{BB962C8B-B14F-4D97-AF65-F5344CB8AC3E}">
        <p14:creationId xmlns:p14="http://schemas.microsoft.com/office/powerpoint/2010/main" val="19310906"/>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Lst>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5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4.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3.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tags" Target="../tags/tag6.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tags" Target="../tags/tag7.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3.xml"/><Relationship Id="rId1" Type="http://schemas.openxmlformats.org/officeDocument/2006/relationships/tags" Target="../tags/tag8.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tags" Target="../tags/tag9.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tags" Target="../tags/tag10.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3.xml"/><Relationship Id="rId1" Type="http://schemas.openxmlformats.org/officeDocument/2006/relationships/tags" Target="../tags/tag11.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8.xml"/><Relationship Id="rId1" Type="http://schemas.openxmlformats.org/officeDocument/2006/relationships/tags" Target="../tags/tag12.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8.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8.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8.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8.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8.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8.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8.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8.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12.bin"/><Relationship Id="rId7"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ags" Target="../tags/tag2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tags" Target="../tags/tag23.xml"/><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tags" Target="../tags/tag24.x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tags" Target="../tags/tag25.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81FA7B8-BEE9-A495-CF0A-7BEB875EFFAF}"/>
              </a:ext>
            </a:extLst>
          </p:cNvPr>
          <p:cNvGraphicFramePr>
            <a:graphicFrameLocks noChangeAspect="1"/>
          </p:cNvGraphicFramePr>
          <p:nvPr>
            <p:custDataLst>
              <p:tags r:id="rId1"/>
            </p:custDataLst>
            <p:extLst>
              <p:ext uri="{D42A27DB-BD31-4B8C-83A1-F6EECF244321}">
                <p14:modId xmlns:p14="http://schemas.microsoft.com/office/powerpoint/2010/main" val="936556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E81FA7B8-BEE9-A495-CF0A-7BEB875EFF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0B376F-063D-2D4A-4196-5DFBE5605FD3}"/>
              </a:ext>
            </a:extLst>
          </p:cNvPr>
          <p:cNvSpPr>
            <a:spLocks noGrp="1"/>
          </p:cNvSpPr>
          <p:nvPr>
            <p:ph type="ctrTitle"/>
          </p:nvPr>
        </p:nvSpPr>
        <p:spPr/>
        <p:txBody>
          <a:bodyPr vert="horz"/>
          <a:lstStyle/>
          <a:p>
            <a:r>
              <a:rPr lang="en-US"/>
              <a:t>Finance Baseline</a:t>
            </a:r>
          </a:p>
        </p:txBody>
      </p:sp>
      <p:sp>
        <p:nvSpPr>
          <p:cNvPr id="3" name="Subtitle 2">
            <a:extLst>
              <a:ext uri="{FF2B5EF4-FFF2-40B4-BE49-F238E27FC236}">
                <a16:creationId xmlns:a16="http://schemas.microsoft.com/office/drawing/2014/main" id="{C1FB3CD1-F7A4-BED4-6514-97863988AB07}"/>
              </a:ext>
            </a:extLst>
          </p:cNvPr>
          <p:cNvSpPr>
            <a:spLocks noGrp="1"/>
          </p:cNvSpPr>
          <p:nvPr>
            <p:ph type="subTitle" idx="1"/>
          </p:nvPr>
        </p:nvSpPr>
        <p:spPr/>
        <p:txBody>
          <a:bodyPr/>
          <a:lstStyle/>
          <a:p>
            <a:r>
              <a:rPr lang="en-US"/>
              <a:t>September 2025</a:t>
            </a:r>
          </a:p>
          <a:p>
            <a:endParaRPr lang="en-US"/>
          </a:p>
          <a:p>
            <a:endParaRPr lang="en-US"/>
          </a:p>
        </p:txBody>
      </p:sp>
      <p:sp>
        <p:nvSpPr>
          <p:cNvPr id="4" name="Slide Number Placeholder 3">
            <a:extLst>
              <a:ext uri="{FF2B5EF4-FFF2-40B4-BE49-F238E27FC236}">
                <a16:creationId xmlns:a16="http://schemas.microsoft.com/office/drawing/2014/main" id="{575A62E7-898C-D1FE-230A-B300D820322F}"/>
              </a:ext>
            </a:extLst>
          </p:cNvPr>
          <p:cNvSpPr>
            <a:spLocks noGrp="1"/>
          </p:cNvSpPr>
          <p:nvPr>
            <p:ph type="sldNum" sz="quarter" idx="12"/>
          </p:nvPr>
        </p:nvSpPr>
        <p:spPr/>
        <p:txBody>
          <a:bodyPr/>
          <a:lstStyle/>
          <a:p>
            <a:fld id="{0B5D68DA-F15D-0F40-9055-781099452C22}" type="slidenum">
              <a:rPr lang="en-SA" smtClean="0"/>
              <a:t>1</a:t>
            </a:fld>
            <a:endParaRPr lang="en-SA"/>
          </a:p>
        </p:txBody>
      </p:sp>
    </p:spTree>
    <p:extLst>
      <p:ext uri="{BB962C8B-B14F-4D97-AF65-F5344CB8AC3E}">
        <p14:creationId xmlns:p14="http://schemas.microsoft.com/office/powerpoint/2010/main" val="2662056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8345D-9D58-D29A-5B3C-95DC1919E4B9}"/>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B92560C-DFB3-F69E-FC66-C6B75245B3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think-cell data - do not delete" hidden="1">
                        <a:extLst>
                          <a:ext uri="{FF2B5EF4-FFF2-40B4-BE49-F238E27FC236}">
                            <a16:creationId xmlns:a16="http://schemas.microsoft.com/office/drawing/2014/main" id="{9B92560C-DFB3-F69E-FC66-C6B75245B3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4" name="Picture 53">
            <a:extLst>
              <a:ext uri="{FF2B5EF4-FFF2-40B4-BE49-F238E27FC236}">
                <a16:creationId xmlns:a16="http://schemas.microsoft.com/office/drawing/2014/main" id="{E067098B-2FE4-4224-E71F-48706C2D84F8}"/>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0" y="2238627"/>
            <a:ext cx="12192000" cy="502530"/>
          </a:xfrm>
          <a:prstGeom prst="rect">
            <a:avLst/>
          </a:prstGeom>
          <a:solidFill>
            <a:srgbClr val="FFFFFF"/>
          </a:solidFill>
          <a:ln>
            <a:noFill/>
          </a:ln>
        </p:spPr>
      </p:pic>
      <p:sp>
        <p:nvSpPr>
          <p:cNvPr id="2" name="Title 1">
            <a:extLst>
              <a:ext uri="{FF2B5EF4-FFF2-40B4-BE49-F238E27FC236}">
                <a16:creationId xmlns:a16="http://schemas.microsoft.com/office/drawing/2014/main" id="{A07FBE73-844A-B845-8A45-BB913366ED10}"/>
              </a:ext>
            </a:extLst>
          </p:cNvPr>
          <p:cNvSpPr>
            <a:spLocks noGrp="1"/>
          </p:cNvSpPr>
          <p:nvPr>
            <p:ph type="title"/>
          </p:nvPr>
        </p:nvSpPr>
        <p:spPr/>
        <p:txBody>
          <a:bodyPr vert="horz"/>
          <a:lstStyle/>
          <a:p>
            <a:r>
              <a:rPr lang="en-US"/>
              <a:t>Finance Baseline Overview</a:t>
            </a:r>
            <a:endParaRPr lang="en-AE"/>
          </a:p>
        </p:txBody>
      </p:sp>
      <p:sp>
        <p:nvSpPr>
          <p:cNvPr id="3" name="Slide Number Placeholder 2">
            <a:extLst>
              <a:ext uri="{FF2B5EF4-FFF2-40B4-BE49-F238E27FC236}">
                <a16:creationId xmlns:a16="http://schemas.microsoft.com/office/drawing/2014/main" id="{9B9CCBD4-4B2D-0656-1E07-7CEB9B7A72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A" sz="1200" b="0" i="0" u="none" strike="noStrike" kern="1200" cap="none" spc="0" normalizeH="0" baseline="0" noProof="0">
              <a:ln>
                <a:noFill/>
              </a:ln>
              <a:solidFill>
                <a:srgbClr val="10069E">
                  <a:tint val="82000"/>
                </a:srgbClr>
              </a:solidFill>
              <a:effectLst/>
              <a:uLnTx/>
              <a:uFillTx/>
              <a:latin typeface="Montserrat"/>
              <a:ea typeface="+mn-ea"/>
            </a:endParaRPr>
          </a:p>
        </p:txBody>
      </p:sp>
      <p:sp>
        <p:nvSpPr>
          <p:cNvPr id="46" name="TextBox 45">
            <a:extLst>
              <a:ext uri="{FF2B5EF4-FFF2-40B4-BE49-F238E27FC236}">
                <a16:creationId xmlns:a16="http://schemas.microsoft.com/office/drawing/2014/main" id="{D49087FC-ACFE-027D-DAC7-45A3B86C9859}"/>
              </a:ext>
            </a:extLst>
          </p:cNvPr>
          <p:cNvSpPr txBox="1"/>
          <p:nvPr/>
        </p:nvSpPr>
        <p:spPr>
          <a:xfrm>
            <a:off x="318000" y="1180458"/>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Key metrics</a:t>
            </a:r>
          </a:p>
        </p:txBody>
      </p:sp>
      <p:cxnSp>
        <p:nvCxnSpPr>
          <p:cNvPr id="47" name="Straight Connector 46">
            <a:extLst>
              <a:ext uri="{FF2B5EF4-FFF2-40B4-BE49-F238E27FC236}">
                <a16:creationId xmlns:a16="http://schemas.microsoft.com/office/drawing/2014/main" id="{67A4FF4D-F077-FCFA-01AA-5AD9072831DD}"/>
              </a:ext>
            </a:extLst>
          </p:cNvPr>
          <p:cNvCxnSpPr>
            <a:cxnSpLocks/>
          </p:cNvCxnSpPr>
          <p:nvPr/>
        </p:nvCxnSpPr>
        <p:spPr>
          <a:xfrm flipH="1">
            <a:off x="449421" y="1616834"/>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76702AB7-DF4A-CEEA-8E45-5D478CBCF6D1}"/>
              </a:ext>
            </a:extLst>
          </p:cNvPr>
          <p:cNvSpPr/>
          <p:nvPr/>
        </p:nvSpPr>
        <p:spPr>
          <a:xfrm>
            <a:off x="1063352" y="1952027"/>
            <a:ext cx="2343859" cy="1075730"/>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4</a:t>
            </a:r>
            <a:r>
              <a:rPr kumimoji="0" lang="en-US" sz="1200" b="0" i="0" u="none" strike="noStrike" kern="1200" cap="none" spc="0" normalizeH="0" baseline="0" noProof="0">
                <a:ln>
                  <a:noFill/>
                </a:ln>
                <a:solidFill>
                  <a:srgbClr val="10069E"/>
                </a:solidFill>
                <a:effectLst/>
                <a:uLnTx/>
                <a:uFillTx/>
                <a:latin typeface="Montserrat"/>
                <a:ea typeface="+mn-ea"/>
              </a:rPr>
              <a:t> dedicated Tasama FTEs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0069E"/>
                </a:solidFill>
                <a:latin typeface="Montserrat"/>
              </a:rPr>
              <a:t>7</a:t>
            </a:r>
            <a:r>
              <a:rPr lang="en-US" sz="1200">
                <a:solidFill>
                  <a:srgbClr val="10069E"/>
                </a:solidFill>
                <a:latin typeface="Montserrat"/>
              </a:rPr>
              <a:t> consultants</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51" name="Rectangle: Rounded Corners 50">
            <a:extLst>
              <a:ext uri="{FF2B5EF4-FFF2-40B4-BE49-F238E27FC236}">
                <a16:creationId xmlns:a16="http://schemas.microsoft.com/office/drawing/2014/main" id="{EA9D4F95-60F8-49E4-B6B7-AE4BC1D1623D}"/>
              </a:ext>
            </a:extLst>
          </p:cNvPr>
          <p:cNvSpPr/>
          <p:nvPr/>
        </p:nvSpPr>
        <p:spPr>
          <a:xfrm>
            <a:off x="6373306" y="1952027"/>
            <a:ext cx="2343859" cy="1075730"/>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0069E"/>
                </a:solidFill>
                <a:effectLst/>
                <a:uLnTx/>
                <a:uFillTx/>
                <a:latin typeface="Montserrat"/>
                <a:ea typeface="+mn-ea"/>
              </a:rPr>
              <a:t>total finance transactions annually</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56" name="Rectangle: Rounded Corners 55">
            <a:extLst>
              <a:ext uri="{FF2B5EF4-FFF2-40B4-BE49-F238E27FC236}">
                <a16:creationId xmlns:a16="http://schemas.microsoft.com/office/drawing/2014/main" id="{9272A706-0C66-75FD-5CEE-7535D94D3000}"/>
              </a:ext>
            </a:extLst>
          </p:cNvPr>
          <p:cNvSpPr/>
          <p:nvPr/>
        </p:nvSpPr>
        <p:spPr>
          <a:xfrm>
            <a:off x="3718329" y="1952027"/>
            <a:ext cx="2343859" cy="1075730"/>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20</a:t>
            </a:r>
            <a:r>
              <a:rPr kumimoji="0" lang="en-US" sz="1200" b="0" i="0" u="none" strike="noStrike" kern="1200" cap="none" spc="0" normalizeH="0" baseline="0" noProof="0">
                <a:ln>
                  <a:noFill/>
                </a:ln>
                <a:solidFill>
                  <a:srgbClr val="10069E"/>
                </a:solidFill>
                <a:effectLst/>
                <a:uLnTx/>
                <a:uFillTx/>
                <a:latin typeface="Montserrat"/>
                <a:ea typeface="+mn-ea"/>
              </a:rPr>
              <a:t> clients in total:</a:t>
            </a:r>
          </a:p>
          <a:p>
            <a:pPr marL="171450" marR="0" lvl="0" indent="-171450" defTabSz="914400" rtl="0" eaLnBrk="1" fontAlgn="auto" latinLnBrk="0" hangingPunct="1">
              <a:lnSpc>
                <a:spcPct val="100000"/>
              </a:lnSpc>
              <a:spcBef>
                <a:spcPts val="0"/>
              </a:spcBef>
              <a:spcAft>
                <a:spcPts val="0"/>
              </a:spcAft>
              <a:buClrTx/>
              <a:buSzTx/>
              <a:buFontTx/>
              <a:buChar char="-"/>
              <a:tabLst/>
              <a:defRPr/>
            </a:pPr>
            <a:r>
              <a:rPr lang="en-US" sz="900">
                <a:solidFill>
                  <a:srgbClr val="10069E"/>
                </a:solidFill>
                <a:latin typeface="Montserrat"/>
              </a:rPr>
              <a:t>10 clients handled by Tasama</a:t>
            </a:r>
          </a:p>
          <a:p>
            <a:pPr marL="171450" marR="0" lvl="0" indent="-171450" defTabSz="914400" rtl="0" eaLnBrk="1" fontAlgn="auto" latinLnBrk="0" hangingPunct="1">
              <a:lnSpc>
                <a:spcPct val="100000"/>
              </a:lnSpc>
              <a:spcBef>
                <a:spcPts val="0"/>
              </a:spcBef>
              <a:spcAft>
                <a:spcPts val="0"/>
              </a:spcAft>
              <a:buClrTx/>
              <a:buSzTx/>
              <a:buFontTx/>
              <a:buChar char="-"/>
              <a:tabLst/>
              <a:defRPr/>
            </a:pPr>
            <a:r>
              <a:rPr kumimoji="0" lang="en-US" sz="900" b="0" i="0" u="none" strike="noStrike" kern="1200" cap="none" spc="0" normalizeH="0" baseline="0" noProof="0">
                <a:ln>
                  <a:noFill/>
                </a:ln>
                <a:solidFill>
                  <a:srgbClr val="10069E"/>
                </a:solidFill>
                <a:effectLst/>
                <a:uLnTx/>
                <a:uFillTx/>
                <a:latin typeface="Montserrat"/>
                <a:ea typeface="+mn-ea"/>
              </a:rPr>
              <a:t>10 clients handled by consulting firm</a:t>
            </a:r>
            <a:endParaRPr kumimoji="0" lang="en-AE" sz="900" b="0" i="0" u="none" strike="noStrike" kern="1200" cap="none" spc="0" normalizeH="0" baseline="0" noProof="0">
              <a:ln>
                <a:noFill/>
              </a:ln>
              <a:solidFill>
                <a:srgbClr val="10069E"/>
              </a:solidFill>
              <a:effectLst/>
              <a:uLnTx/>
              <a:uFillTx/>
              <a:latin typeface="Montserrat"/>
              <a:ea typeface="+mn-ea"/>
            </a:endParaRPr>
          </a:p>
        </p:txBody>
      </p:sp>
      <p:sp>
        <p:nvSpPr>
          <p:cNvPr id="61" name="Rectangle: Rounded Corners 60">
            <a:extLst>
              <a:ext uri="{FF2B5EF4-FFF2-40B4-BE49-F238E27FC236}">
                <a16:creationId xmlns:a16="http://schemas.microsoft.com/office/drawing/2014/main" id="{185891F3-D5BF-349C-E9EE-4EA243C67350}"/>
              </a:ext>
            </a:extLst>
          </p:cNvPr>
          <p:cNvSpPr/>
          <p:nvPr/>
        </p:nvSpPr>
        <p:spPr>
          <a:xfrm>
            <a:off x="9028282" y="1952027"/>
            <a:ext cx="2343859" cy="1075730"/>
          </a:xfrm>
          <a:prstGeom prst="roundRect">
            <a:avLst>
              <a:gd name="adj" fmla="val 9307"/>
            </a:avLst>
          </a:prstGeom>
          <a:solidFill>
            <a:schemeClr val="tx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solidFill>
                <a:effectLst/>
                <a:uLnTx/>
                <a:uFillTx/>
                <a:latin typeface="Montserrat"/>
                <a:ea typeface="+mn-ea"/>
              </a:rPr>
              <a:t>~60% (≈18,000) </a:t>
            </a:r>
            <a:r>
              <a:rPr lang="en-US" sz="1200">
                <a:solidFill>
                  <a:schemeClr val="bg1"/>
                </a:solidFill>
                <a:latin typeface="Montserrat"/>
              </a:rPr>
              <a:t>are Accounts Payable &amp; Payment</a:t>
            </a:r>
            <a:endParaRPr lang="en-AE" sz="1200">
              <a:solidFill>
                <a:schemeClr val="bg1"/>
              </a:solidFill>
              <a:latin typeface="Montserrat"/>
            </a:endParaRPr>
          </a:p>
        </p:txBody>
      </p:sp>
      <p:sp>
        <p:nvSpPr>
          <p:cNvPr id="62" name="Arc 61">
            <a:extLst>
              <a:ext uri="{FF2B5EF4-FFF2-40B4-BE49-F238E27FC236}">
                <a16:creationId xmlns:a16="http://schemas.microsoft.com/office/drawing/2014/main" id="{61FAA77B-9784-894A-56E5-263C5920EDFB}"/>
              </a:ext>
            </a:extLst>
          </p:cNvPr>
          <p:cNvSpPr/>
          <p:nvPr/>
        </p:nvSpPr>
        <p:spPr>
          <a:xfrm>
            <a:off x="8403470" y="1699871"/>
            <a:ext cx="938507" cy="596208"/>
          </a:xfrm>
          <a:prstGeom prst="arc">
            <a:avLst>
              <a:gd name="adj1" fmla="val 12949568"/>
              <a:gd name="adj2" fmla="val 19749779"/>
            </a:avLst>
          </a:prstGeom>
          <a:ln w="12700">
            <a:solidFill>
              <a:schemeClr val="accent1"/>
            </a:solidFill>
            <a:prstDash val="sysDot"/>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6"/>
              </a:solidFill>
              <a:effectLst/>
              <a:uLnTx/>
              <a:uFillTx/>
              <a:ea typeface="+mn-ea"/>
            </a:endParaRPr>
          </a:p>
        </p:txBody>
      </p:sp>
      <p:graphicFrame>
        <p:nvGraphicFramePr>
          <p:cNvPr id="5" name="Table 4">
            <a:extLst>
              <a:ext uri="{FF2B5EF4-FFF2-40B4-BE49-F238E27FC236}">
                <a16:creationId xmlns:a16="http://schemas.microsoft.com/office/drawing/2014/main" id="{FA39E1CC-6DF9-5509-EF6D-04F734B4936B}"/>
              </a:ext>
            </a:extLst>
          </p:cNvPr>
          <p:cNvGraphicFramePr>
            <a:graphicFrameLocks noGrp="1"/>
          </p:cNvGraphicFramePr>
          <p:nvPr>
            <p:extLst>
              <p:ext uri="{D42A27DB-BD31-4B8C-83A1-F6EECF244321}">
                <p14:modId xmlns:p14="http://schemas.microsoft.com/office/powerpoint/2010/main" val="1505524592"/>
              </p:ext>
            </p:extLst>
          </p:nvPr>
        </p:nvGraphicFramePr>
        <p:xfrm>
          <a:off x="934257" y="4532623"/>
          <a:ext cx="7676343" cy="1661376"/>
        </p:xfrm>
        <a:graphic>
          <a:graphicData uri="http://schemas.openxmlformats.org/drawingml/2006/table">
            <a:tbl>
              <a:tblPr firstRow="1" bandRow="1">
                <a:tableStyleId>{5C22544A-7EE6-4342-B048-85BDC9FD1C3A}</a:tableStyleId>
              </a:tblPr>
              <a:tblGrid>
                <a:gridCol w="2000943">
                  <a:extLst>
                    <a:ext uri="{9D8B030D-6E8A-4147-A177-3AD203B41FA5}">
                      <a16:colId xmlns:a16="http://schemas.microsoft.com/office/drawing/2014/main" val="51000429"/>
                    </a:ext>
                  </a:extLst>
                </a:gridCol>
                <a:gridCol w="1418850">
                  <a:extLst>
                    <a:ext uri="{9D8B030D-6E8A-4147-A177-3AD203B41FA5}">
                      <a16:colId xmlns:a16="http://schemas.microsoft.com/office/drawing/2014/main" val="1027377957"/>
                    </a:ext>
                  </a:extLst>
                </a:gridCol>
                <a:gridCol w="1418850">
                  <a:extLst>
                    <a:ext uri="{9D8B030D-6E8A-4147-A177-3AD203B41FA5}">
                      <a16:colId xmlns:a16="http://schemas.microsoft.com/office/drawing/2014/main" val="2757723198"/>
                    </a:ext>
                  </a:extLst>
                </a:gridCol>
                <a:gridCol w="1418850">
                  <a:extLst>
                    <a:ext uri="{9D8B030D-6E8A-4147-A177-3AD203B41FA5}">
                      <a16:colId xmlns:a16="http://schemas.microsoft.com/office/drawing/2014/main" val="2812602511"/>
                    </a:ext>
                  </a:extLst>
                </a:gridCol>
                <a:gridCol w="1418850">
                  <a:extLst>
                    <a:ext uri="{9D8B030D-6E8A-4147-A177-3AD203B41FA5}">
                      <a16:colId xmlns:a16="http://schemas.microsoft.com/office/drawing/2014/main" val="1633252872"/>
                    </a:ext>
                  </a:extLst>
                </a:gridCol>
              </a:tblGrid>
              <a:tr h="288000">
                <a:tc>
                  <a:txBody>
                    <a:bodyPr/>
                    <a:lstStyle/>
                    <a:p>
                      <a:pPr>
                        <a:buNone/>
                      </a:pPr>
                      <a:endParaRPr lang="en-US" sz="1000">
                        <a:solidFill>
                          <a:schemeClr val="tx1"/>
                        </a:solidFill>
                      </a:endParaRPr>
                    </a:p>
                  </a:txBody>
                  <a:tcPr anchor="ctr">
                    <a:solidFill>
                      <a:srgbClr val="FEFFFE"/>
                    </a:solidFill>
                  </a:tcPr>
                </a:tc>
                <a:tc gridSpan="2">
                  <a:txBody>
                    <a:bodyPr/>
                    <a:lstStyle/>
                    <a:p>
                      <a:pPr algn="ctr">
                        <a:buNone/>
                      </a:pPr>
                      <a:r>
                        <a:rPr lang="en-US" sz="1050"/>
                        <a:t>1. Manual Process</a:t>
                      </a:r>
                    </a:p>
                  </a:txBody>
                  <a:tcPr anchor="ctr"/>
                </a:tc>
                <a:tc hMerge="1">
                  <a:txBody>
                    <a:bodyPr/>
                    <a:lstStyle/>
                    <a:p>
                      <a:pPr algn="ctr">
                        <a:buNone/>
                      </a:pPr>
                      <a:endParaRPr lang="en-US" sz="1050"/>
                    </a:p>
                  </a:txBody>
                  <a:tcPr anchor="ctr"/>
                </a:tc>
                <a:tc gridSpan="2">
                  <a:txBody>
                    <a:bodyPr/>
                    <a:lstStyle/>
                    <a:p>
                      <a:pPr algn="ctr">
                        <a:buNone/>
                      </a:pPr>
                      <a:r>
                        <a:rPr lang="en-US" sz="1050"/>
                        <a:t>2. ERP Process </a:t>
                      </a:r>
                    </a:p>
                  </a:txBody>
                  <a:tcPr anchor="ctr"/>
                </a:tc>
                <a:tc hMerge="1">
                  <a:txBody>
                    <a:bodyPr/>
                    <a:lstStyle/>
                    <a:p>
                      <a:pPr algn="ctr">
                        <a:buNone/>
                      </a:pPr>
                      <a:endParaRPr lang="en-US" sz="1050"/>
                    </a:p>
                  </a:txBody>
                  <a:tcPr anchor="ctr"/>
                </a:tc>
                <a:extLst>
                  <a:ext uri="{0D108BD9-81ED-4DB2-BD59-A6C34878D82A}">
                    <a16:rowId xmlns:a16="http://schemas.microsoft.com/office/drawing/2014/main" val="2965210676"/>
                  </a:ext>
                </a:extLst>
              </a:tr>
              <a:tr h="343344">
                <a:tc>
                  <a:txBody>
                    <a:bodyPr/>
                    <a:lstStyle/>
                    <a:p>
                      <a:pPr algn="r">
                        <a:buNone/>
                      </a:pPr>
                      <a:r>
                        <a:rPr lang="en-US" sz="1050" b="1">
                          <a:solidFill>
                            <a:schemeClr val="tx1"/>
                          </a:solidFill>
                        </a:rPr>
                        <a:t>Clients covered</a:t>
                      </a:r>
                    </a:p>
                  </a:txBody>
                  <a:tcPr anchor="ctr"/>
                </a:tc>
                <a:tc gridSpan="2">
                  <a:txBody>
                    <a:bodyPr/>
                    <a:lstStyle/>
                    <a:p>
                      <a:pPr algn="ctr">
                        <a:buNone/>
                      </a:pPr>
                      <a:r>
                        <a:rPr lang="en-AE" sz="1000"/>
                        <a:t>~10</a:t>
                      </a:r>
                    </a:p>
                  </a:txBody>
                  <a:tcPr anchor="ctr"/>
                </a:tc>
                <a:tc hMerge="1">
                  <a:txBody>
                    <a:bodyPr/>
                    <a:lstStyle/>
                    <a:p>
                      <a:pPr algn="ctr">
                        <a:buNone/>
                      </a:pPr>
                      <a:endParaRPr lang="en-AE" sz="1000"/>
                    </a:p>
                  </a:txBody>
                  <a:tcPr anchor="ctr"/>
                </a:tc>
                <a:tc gridSpan="2">
                  <a:txBody>
                    <a:bodyPr/>
                    <a:lstStyle/>
                    <a:p>
                      <a:pPr algn="ctr">
                        <a:buNone/>
                      </a:pPr>
                      <a:r>
                        <a:rPr lang="en-AE" sz="1000"/>
                        <a:t>~10</a:t>
                      </a:r>
                    </a:p>
                  </a:txBody>
                  <a:tcPr anchor="ctr"/>
                </a:tc>
                <a:tc hMerge="1">
                  <a:txBody>
                    <a:bodyPr/>
                    <a:lstStyle/>
                    <a:p>
                      <a:pPr algn="ctr">
                        <a:buNone/>
                      </a:pPr>
                      <a:endParaRPr lang="en-AE" sz="1000"/>
                    </a:p>
                  </a:txBody>
                  <a:tcPr anchor="ctr"/>
                </a:tc>
                <a:extLst>
                  <a:ext uri="{0D108BD9-81ED-4DB2-BD59-A6C34878D82A}">
                    <a16:rowId xmlns:a16="http://schemas.microsoft.com/office/drawing/2014/main" val="3290797356"/>
                  </a:ext>
                </a:extLst>
              </a:tr>
              <a:tr h="343344">
                <a:tc>
                  <a:txBody>
                    <a:bodyPr/>
                    <a:lstStyle/>
                    <a:p>
                      <a:pPr algn="r">
                        <a:buNone/>
                      </a:pPr>
                      <a:r>
                        <a:rPr lang="en-US" sz="1050" b="1">
                          <a:solidFill>
                            <a:schemeClr val="tx1"/>
                          </a:solidFill>
                        </a:rPr>
                        <a:t>Volume of </a:t>
                      </a:r>
                      <a:r>
                        <a:rPr lang="en-US" sz="1050" b="1" err="1">
                          <a:solidFill>
                            <a:schemeClr val="tx1"/>
                          </a:solidFill>
                        </a:rPr>
                        <a:t>tx</a:t>
                      </a:r>
                      <a:endParaRPr lang="en-US" sz="1050" b="1">
                        <a:solidFill>
                          <a:schemeClr val="tx1"/>
                        </a:solidFill>
                      </a:endParaRPr>
                    </a:p>
                  </a:txBody>
                  <a:tcPr anchor="ctr"/>
                </a:tc>
                <a:tc gridSpan="2">
                  <a:txBody>
                    <a:bodyPr/>
                    <a:lstStyle/>
                    <a:p>
                      <a:pPr algn="ctr">
                        <a:buNone/>
                      </a:pPr>
                      <a:r>
                        <a:rPr lang="en-AE" sz="1000"/>
                        <a:t>~9,000</a:t>
                      </a:r>
                    </a:p>
                  </a:txBody>
                  <a:tcPr anchor="ctr"/>
                </a:tc>
                <a:tc hMerge="1">
                  <a:txBody>
                    <a:bodyPr/>
                    <a:lstStyle/>
                    <a:p>
                      <a:pPr algn="ctr">
                        <a:buNone/>
                      </a:pPr>
                      <a:endParaRPr lang="en-AE" sz="1000"/>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E" sz="1000"/>
                        <a:t>~9,000</a:t>
                      </a: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E" sz="1000"/>
                    </a:p>
                  </a:txBody>
                  <a:tcPr anchor="ctr"/>
                </a:tc>
                <a:extLst>
                  <a:ext uri="{0D108BD9-81ED-4DB2-BD59-A6C34878D82A}">
                    <a16:rowId xmlns:a16="http://schemas.microsoft.com/office/drawing/2014/main" val="3760061818"/>
                  </a:ext>
                </a:extLst>
              </a:tr>
              <a:tr h="343344">
                <a:tc>
                  <a:txBody>
                    <a:bodyPr/>
                    <a:lstStyle/>
                    <a:p>
                      <a:pPr algn="r">
                        <a:buNone/>
                      </a:pPr>
                      <a:endParaRPr lang="en-US" sz="1050" b="1">
                        <a:solidFill>
                          <a:schemeClr val="tx1"/>
                        </a:solidFill>
                      </a:endParaRPr>
                    </a:p>
                  </a:txBody>
                  <a:tcPr anchor="ctr">
                    <a:solidFill>
                      <a:srgbClr val="FEFFFE"/>
                    </a:solidFill>
                  </a:tcPr>
                </a:tc>
                <a:tc>
                  <a:txBody>
                    <a:bodyPr/>
                    <a:lstStyle/>
                    <a:p>
                      <a:pPr algn="ctr">
                        <a:buNone/>
                      </a:pPr>
                      <a:r>
                        <a:rPr lang="en-US" sz="1000" b="1"/>
                        <a:t>Accounts Payable</a:t>
                      </a:r>
                    </a:p>
                  </a:txBody>
                  <a:tcPr anchor="ctr"/>
                </a:tc>
                <a:tc>
                  <a:txBody>
                    <a:bodyPr/>
                    <a:lstStyle/>
                    <a:p>
                      <a:pPr algn="ctr">
                        <a:buNone/>
                      </a:pPr>
                      <a:r>
                        <a:rPr lang="en-US" sz="1000" b="1"/>
                        <a:t>Payment</a:t>
                      </a:r>
                    </a:p>
                  </a:txBody>
                  <a:tcPr anchor="ctr"/>
                </a:tc>
                <a:tc>
                  <a:txBody>
                    <a:bodyPr/>
                    <a:lstStyle/>
                    <a:p>
                      <a:pPr algn="ctr">
                        <a:buNone/>
                      </a:pPr>
                      <a:r>
                        <a:rPr lang="en-US" sz="1000" b="1"/>
                        <a:t>Accounts Payable</a:t>
                      </a:r>
                    </a:p>
                  </a:txBody>
                  <a:tcPr anchor="ctr"/>
                </a:tc>
                <a:tc>
                  <a:txBody>
                    <a:bodyPr/>
                    <a:lstStyle/>
                    <a:p>
                      <a:pPr algn="ctr">
                        <a:buNone/>
                      </a:pPr>
                      <a:r>
                        <a:rPr lang="en-US" sz="1000" b="1"/>
                        <a:t>Payment</a:t>
                      </a:r>
                    </a:p>
                  </a:txBody>
                  <a:tcPr anchor="ctr"/>
                </a:tc>
                <a:extLst>
                  <a:ext uri="{0D108BD9-81ED-4DB2-BD59-A6C34878D82A}">
                    <a16:rowId xmlns:a16="http://schemas.microsoft.com/office/drawing/2014/main" val="1630883936"/>
                  </a:ext>
                </a:extLst>
              </a:tr>
              <a:tr h="343344">
                <a:tc>
                  <a:txBody>
                    <a:bodyPr/>
                    <a:lstStyle/>
                    <a:p>
                      <a:pPr algn="r">
                        <a:buNone/>
                      </a:pPr>
                      <a:r>
                        <a:rPr lang="en-US" sz="1050" b="1">
                          <a:solidFill>
                            <a:schemeClr val="tx1"/>
                          </a:solidFill>
                        </a:rPr>
                        <a:t>Avg. time per transaction</a:t>
                      </a:r>
                    </a:p>
                  </a:txBody>
                  <a:tcPr anchor="ctr"/>
                </a:tc>
                <a:tc>
                  <a:txBody>
                    <a:bodyPr/>
                    <a:lstStyle/>
                    <a:p>
                      <a:pPr algn="ctr">
                        <a:buNone/>
                      </a:pPr>
                      <a:r>
                        <a:rPr lang="en-US" sz="1000"/>
                        <a:t>21-60 min </a:t>
                      </a:r>
                    </a:p>
                  </a:txBody>
                  <a:tcPr anchor="ctr"/>
                </a:tc>
                <a:tc>
                  <a:txBody>
                    <a:bodyPr/>
                    <a:lstStyle/>
                    <a:p>
                      <a:pPr algn="ctr">
                        <a:buNone/>
                      </a:pPr>
                      <a:r>
                        <a:rPr lang="en-US" sz="1000"/>
                        <a:t>60-100 min </a:t>
                      </a:r>
                    </a:p>
                  </a:txBody>
                  <a:tcPr anchor="ctr"/>
                </a:tc>
                <a:tc>
                  <a:txBody>
                    <a:bodyPr/>
                    <a:lstStyle/>
                    <a:p>
                      <a:pPr algn="ctr">
                        <a:buNone/>
                      </a:pPr>
                      <a:r>
                        <a:rPr lang="en-US" sz="1000"/>
                        <a:t>10-30 min </a:t>
                      </a:r>
                    </a:p>
                  </a:txBody>
                  <a:tcPr anchor="ctr"/>
                </a:tc>
                <a:tc>
                  <a:txBody>
                    <a:bodyPr/>
                    <a:lstStyle/>
                    <a:p>
                      <a:pPr algn="ctr">
                        <a:buNone/>
                      </a:pPr>
                      <a:r>
                        <a:rPr lang="en-US" sz="1000"/>
                        <a:t>30-40 min </a:t>
                      </a:r>
                    </a:p>
                  </a:txBody>
                  <a:tcPr anchor="ctr"/>
                </a:tc>
                <a:extLst>
                  <a:ext uri="{0D108BD9-81ED-4DB2-BD59-A6C34878D82A}">
                    <a16:rowId xmlns:a16="http://schemas.microsoft.com/office/drawing/2014/main" val="2849300246"/>
                  </a:ext>
                </a:extLst>
              </a:tr>
            </a:tbl>
          </a:graphicData>
        </a:graphic>
      </p:graphicFrame>
      <p:sp>
        <p:nvSpPr>
          <p:cNvPr id="6" name="Rectangle 5">
            <a:extLst>
              <a:ext uri="{FF2B5EF4-FFF2-40B4-BE49-F238E27FC236}">
                <a16:creationId xmlns:a16="http://schemas.microsoft.com/office/drawing/2014/main" id="{8E7EA2E6-B0D4-9013-4A5F-4F4AA869F1F2}"/>
              </a:ext>
            </a:extLst>
          </p:cNvPr>
          <p:cNvSpPr/>
          <p:nvPr/>
        </p:nvSpPr>
        <p:spPr>
          <a:xfrm>
            <a:off x="3927265" y="4246267"/>
            <a:ext cx="9541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i="1">
                <a:solidFill>
                  <a:srgbClr val="000000">
                    <a:lumMod val="95000"/>
                    <a:lumOff val="5000"/>
                  </a:srgbClr>
                </a:solidFill>
              </a:rPr>
              <a:t>50%</a:t>
            </a:r>
            <a:endParaRPr kumimoji="0" lang="en-US" sz="1400" b="1" i="1" u="none" strike="noStrike" kern="1200" cap="none" spc="0" normalizeH="0" baseline="0" noProof="0">
              <a:ln>
                <a:noFill/>
              </a:ln>
              <a:solidFill>
                <a:srgbClr val="000000">
                  <a:lumMod val="95000"/>
                  <a:lumOff val="5000"/>
                </a:srgbClr>
              </a:solidFill>
              <a:effectLst/>
              <a:uLnTx/>
              <a:uFillTx/>
              <a:ea typeface="+mn-ea"/>
            </a:endParaRPr>
          </a:p>
        </p:txBody>
      </p:sp>
      <p:sp>
        <p:nvSpPr>
          <p:cNvPr id="7" name="Rectangle 6">
            <a:extLst>
              <a:ext uri="{FF2B5EF4-FFF2-40B4-BE49-F238E27FC236}">
                <a16:creationId xmlns:a16="http://schemas.microsoft.com/office/drawing/2014/main" id="{626B9632-57DC-B60E-6894-A460D0AAE9B1}"/>
              </a:ext>
            </a:extLst>
          </p:cNvPr>
          <p:cNvSpPr/>
          <p:nvPr/>
        </p:nvSpPr>
        <p:spPr>
          <a:xfrm>
            <a:off x="6665727" y="4246267"/>
            <a:ext cx="9541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i="1">
                <a:solidFill>
                  <a:srgbClr val="000000">
                    <a:lumMod val="95000"/>
                    <a:lumOff val="5000"/>
                  </a:srgbClr>
                </a:solidFill>
              </a:rPr>
              <a:t>50%</a:t>
            </a:r>
            <a:endParaRPr kumimoji="0" lang="en-US" sz="1400" b="1" i="1" u="none" strike="noStrike" kern="1200" cap="none" spc="0" normalizeH="0" baseline="0" noProof="0">
              <a:ln>
                <a:noFill/>
              </a:ln>
              <a:solidFill>
                <a:srgbClr val="000000">
                  <a:lumMod val="95000"/>
                  <a:lumOff val="5000"/>
                </a:srgbClr>
              </a:solidFill>
              <a:effectLst/>
              <a:uLnTx/>
              <a:uFillTx/>
              <a:ea typeface="+mn-ea"/>
            </a:endParaRPr>
          </a:p>
        </p:txBody>
      </p:sp>
      <p:pic>
        <p:nvPicPr>
          <p:cNvPr id="11" name="Picture 10">
            <a:extLst>
              <a:ext uri="{FF2B5EF4-FFF2-40B4-BE49-F238E27FC236}">
                <a16:creationId xmlns:a16="http://schemas.microsoft.com/office/drawing/2014/main" id="{ACD3C143-B26C-0E17-3DEA-E2F7684D45B1}"/>
              </a:ext>
            </a:extLst>
          </p:cNvPr>
          <p:cNvPicPr>
            <a:picLocks noChangeAspect="1"/>
          </p:cNvPicPr>
          <p:nvPr/>
        </p:nvPicPr>
        <p:blipFill>
          <a:blip r:embed="rId7"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rot="7231909" flipH="1">
            <a:off x="9243223" y="3818879"/>
            <a:ext cx="729312" cy="439011"/>
          </a:xfrm>
          <a:prstGeom prst="rect">
            <a:avLst/>
          </a:prstGeom>
        </p:spPr>
      </p:pic>
      <p:sp>
        <p:nvSpPr>
          <p:cNvPr id="12" name="Rectangle 11">
            <a:extLst>
              <a:ext uri="{FF2B5EF4-FFF2-40B4-BE49-F238E27FC236}">
                <a16:creationId xmlns:a16="http://schemas.microsoft.com/office/drawing/2014/main" id="{3F31530F-179A-D4D2-A6DA-853A73082887}"/>
              </a:ext>
            </a:extLst>
          </p:cNvPr>
          <p:cNvSpPr/>
          <p:nvPr/>
        </p:nvSpPr>
        <p:spPr>
          <a:xfrm>
            <a:off x="9183312" y="3201426"/>
            <a:ext cx="2033798" cy="377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chemeClr val="tx1"/>
                </a:solidFill>
                <a:latin typeface="Ink Free" panose="03080402000500000000" pitchFamily="66" charset="0"/>
              </a:rPr>
              <a:t>Focus of this baseline</a:t>
            </a:r>
          </a:p>
        </p:txBody>
      </p:sp>
      <p:sp>
        <p:nvSpPr>
          <p:cNvPr id="13" name="TextBox 12">
            <a:extLst>
              <a:ext uri="{FF2B5EF4-FFF2-40B4-BE49-F238E27FC236}">
                <a16:creationId xmlns:a16="http://schemas.microsoft.com/office/drawing/2014/main" id="{BBFED2DE-DAD1-319C-95E6-92BB76B82A80}"/>
              </a:ext>
            </a:extLst>
          </p:cNvPr>
          <p:cNvSpPr txBox="1"/>
          <p:nvPr/>
        </p:nvSpPr>
        <p:spPr>
          <a:xfrm>
            <a:off x="318000" y="3381813"/>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600">
                <a:solidFill>
                  <a:schemeClr val="tx1"/>
                </a:solidFill>
              </a:rPr>
              <a:t>Process Effort Breakdown</a:t>
            </a:r>
          </a:p>
        </p:txBody>
      </p:sp>
      <p:cxnSp>
        <p:nvCxnSpPr>
          <p:cNvPr id="14" name="Straight Connector 13">
            <a:extLst>
              <a:ext uri="{FF2B5EF4-FFF2-40B4-BE49-F238E27FC236}">
                <a16:creationId xmlns:a16="http://schemas.microsoft.com/office/drawing/2014/main" id="{7B085D47-7B50-B7F5-0A8E-8A5C18D5EC2E}"/>
              </a:ext>
            </a:extLst>
          </p:cNvPr>
          <p:cNvCxnSpPr>
            <a:cxnSpLocks/>
          </p:cNvCxnSpPr>
          <p:nvPr/>
        </p:nvCxnSpPr>
        <p:spPr>
          <a:xfrm flipH="1">
            <a:off x="449421" y="3818189"/>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D7F6A7A-1E6E-4603-3BF4-7EC6F34E3BE0}"/>
              </a:ext>
            </a:extLst>
          </p:cNvPr>
          <p:cNvSpPr/>
          <p:nvPr/>
        </p:nvSpPr>
        <p:spPr>
          <a:xfrm>
            <a:off x="8950238" y="4863068"/>
            <a:ext cx="2499945" cy="1000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 Accounts Payable &amp; Payment (~18k transactions) are evenly split between manual and ERP processes</a:t>
            </a:r>
            <a:endParaRPr lang="en-AE" sz="1200">
              <a:solidFill>
                <a:schemeClr val="tx1"/>
              </a:solidFill>
            </a:endParaRPr>
          </a:p>
        </p:txBody>
      </p:sp>
    </p:spTree>
    <p:extLst>
      <p:ext uri="{BB962C8B-B14F-4D97-AF65-F5344CB8AC3E}">
        <p14:creationId xmlns:p14="http://schemas.microsoft.com/office/powerpoint/2010/main" val="2949959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4A61-DEE6-35CB-6098-CB846CD686F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A322F07-E07E-DFC2-442D-071D73B031D2}"/>
              </a:ext>
            </a:extLst>
          </p:cNvPr>
          <p:cNvGraphicFramePr>
            <a:graphicFrameLocks noChangeAspect="1"/>
          </p:cNvGraphicFramePr>
          <p:nvPr>
            <p:custDataLst>
              <p:tags r:id="rId1"/>
            </p:custDataLst>
            <p:extLst>
              <p:ext uri="{D42A27DB-BD31-4B8C-83A1-F6EECF244321}">
                <p14:modId xmlns:p14="http://schemas.microsoft.com/office/powerpoint/2010/main" val="3831050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1A322F07-E07E-DFC2-442D-071D73B031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F2905-74C0-6E68-9D83-7D808B79301E}"/>
              </a:ext>
            </a:extLst>
          </p:cNvPr>
          <p:cNvSpPr>
            <a:spLocks noGrp="1"/>
          </p:cNvSpPr>
          <p:nvPr>
            <p:ph type="ctrTitle"/>
          </p:nvPr>
        </p:nvSpPr>
        <p:spPr/>
        <p:txBody>
          <a:bodyPr vert="horz"/>
          <a:lstStyle/>
          <a:p>
            <a:r>
              <a:rPr lang="en-US"/>
              <a:t>1. Detailed process for manual clients</a:t>
            </a:r>
          </a:p>
        </p:txBody>
      </p:sp>
    </p:spTree>
    <p:extLst>
      <p:ext uri="{BB962C8B-B14F-4D97-AF65-F5344CB8AC3E}">
        <p14:creationId xmlns:p14="http://schemas.microsoft.com/office/powerpoint/2010/main" val="352730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D0A757-79A2-754B-F13A-969801AEB938}"/>
              </a:ext>
            </a:extLst>
          </p:cNvPr>
          <p:cNvGraphicFramePr>
            <a:graphicFrameLocks noChangeAspect="1"/>
          </p:cNvGraphicFramePr>
          <p:nvPr>
            <p:custDataLst>
              <p:tags r:id="rId1"/>
            </p:custDataLst>
            <p:extLst>
              <p:ext uri="{D42A27DB-BD31-4B8C-83A1-F6EECF244321}">
                <p14:modId xmlns:p14="http://schemas.microsoft.com/office/powerpoint/2010/main" val="20543972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6" name="think-cell data - do not delete" hidden="1">
                        <a:extLst>
                          <a:ext uri="{FF2B5EF4-FFF2-40B4-BE49-F238E27FC236}">
                            <a16:creationId xmlns:a16="http://schemas.microsoft.com/office/drawing/2014/main" id="{EED0A757-79A2-754B-F13A-969801AEB9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07E5A9-8058-2307-AB63-AECF7784CEDC}"/>
              </a:ext>
            </a:extLst>
          </p:cNvPr>
          <p:cNvSpPr>
            <a:spLocks noGrp="1"/>
          </p:cNvSpPr>
          <p:nvPr>
            <p:ph type="title"/>
          </p:nvPr>
        </p:nvSpPr>
        <p:spPr/>
        <p:txBody>
          <a:bodyPr vert="horz"/>
          <a:lstStyle/>
          <a:p>
            <a:r>
              <a:rPr lang="en-US"/>
              <a:t>1a. Accounts Payable – Manual </a:t>
            </a:r>
          </a:p>
        </p:txBody>
      </p:sp>
      <p:sp>
        <p:nvSpPr>
          <p:cNvPr id="3" name="Slide Number Placeholder 2">
            <a:extLst>
              <a:ext uri="{FF2B5EF4-FFF2-40B4-BE49-F238E27FC236}">
                <a16:creationId xmlns:a16="http://schemas.microsoft.com/office/drawing/2014/main" id="{A1FAF021-E34D-9281-A1BC-08468C4436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SA" sz="1200" b="0" i="0" u="none" strike="noStrike" kern="1200" cap="none" spc="0" normalizeH="0" baseline="0" noProof="0">
              <a:ln>
                <a:noFill/>
              </a:ln>
              <a:solidFill>
                <a:srgbClr val="10069E">
                  <a:tint val="82000"/>
                </a:srgbClr>
              </a:solidFill>
              <a:effectLst/>
              <a:uLnTx/>
              <a:uFillTx/>
              <a:latin typeface="Montserrat"/>
              <a:ea typeface="+mn-ea"/>
            </a:endParaRPr>
          </a:p>
        </p:txBody>
      </p:sp>
      <p:sp>
        <p:nvSpPr>
          <p:cNvPr id="7" name="TextBox 6">
            <a:extLst>
              <a:ext uri="{FF2B5EF4-FFF2-40B4-BE49-F238E27FC236}">
                <a16:creationId xmlns:a16="http://schemas.microsoft.com/office/drawing/2014/main" id="{1885A840-90F3-0A84-B5BB-CD45899C3F0F}"/>
              </a:ext>
            </a:extLst>
          </p:cNvPr>
          <p:cNvSpPr txBox="1"/>
          <p:nvPr/>
        </p:nvSpPr>
        <p:spPr>
          <a:xfrm>
            <a:off x="318000" y="1099409"/>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How it works</a:t>
            </a:r>
          </a:p>
        </p:txBody>
      </p:sp>
      <p:cxnSp>
        <p:nvCxnSpPr>
          <p:cNvPr id="8" name="Straight Connector 7">
            <a:extLst>
              <a:ext uri="{FF2B5EF4-FFF2-40B4-BE49-F238E27FC236}">
                <a16:creationId xmlns:a16="http://schemas.microsoft.com/office/drawing/2014/main" id="{6E23109C-D03C-4BD0-4739-61D21AE977D3}"/>
              </a:ext>
            </a:extLst>
          </p:cNvPr>
          <p:cNvCxnSpPr>
            <a:cxnSpLocks/>
          </p:cNvCxnSpPr>
          <p:nvPr/>
        </p:nvCxnSpPr>
        <p:spPr>
          <a:xfrm flipH="1">
            <a:off x="449421" y="1535785"/>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A2E8C3A-A45F-6A0C-1B31-B5ABC6A2B813}"/>
              </a:ext>
            </a:extLst>
          </p:cNvPr>
          <p:cNvSpPr txBox="1"/>
          <p:nvPr/>
        </p:nvSpPr>
        <p:spPr>
          <a:xfrm>
            <a:off x="318000" y="1686711"/>
            <a:ext cx="11376695" cy="502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ontserrat SemiBold"/>
                <a:ea typeface="+mn-ea"/>
              </a:rPr>
              <a:t>In the manual process, clients share approved invoices and supporting documents with Tasama, where accountants perform a 3-way match, record the invoice, and senior accountants validate and post it in the system</a:t>
            </a:r>
          </a:p>
        </p:txBody>
      </p:sp>
      <p:pic>
        <p:nvPicPr>
          <p:cNvPr id="37" name="Picture 36">
            <a:extLst>
              <a:ext uri="{FF2B5EF4-FFF2-40B4-BE49-F238E27FC236}">
                <a16:creationId xmlns:a16="http://schemas.microsoft.com/office/drawing/2014/main" id="{857D0930-E710-B15C-2492-9E6057EE08F3}"/>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12813" y="5728708"/>
            <a:ext cx="12192000" cy="342358"/>
          </a:xfrm>
          <a:prstGeom prst="rect">
            <a:avLst/>
          </a:prstGeom>
          <a:solidFill>
            <a:srgbClr val="FFFFFF"/>
          </a:solidFill>
          <a:ln>
            <a:noFill/>
          </a:ln>
        </p:spPr>
      </p:pic>
      <p:sp>
        <p:nvSpPr>
          <p:cNvPr id="13" name="TextBox 12">
            <a:extLst>
              <a:ext uri="{FF2B5EF4-FFF2-40B4-BE49-F238E27FC236}">
                <a16:creationId xmlns:a16="http://schemas.microsoft.com/office/drawing/2014/main" id="{DD771E67-6C82-7886-57F3-B2E93092D495}"/>
              </a:ext>
            </a:extLst>
          </p:cNvPr>
          <p:cNvSpPr txBox="1"/>
          <p:nvPr/>
        </p:nvSpPr>
        <p:spPr>
          <a:xfrm>
            <a:off x="318000" y="4895187"/>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Key metrics</a:t>
            </a:r>
          </a:p>
        </p:txBody>
      </p:sp>
      <p:cxnSp>
        <p:nvCxnSpPr>
          <p:cNvPr id="14" name="Straight Connector 13">
            <a:extLst>
              <a:ext uri="{FF2B5EF4-FFF2-40B4-BE49-F238E27FC236}">
                <a16:creationId xmlns:a16="http://schemas.microsoft.com/office/drawing/2014/main" id="{6AD40748-3C75-8D4A-AAAD-CBAF72CAA63F}"/>
              </a:ext>
            </a:extLst>
          </p:cNvPr>
          <p:cNvCxnSpPr>
            <a:cxnSpLocks/>
          </p:cNvCxnSpPr>
          <p:nvPr/>
        </p:nvCxnSpPr>
        <p:spPr>
          <a:xfrm flipH="1">
            <a:off x="449421" y="5331563"/>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7B0A5BA9-E786-1865-1C33-8D1C49073737}"/>
              </a:ext>
            </a:extLst>
          </p:cNvPr>
          <p:cNvSpPr/>
          <p:nvPr/>
        </p:nvSpPr>
        <p:spPr>
          <a:xfrm>
            <a:off x="2368828"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rPr>
              <a:t>Volume: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rPr>
              <a:t>~9,000</a:t>
            </a:r>
            <a:r>
              <a:rPr kumimoji="0" lang="en-US" sz="1200" b="0" i="0" u="none" strike="noStrike" kern="1200" cap="none" spc="0" normalizeH="0" baseline="0" noProof="0">
                <a:ln>
                  <a:noFill/>
                </a:ln>
                <a:solidFill>
                  <a:srgbClr val="10069E"/>
                </a:solidFill>
                <a:effectLst/>
                <a:uLnTx/>
                <a:uFillTx/>
                <a:latin typeface="Montserrat"/>
                <a:ea typeface="+mn-ea"/>
              </a:rPr>
              <a:t> accounts payable annually</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35" name="Rectangle: Rounded Corners 34">
            <a:extLst>
              <a:ext uri="{FF2B5EF4-FFF2-40B4-BE49-F238E27FC236}">
                <a16:creationId xmlns:a16="http://schemas.microsoft.com/office/drawing/2014/main" id="{E56A3CD9-70C3-4014-EB58-80197E385F07}"/>
              </a:ext>
            </a:extLst>
          </p:cNvPr>
          <p:cNvSpPr/>
          <p:nvPr/>
        </p:nvSpPr>
        <p:spPr>
          <a:xfrm>
            <a:off x="7479313"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rPr>
              <a:t>Effort: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rPr>
              <a:t>21-60</a:t>
            </a:r>
            <a:r>
              <a:rPr kumimoji="0" lang="en-US" sz="1200" b="0" i="0" u="none" strike="noStrike" kern="1200" cap="none" spc="0" normalizeH="0" baseline="0" noProof="0">
                <a:ln>
                  <a:noFill/>
                </a:ln>
                <a:solidFill>
                  <a:srgbClr val="10069E"/>
                </a:solidFill>
                <a:effectLst/>
                <a:uLnTx/>
                <a:uFillTx/>
                <a:latin typeface="Montserrat"/>
                <a:ea typeface="+mn-ea"/>
              </a:rPr>
              <a:t> min per accounts payable</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10" name="TextBox 9">
            <a:extLst>
              <a:ext uri="{FF2B5EF4-FFF2-40B4-BE49-F238E27FC236}">
                <a16:creationId xmlns:a16="http://schemas.microsoft.com/office/drawing/2014/main" id="{780EB3D4-F807-F53A-8E40-40B043349B0A}"/>
              </a:ext>
            </a:extLst>
          </p:cNvPr>
          <p:cNvSpPr txBox="1"/>
          <p:nvPr/>
        </p:nvSpPr>
        <p:spPr>
          <a:xfrm>
            <a:off x="318000" y="2339580"/>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High-level process steps</a:t>
            </a:r>
          </a:p>
        </p:txBody>
      </p:sp>
      <p:cxnSp>
        <p:nvCxnSpPr>
          <p:cNvPr id="11" name="Straight Connector 10">
            <a:extLst>
              <a:ext uri="{FF2B5EF4-FFF2-40B4-BE49-F238E27FC236}">
                <a16:creationId xmlns:a16="http://schemas.microsoft.com/office/drawing/2014/main" id="{E3030719-E15F-CFF3-84AB-AA31F165EC1B}"/>
              </a:ext>
            </a:extLst>
          </p:cNvPr>
          <p:cNvCxnSpPr>
            <a:cxnSpLocks/>
          </p:cNvCxnSpPr>
          <p:nvPr/>
        </p:nvCxnSpPr>
        <p:spPr>
          <a:xfrm flipH="1">
            <a:off x="449421" y="2775956"/>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DAF6EF7-1CF9-364E-447D-720905065F6C}"/>
              </a:ext>
            </a:extLst>
          </p:cNvPr>
          <p:cNvSpPr/>
          <p:nvPr/>
        </p:nvSpPr>
        <p:spPr>
          <a:xfrm>
            <a:off x="433362" y="3202152"/>
            <a:ext cx="1270000" cy="1237435"/>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Share Approved Invoices for processing with Tasama</a:t>
            </a:r>
          </a:p>
        </p:txBody>
      </p:sp>
      <p:sp>
        <p:nvSpPr>
          <p:cNvPr id="17" name="Rectangle 16">
            <a:extLst>
              <a:ext uri="{FF2B5EF4-FFF2-40B4-BE49-F238E27FC236}">
                <a16:creationId xmlns:a16="http://schemas.microsoft.com/office/drawing/2014/main" id="{01CFF9C1-7A2B-4FDC-B1F5-9687CED09018}"/>
              </a:ext>
            </a:extLst>
          </p:cNvPr>
          <p:cNvSpPr/>
          <p:nvPr/>
        </p:nvSpPr>
        <p:spPr>
          <a:xfrm>
            <a:off x="2780669" y="3258399"/>
            <a:ext cx="1507438"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Receive supporting documents and emails from Client directly on finance domain email / Service Now and archive the documents in the shared folder</a:t>
            </a:r>
          </a:p>
        </p:txBody>
      </p:sp>
      <p:sp>
        <p:nvSpPr>
          <p:cNvPr id="18" name="Rectangle 17">
            <a:extLst>
              <a:ext uri="{FF2B5EF4-FFF2-40B4-BE49-F238E27FC236}">
                <a16:creationId xmlns:a16="http://schemas.microsoft.com/office/drawing/2014/main" id="{ADD7874B-B5B0-3409-769D-E96E88830E98}"/>
              </a:ext>
            </a:extLst>
          </p:cNvPr>
          <p:cNvSpPr/>
          <p:nvPr/>
        </p:nvSpPr>
        <p:spPr>
          <a:xfrm>
            <a:off x="5365413" y="3258399"/>
            <a:ext cx="1507438"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Review the invoice perform 3 - way match (PO/Contract, COC, Invoice)</a:t>
            </a:r>
          </a:p>
        </p:txBody>
      </p:sp>
      <p:sp>
        <p:nvSpPr>
          <p:cNvPr id="19" name="Rectangle 18">
            <a:extLst>
              <a:ext uri="{FF2B5EF4-FFF2-40B4-BE49-F238E27FC236}">
                <a16:creationId xmlns:a16="http://schemas.microsoft.com/office/drawing/2014/main" id="{173BF4A1-2A36-06F4-F980-51D842ACE0F9}"/>
              </a:ext>
            </a:extLst>
          </p:cNvPr>
          <p:cNvSpPr/>
          <p:nvPr/>
        </p:nvSpPr>
        <p:spPr>
          <a:xfrm>
            <a:off x="7950157" y="3258399"/>
            <a:ext cx="1507438"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Record the Invoice and update archive</a:t>
            </a:r>
          </a:p>
        </p:txBody>
      </p:sp>
      <p:sp>
        <p:nvSpPr>
          <p:cNvPr id="22" name="Oval 21">
            <a:extLst>
              <a:ext uri="{FF2B5EF4-FFF2-40B4-BE49-F238E27FC236}">
                <a16:creationId xmlns:a16="http://schemas.microsoft.com/office/drawing/2014/main" id="{7EAD3589-BBF4-C2C4-D900-32D29D8724BB}"/>
              </a:ext>
            </a:extLst>
          </p:cNvPr>
          <p:cNvSpPr/>
          <p:nvPr/>
        </p:nvSpPr>
        <p:spPr>
          <a:xfrm>
            <a:off x="10534902" y="3202152"/>
            <a:ext cx="1270000" cy="1237435"/>
          </a:xfrm>
          <a:prstGeom prst="ellipse">
            <a:avLst/>
          </a:prstGeom>
          <a:solidFill>
            <a:srgbClr val="F5C8A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Validation and Posting of Invoice </a:t>
            </a:r>
          </a:p>
        </p:txBody>
      </p:sp>
      <p:cxnSp>
        <p:nvCxnSpPr>
          <p:cNvPr id="23" name="Straight Arrow Connector 22">
            <a:extLst>
              <a:ext uri="{FF2B5EF4-FFF2-40B4-BE49-F238E27FC236}">
                <a16:creationId xmlns:a16="http://schemas.microsoft.com/office/drawing/2014/main" id="{E39283F8-F13F-490A-A767-0F7543C7F4D5}"/>
              </a:ext>
            </a:extLst>
          </p:cNvPr>
          <p:cNvCxnSpPr>
            <a:stCxn id="16" idx="6"/>
            <a:endCxn id="17" idx="1"/>
          </p:cNvCxnSpPr>
          <p:nvPr/>
        </p:nvCxnSpPr>
        <p:spPr>
          <a:xfrm>
            <a:off x="1703362" y="3820870"/>
            <a:ext cx="1077307"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3E43D10-E78A-FB78-B913-EFAD1106ED40}"/>
              </a:ext>
            </a:extLst>
          </p:cNvPr>
          <p:cNvCxnSpPr>
            <a:cxnSpLocks/>
            <a:stCxn id="17" idx="3"/>
            <a:endCxn id="18" idx="1"/>
          </p:cNvCxnSpPr>
          <p:nvPr/>
        </p:nvCxnSpPr>
        <p:spPr>
          <a:xfrm>
            <a:off x="4288107" y="3820870"/>
            <a:ext cx="1077306"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70F2A90-1AD4-8A3B-C4CC-67D9A2AC5E90}"/>
              </a:ext>
            </a:extLst>
          </p:cNvPr>
          <p:cNvCxnSpPr>
            <a:cxnSpLocks/>
            <a:stCxn id="18" idx="3"/>
            <a:endCxn id="19" idx="1"/>
          </p:cNvCxnSpPr>
          <p:nvPr/>
        </p:nvCxnSpPr>
        <p:spPr>
          <a:xfrm>
            <a:off x="6872851" y="3820870"/>
            <a:ext cx="1077306"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AF60D27-230E-E33B-9749-14D2331E0D1D}"/>
              </a:ext>
            </a:extLst>
          </p:cNvPr>
          <p:cNvCxnSpPr>
            <a:cxnSpLocks/>
            <a:stCxn id="19" idx="3"/>
            <a:endCxn id="22" idx="2"/>
          </p:cNvCxnSpPr>
          <p:nvPr/>
        </p:nvCxnSpPr>
        <p:spPr>
          <a:xfrm>
            <a:off x="9457595" y="3820870"/>
            <a:ext cx="1077307"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6B117996-D147-BDE9-D3C9-8CB158A579BB}"/>
              </a:ext>
            </a:extLst>
          </p:cNvPr>
          <p:cNvGrpSpPr/>
          <p:nvPr/>
        </p:nvGrpSpPr>
        <p:grpSpPr>
          <a:xfrm>
            <a:off x="6465674" y="2586394"/>
            <a:ext cx="1855649" cy="223371"/>
            <a:chOff x="7863374" y="2841578"/>
            <a:chExt cx="1855649" cy="223371"/>
          </a:xfrm>
        </p:grpSpPr>
        <p:sp>
          <p:nvSpPr>
            <p:cNvPr id="44" name="Rectangle 43">
              <a:extLst>
                <a:ext uri="{FF2B5EF4-FFF2-40B4-BE49-F238E27FC236}">
                  <a16:creationId xmlns:a16="http://schemas.microsoft.com/office/drawing/2014/main" id="{D77F390F-DA40-9131-CA8E-A7241B2D5BF3}"/>
                </a:ext>
              </a:extLst>
            </p:cNvPr>
            <p:cNvSpPr/>
            <p:nvPr/>
          </p:nvSpPr>
          <p:spPr>
            <a:xfrm>
              <a:off x="7863374" y="2881240"/>
              <a:ext cx="145023" cy="144047"/>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45" name="TextBox 44">
              <a:extLst>
                <a:ext uri="{FF2B5EF4-FFF2-40B4-BE49-F238E27FC236}">
                  <a16:creationId xmlns:a16="http://schemas.microsoft.com/office/drawing/2014/main" id="{C3A0F450-0AE3-06A7-9EAC-B315B2CCF8BC}"/>
                </a:ext>
              </a:extLst>
            </p:cNvPr>
            <p:cNvSpPr txBox="1"/>
            <p:nvPr/>
          </p:nvSpPr>
          <p:spPr>
            <a:xfrm>
              <a:off x="8063023" y="2841578"/>
              <a:ext cx="165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Tasama - Accountant</a:t>
              </a:r>
            </a:p>
          </p:txBody>
        </p:sp>
      </p:grpSp>
      <p:grpSp>
        <p:nvGrpSpPr>
          <p:cNvPr id="42" name="Group 41">
            <a:extLst>
              <a:ext uri="{FF2B5EF4-FFF2-40B4-BE49-F238E27FC236}">
                <a16:creationId xmlns:a16="http://schemas.microsoft.com/office/drawing/2014/main" id="{3AE16A25-2497-4760-5AFE-5D027BC95B1A}"/>
              </a:ext>
            </a:extLst>
          </p:cNvPr>
          <p:cNvGrpSpPr/>
          <p:nvPr/>
        </p:nvGrpSpPr>
        <p:grpSpPr>
          <a:xfrm>
            <a:off x="10874197" y="2586394"/>
            <a:ext cx="820498" cy="223371"/>
            <a:chOff x="9180549" y="2841578"/>
            <a:chExt cx="820498" cy="223371"/>
          </a:xfrm>
        </p:grpSpPr>
        <p:sp>
          <p:nvSpPr>
            <p:cNvPr id="38" name="Rectangle 37">
              <a:extLst>
                <a:ext uri="{FF2B5EF4-FFF2-40B4-BE49-F238E27FC236}">
                  <a16:creationId xmlns:a16="http://schemas.microsoft.com/office/drawing/2014/main" id="{FDF8381D-65D2-AAC1-D1F4-752CA08F71FD}"/>
                </a:ext>
              </a:extLst>
            </p:cNvPr>
            <p:cNvSpPr/>
            <p:nvPr/>
          </p:nvSpPr>
          <p:spPr>
            <a:xfrm>
              <a:off x="9180549" y="2881240"/>
              <a:ext cx="145023" cy="14404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39" name="TextBox 38">
              <a:extLst>
                <a:ext uri="{FF2B5EF4-FFF2-40B4-BE49-F238E27FC236}">
                  <a16:creationId xmlns:a16="http://schemas.microsoft.com/office/drawing/2014/main" id="{7B9537EB-8833-C188-8E20-383875FC99DB}"/>
                </a:ext>
              </a:extLst>
            </p:cNvPr>
            <p:cNvSpPr txBox="1"/>
            <p:nvPr/>
          </p:nvSpPr>
          <p:spPr>
            <a:xfrm>
              <a:off x="9380198" y="2841578"/>
              <a:ext cx="620849"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Client</a:t>
              </a:r>
            </a:p>
          </p:txBody>
        </p:sp>
      </p:grpSp>
      <p:grpSp>
        <p:nvGrpSpPr>
          <p:cNvPr id="40" name="Group 39">
            <a:extLst>
              <a:ext uri="{FF2B5EF4-FFF2-40B4-BE49-F238E27FC236}">
                <a16:creationId xmlns:a16="http://schemas.microsoft.com/office/drawing/2014/main" id="{714AB9E6-2366-4ABA-8009-84436FD4D13B}"/>
              </a:ext>
            </a:extLst>
          </p:cNvPr>
          <p:cNvGrpSpPr/>
          <p:nvPr/>
        </p:nvGrpSpPr>
        <p:grpSpPr>
          <a:xfrm>
            <a:off x="8579936" y="2586394"/>
            <a:ext cx="2035647" cy="223371"/>
            <a:chOff x="10398573" y="2841578"/>
            <a:chExt cx="2035647" cy="223371"/>
          </a:xfrm>
        </p:grpSpPr>
        <p:sp>
          <p:nvSpPr>
            <p:cNvPr id="46" name="Rectangle 45">
              <a:extLst>
                <a:ext uri="{FF2B5EF4-FFF2-40B4-BE49-F238E27FC236}">
                  <a16:creationId xmlns:a16="http://schemas.microsoft.com/office/drawing/2014/main" id="{EEE93D9B-E704-0A8B-6B15-00160822A76A}"/>
                </a:ext>
              </a:extLst>
            </p:cNvPr>
            <p:cNvSpPr/>
            <p:nvPr/>
          </p:nvSpPr>
          <p:spPr>
            <a:xfrm>
              <a:off x="10398573" y="2881240"/>
              <a:ext cx="145023" cy="14404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48" name="TextBox 47">
              <a:extLst>
                <a:ext uri="{FF2B5EF4-FFF2-40B4-BE49-F238E27FC236}">
                  <a16:creationId xmlns:a16="http://schemas.microsoft.com/office/drawing/2014/main" id="{94815DBC-B77D-6967-1ACB-E32FCDC7A717}"/>
                </a:ext>
              </a:extLst>
            </p:cNvPr>
            <p:cNvSpPr txBox="1"/>
            <p:nvPr/>
          </p:nvSpPr>
          <p:spPr>
            <a:xfrm>
              <a:off x="10598220" y="2841578"/>
              <a:ext cx="183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Tasama - S. Accountant</a:t>
              </a:r>
            </a:p>
          </p:txBody>
        </p:sp>
      </p:grpSp>
      <p:sp>
        <p:nvSpPr>
          <p:cNvPr id="50" name="Rectangle 49">
            <a:extLst>
              <a:ext uri="{FF2B5EF4-FFF2-40B4-BE49-F238E27FC236}">
                <a16:creationId xmlns:a16="http://schemas.microsoft.com/office/drawing/2014/main" id="{33D83322-CA66-B6FA-9584-BA00E1B0184C}"/>
              </a:ext>
            </a:extLst>
          </p:cNvPr>
          <p:cNvSpPr/>
          <p:nvPr/>
        </p:nvSpPr>
        <p:spPr>
          <a:xfrm>
            <a:off x="695107" y="6463602"/>
            <a:ext cx="8072853" cy="269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ontserrat"/>
                <a:ea typeface="+mn-ea"/>
              </a:rPr>
              <a:t>* All figures and volumes shown are based on Finance Team input</a:t>
            </a:r>
            <a:endParaRPr kumimoji="0" lang="en-AE" sz="1000" b="0" i="0" u="none" strike="noStrike" kern="1200" cap="none" spc="0" normalizeH="0" baseline="0" noProof="0">
              <a:ln>
                <a:noFill/>
              </a:ln>
              <a:solidFill>
                <a:srgbClr val="000000"/>
              </a:solidFill>
              <a:effectLst/>
              <a:uLnTx/>
              <a:uFillTx/>
              <a:latin typeface="Montserrat"/>
              <a:ea typeface="+mn-ea"/>
            </a:endParaRPr>
          </a:p>
        </p:txBody>
      </p:sp>
      <p:sp>
        <p:nvSpPr>
          <p:cNvPr id="43" name="Rectangle 42">
            <a:extLst>
              <a:ext uri="{FF2B5EF4-FFF2-40B4-BE49-F238E27FC236}">
                <a16:creationId xmlns:a16="http://schemas.microsoft.com/office/drawing/2014/main" id="{3C6267EE-6ABC-39E8-126F-17A303773F15}"/>
              </a:ext>
            </a:extLst>
          </p:cNvPr>
          <p:cNvSpPr/>
          <p:nvPr/>
        </p:nvSpPr>
        <p:spPr>
          <a:xfrm>
            <a:off x="3140104" y="4482886"/>
            <a:ext cx="7885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5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47" name="Rectangle 46">
            <a:extLst>
              <a:ext uri="{FF2B5EF4-FFF2-40B4-BE49-F238E27FC236}">
                <a16:creationId xmlns:a16="http://schemas.microsoft.com/office/drawing/2014/main" id="{6A05068D-624D-FDDF-44E8-04F36E9FF6A9}"/>
              </a:ext>
            </a:extLst>
          </p:cNvPr>
          <p:cNvSpPr/>
          <p:nvPr/>
        </p:nvSpPr>
        <p:spPr>
          <a:xfrm>
            <a:off x="5594339"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8-20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51" name="Rectangle 50">
            <a:extLst>
              <a:ext uri="{FF2B5EF4-FFF2-40B4-BE49-F238E27FC236}">
                <a16:creationId xmlns:a16="http://schemas.microsoft.com/office/drawing/2014/main" id="{A79B5001-3F36-26BB-3A0E-9AD6FAAA2BBA}"/>
              </a:ext>
            </a:extLst>
          </p:cNvPr>
          <p:cNvSpPr/>
          <p:nvPr/>
        </p:nvSpPr>
        <p:spPr>
          <a:xfrm>
            <a:off x="8179083"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5-20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52" name="Rectangle 51">
            <a:extLst>
              <a:ext uri="{FF2B5EF4-FFF2-40B4-BE49-F238E27FC236}">
                <a16:creationId xmlns:a16="http://schemas.microsoft.com/office/drawing/2014/main" id="{593CBEC0-B958-B96D-8137-757AD1DD4D7C}"/>
              </a:ext>
            </a:extLst>
          </p:cNvPr>
          <p:cNvSpPr/>
          <p:nvPr/>
        </p:nvSpPr>
        <p:spPr>
          <a:xfrm>
            <a:off x="10645109"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3-15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Tree>
    <p:extLst>
      <p:ext uri="{BB962C8B-B14F-4D97-AF65-F5344CB8AC3E}">
        <p14:creationId xmlns:p14="http://schemas.microsoft.com/office/powerpoint/2010/main" val="1169391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37FE3-2B09-2F0D-B41A-1F73D77F12C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E9C7262-A9F0-D9E0-720B-91C4C1B35726}"/>
              </a:ext>
            </a:extLst>
          </p:cNvPr>
          <p:cNvGraphicFramePr>
            <a:graphicFrameLocks noChangeAspect="1"/>
          </p:cNvGraphicFramePr>
          <p:nvPr>
            <p:custDataLst>
              <p:tags r:id="rId1"/>
            </p:custDataLst>
            <p:extLst>
              <p:ext uri="{D42A27DB-BD31-4B8C-83A1-F6EECF244321}">
                <p14:modId xmlns:p14="http://schemas.microsoft.com/office/powerpoint/2010/main" val="35050512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6" name="think-cell data - do not delete" hidden="1">
                        <a:extLst>
                          <a:ext uri="{FF2B5EF4-FFF2-40B4-BE49-F238E27FC236}">
                            <a16:creationId xmlns:a16="http://schemas.microsoft.com/office/drawing/2014/main" id="{5E9C7262-A9F0-D9E0-720B-91C4C1B357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800C8CD-6A54-9B1E-A9AE-4C481B110338}"/>
              </a:ext>
            </a:extLst>
          </p:cNvPr>
          <p:cNvSpPr>
            <a:spLocks noGrp="1"/>
          </p:cNvSpPr>
          <p:nvPr>
            <p:ph type="title"/>
          </p:nvPr>
        </p:nvSpPr>
        <p:spPr/>
        <p:txBody>
          <a:bodyPr vert="horz"/>
          <a:lstStyle/>
          <a:p>
            <a:r>
              <a:rPr lang="en-US"/>
              <a:t>1b. Payment – Manual </a:t>
            </a:r>
          </a:p>
        </p:txBody>
      </p:sp>
      <p:sp>
        <p:nvSpPr>
          <p:cNvPr id="3" name="Slide Number Placeholder 2">
            <a:extLst>
              <a:ext uri="{FF2B5EF4-FFF2-40B4-BE49-F238E27FC236}">
                <a16:creationId xmlns:a16="http://schemas.microsoft.com/office/drawing/2014/main" id="{EC42156F-1EE6-B06E-D46F-9DD551EB97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SA" sz="1200" b="0" i="0" u="none" strike="noStrike" kern="1200" cap="none" spc="0" normalizeH="0" baseline="0" noProof="0">
              <a:ln>
                <a:noFill/>
              </a:ln>
              <a:solidFill>
                <a:srgbClr val="10069E">
                  <a:tint val="82000"/>
                </a:srgbClr>
              </a:solidFill>
              <a:effectLst/>
              <a:uLnTx/>
              <a:uFillTx/>
              <a:latin typeface="Montserrat"/>
              <a:ea typeface="+mn-ea"/>
            </a:endParaRPr>
          </a:p>
        </p:txBody>
      </p:sp>
      <p:sp>
        <p:nvSpPr>
          <p:cNvPr id="7" name="TextBox 6">
            <a:extLst>
              <a:ext uri="{FF2B5EF4-FFF2-40B4-BE49-F238E27FC236}">
                <a16:creationId xmlns:a16="http://schemas.microsoft.com/office/drawing/2014/main" id="{B041EEE0-D154-62EA-6F81-F71FD07E0998}"/>
              </a:ext>
            </a:extLst>
          </p:cNvPr>
          <p:cNvSpPr txBox="1"/>
          <p:nvPr/>
        </p:nvSpPr>
        <p:spPr>
          <a:xfrm>
            <a:off x="318000" y="1099409"/>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How it works</a:t>
            </a:r>
          </a:p>
        </p:txBody>
      </p:sp>
      <p:cxnSp>
        <p:nvCxnSpPr>
          <p:cNvPr id="8" name="Straight Connector 7">
            <a:extLst>
              <a:ext uri="{FF2B5EF4-FFF2-40B4-BE49-F238E27FC236}">
                <a16:creationId xmlns:a16="http://schemas.microsoft.com/office/drawing/2014/main" id="{B5621892-940D-E909-AFCF-2ED8DA839534}"/>
              </a:ext>
            </a:extLst>
          </p:cNvPr>
          <p:cNvCxnSpPr>
            <a:cxnSpLocks/>
          </p:cNvCxnSpPr>
          <p:nvPr/>
        </p:nvCxnSpPr>
        <p:spPr>
          <a:xfrm flipH="1">
            <a:off x="449421" y="1535785"/>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C771F1B-6007-7F2F-906C-4F65E7222079}"/>
              </a:ext>
            </a:extLst>
          </p:cNvPr>
          <p:cNvSpPr txBox="1"/>
          <p:nvPr/>
        </p:nvSpPr>
        <p:spPr>
          <a:xfrm>
            <a:off x="318000" y="1686711"/>
            <a:ext cx="11376695" cy="502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ontserrat SemiBold"/>
                <a:ea typeface="+mn-ea"/>
              </a:rPr>
              <a:t>In the manual process, Tasama shares outstanding accounts payable with the client, prepares and reviews the payment template upon confirmation, and coordinates with the client for approval and bank portal uploads before final posting</a:t>
            </a:r>
          </a:p>
        </p:txBody>
      </p:sp>
      <p:pic>
        <p:nvPicPr>
          <p:cNvPr id="37" name="Picture 36">
            <a:extLst>
              <a:ext uri="{FF2B5EF4-FFF2-40B4-BE49-F238E27FC236}">
                <a16:creationId xmlns:a16="http://schemas.microsoft.com/office/drawing/2014/main" id="{5BE925A8-4663-BBAE-612D-03CD7096A432}"/>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12813" y="5728708"/>
            <a:ext cx="12192000" cy="342358"/>
          </a:xfrm>
          <a:prstGeom prst="rect">
            <a:avLst/>
          </a:prstGeom>
          <a:solidFill>
            <a:srgbClr val="FFFFFF"/>
          </a:solidFill>
          <a:ln>
            <a:noFill/>
          </a:ln>
        </p:spPr>
      </p:pic>
      <p:sp>
        <p:nvSpPr>
          <p:cNvPr id="13" name="TextBox 12">
            <a:extLst>
              <a:ext uri="{FF2B5EF4-FFF2-40B4-BE49-F238E27FC236}">
                <a16:creationId xmlns:a16="http://schemas.microsoft.com/office/drawing/2014/main" id="{20214B00-4F60-8CDE-95CA-4EBE2C25EF45}"/>
              </a:ext>
            </a:extLst>
          </p:cNvPr>
          <p:cNvSpPr txBox="1"/>
          <p:nvPr/>
        </p:nvSpPr>
        <p:spPr>
          <a:xfrm>
            <a:off x="318000" y="4895187"/>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Key metrics</a:t>
            </a:r>
          </a:p>
        </p:txBody>
      </p:sp>
      <p:cxnSp>
        <p:nvCxnSpPr>
          <p:cNvPr id="14" name="Straight Connector 13">
            <a:extLst>
              <a:ext uri="{FF2B5EF4-FFF2-40B4-BE49-F238E27FC236}">
                <a16:creationId xmlns:a16="http://schemas.microsoft.com/office/drawing/2014/main" id="{CCCD9019-8D49-E125-DB46-E68492810F90}"/>
              </a:ext>
            </a:extLst>
          </p:cNvPr>
          <p:cNvCxnSpPr>
            <a:cxnSpLocks/>
          </p:cNvCxnSpPr>
          <p:nvPr/>
        </p:nvCxnSpPr>
        <p:spPr>
          <a:xfrm flipH="1">
            <a:off x="449421" y="5331563"/>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993710FF-6297-8438-6412-514294AF0A5D}"/>
              </a:ext>
            </a:extLst>
          </p:cNvPr>
          <p:cNvSpPr/>
          <p:nvPr/>
        </p:nvSpPr>
        <p:spPr>
          <a:xfrm>
            <a:off x="2368828"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rPr>
              <a:t>Volume: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rPr>
              <a:t>~9,000</a:t>
            </a:r>
            <a:r>
              <a:rPr kumimoji="0" lang="en-US" sz="1200" b="0" i="0" u="none" strike="noStrike" kern="1200" cap="none" spc="0" normalizeH="0" baseline="0" noProof="0">
                <a:ln>
                  <a:noFill/>
                </a:ln>
                <a:solidFill>
                  <a:srgbClr val="10069E"/>
                </a:solidFill>
                <a:effectLst/>
                <a:uLnTx/>
                <a:uFillTx/>
                <a:latin typeface="Montserrat"/>
                <a:ea typeface="+mn-ea"/>
              </a:rPr>
              <a:t> payments annually</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35" name="Rectangle: Rounded Corners 34">
            <a:extLst>
              <a:ext uri="{FF2B5EF4-FFF2-40B4-BE49-F238E27FC236}">
                <a16:creationId xmlns:a16="http://schemas.microsoft.com/office/drawing/2014/main" id="{2A84C42E-8FE4-77AE-9D37-DAB302EB31C9}"/>
              </a:ext>
            </a:extLst>
          </p:cNvPr>
          <p:cNvSpPr/>
          <p:nvPr/>
        </p:nvSpPr>
        <p:spPr>
          <a:xfrm>
            <a:off x="7479313"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rPr>
              <a:t>Effort: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rPr>
              <a:t>60-100</a:t>
            </a:r>
            <a:r>
              <a:rPr kumimoji="0" lang="en-US" sz="1200" b="0" i="0" u="none" strike="noStrike" kern="1200" cap="none" spc="0" normalizeH="0" baseline="0" noProof="0">
                <a:ln>
                  <a:noFill/>
                </a:ln>
                <a:solidFill>
                  <a:srgbClr val="10069E"/>
                </a:solidFill>
                <a:effectLst/>
                <a:uLnTx/>
                <a:uFillTx/>
                <a:latin typeface="Montserrat"/>
                <a:ea typeface="+mn-ea"/>
              </a:rPr>
              <a:t> min per payment</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10" name="TextBox 9">
            <a:extLst>
              <a:ext uri="{FF2B5EF4-FFF2-40B4-BE49-F238E27FC236}">
                <a16:creationId xmlns:a16="http://schemas.microsoft.com/office/drawing/2014/main" id="{93FF141C-5565-C1C7-C9AF-F7C1801DD92D}"/>
              </a:ext>
            </a:extLst>
          </p:cNvPr>
          <p:cNvSpPr txBox="1"/>
          <p:nvPr/>
        </p:nvSpPr>
        <p:spPr>
          <a:xfrm>
            <a:off x="318000" y="2339580"/>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High-level process steps</a:t>
            </a:r>
          </a:p>
        </p:txBody>
      </p:sp>
      <p:cxnSp>
        <p:nvCxnSpPr>
          <p:cNvPr id="11" name="Straight Connector 10">
            <a:extLst>
              <a:ext uri="{FF2B5EF4-FFF2-40B4-BE49-F238E27FC236}">
                <a16:creationId xmlns:a16="http://schemas.microsoft.com/office/drawing/2014/main" id="{FEED9288-4798-E90F-EA1C-72D2FE208044}"/>
              </a:ext>
            </a:extLst>
          </p:cNvPr>
          <p:cNvCxnSpPr>
            <a:cxnSpLocks/>
          </p:cNvCxnSpPr>
          <p:nvPr/>
        </p:nvCxnSpPr>
        <p:spPr>
          <a:xfrm flipH="1">
            <a:off x="449421" y="2775956"/>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E759C6F-EB79-B8EA-54A5-8A774CD3AA36}"/>
              </a:ext>
            </a:extLst>
          </p:cNvPr>
          <p:cNvSpPr/>
          <p:nvPr/>
        </p:nvSpPr>
        <p:spPr>
          <a:xfrm>
            <a:off x="433362" y="3202152"/>
            <a:ext cx="1270000" cy="1237435"/>
          </a:xfrm>
          <a:prstGeom prst="ellipse">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Share the list of outstanding AP to client to confirm the invoices to be paid</a:t>
            </a:r>
          </a:p>
        </p:txBody>
      </p:sp>
      <p:sp>
        <p:nvSpPr>
          <p:cNvPr id="17" name="Rectangle 16">
            <a:extLst>
              <a:ext uri="{FF2B5EF4-FFF2-40B4-BE49-F238E27FC236}">
                <a16:creationId xmlns:a16="http://schemas.microsoft.com/office/drawing/2014/main" id="{71672B72-0087-E25C-0362-C7A7CDEFB57F}"/>
              </a:ext>
            </a:extLst>
          </p:cNvPr>
          <p:cNvSpPr/>
          <p:nvPr/>
        </p:nvSpPr>
        <p:spPr>
          <a:xfrm>
            <a:off x="2041263"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Upon client confirmation, Tasama prepares the payment template</a:t>
            </a:r>
          </a:p>
        </p:txBody>
      </p:sp>
      <p:sp>
        <p:nvSpPr>
          <p:cNvPr id="18" name="Rectangle 17">
            <a:extLst>
              <a:ext uri="{FF2B5EF4-FFF2-40B4-BE49-F238E27FC236}">
                <a16:creationId xmlns:a16="http://schemas.microsoft.com/office/drawing/2014/main" id="{71755B24-18DB-4409-B4A4-CD5A8D09862D}"/>
              </a:ext>
            </a:extLst>
          </p:cNvPr>
          <p:cNvSpPr/>
          <p:nvPr/>
        </p:nvSpPr>
        <p:spPr>
          <a:xfrm>
            <a:off x="3466491"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Review the payment template</a:t>
            </a:r>
          </a:p>
        </p:txBody>
      </p:sp>
      <p:sp>
        <p:nvSpPr>
          <p:cNvPr id="19" name="Rectangle 18">
            <a:extLst>
              <a:ext uri="{FF2B5EF4-FFF2-40B4-BE49-F238E27FC236}">
                <a16:creationId xmlns:a16="http://schemas.microsoft.com/office/drawing/2014/main" id="{66FEDAF4-C181-A655-9458-792232847464}"/>
              </a:ext>
            </a:extLst>
          </p:cNvPr>
          <p:cNvSpPr/>
          <p:nvPr/>
        </p:nvSpPr>
        <p:spPr>
          <a:xfrm>
            <a:off x="4891719" y="3258399"/>
            <a:ext cx="1029600" cy="112494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Client approved and sign the payment template, to proceed to upload on the bank portal</a:t>
            </a:r>
          </a:p>
        </p:txBody>
      </p:sp>
      <p:sp>
        <p:nvSpPr>
          <p:cNvPr id="22" name="Oval 21">
            <a:extLst>
              <a:ext uri="{FF2B5EF4-FFF2-40B4-BE49-F238E27FC236}">
                <a16:creationId xmlns:a16="http://schemas.microsoft.com/office/drawing/2014/main" id="{D1389E26-B29A-4187-2E6A-685E853E98A1}"/>
              </a:ext>
            </a:extLst>
          </p:cNvPr>
          <p:cNvSpPr/>
          <p:nvPr/>
        </p:nvSpPr>
        <p:spPr>
          <a:xfrm>
            <a:off x="10534902" y="3202152"/>
            <a:ext cx="1270000" cy="1237435"/>
          </a:xfrm>
          <a:prstGeom prst="ellipse">
            <a:avLst/>
          </a:prstGeom>
          <a:solidFill>
            <a:srgbClr val="F5C8A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Validate and post the payment Transaction</a:t>
            </a:r>
          </a:p>
        </p:txBody>
      </p:sp>
      <p:cxnSp>
        <p:nvCxnSpPr>
          <p:cNvPr id="23" name="Straight Arrow Connector 22">
            <a:extLst>
              <a:ext uri="{FF2B5EF4-FFF2-40B4-BE49-F238E27FC236}">
                <a16:creationId xmlns:a16="http://schemas.microsoft.com/office/drawing/2014/main" id="{DA8ADE45-27DB-A7FC-F05A-8EAE58322BB0}"/>
              </a:ext>
            </a:extLst>
          </p:cNvPr>
          <p:cNvCxnSpPr>
            <a:stCxn id="16" idx="6"/>
            <a:endCxn id="17" idx="1"/>
          </p:cNvCxnSpPr>
          <p:nvPr/>
        </p:nvCxnSpPr>
        <p:spPr>
          <a:xfrm>
            <a:off x="1703362" y="3820870"/>
            <a:ext cx="337901"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C4CBFB7-FABE-097D-1BB4-71D8072815F5}"/>
              </a:ext>
            </a:extLst>
          </p:cNvPr>
          <p:cNvCxnSpPr>
            <a:cxnSpLocks/>
            <a:stCxn id="17" idx="3"/>
            <a:endCxn id="18" idx="1"/>
          </p:cNvCxnSpPr>
          <p:nvPr/>
        </p:nvCxnSpPr>
        <p:spPr>
          <a:xfrm>
            <a:off x="3070863" y="3820870"/>
            <a:ext cx="395628"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68B95D-4E7A-77A4-BE2B-D2758AB0FC13}"/>
              </a:ext>
            </a:extLst>
          </p:cNvPr>
          <p:cNvCxnSpPr>
            <a:cxnSpLocks/>
            <a:stCxn id="18" idx="3"/>
            <a:endCxn id="19" idx="1"/>
          </p:cNvCxnSpPr>
          <p:nvPr/>
        </p:nvCxnSpPr>
        <p:spPr>
          <a:xfrm>
            <a:off x="4496091" y="3820870"/>
            <a:ext cx="395628"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04051EE-5245-B8A4-2233-D31570805981}"/>
              </a:ext>
            </a:extLst>
          </p:cNvPr>
          <p:cNvCxnSpPr>
            <a:cxnSpLocks/>
            <a:stCxn id="19" idx="3"/>
            <a:endCxn id="55" idx="1"/>
          </p:cNvCxnSpPr>
          <p:nvPr/>
        </p:nvCxnSpPr>
        <p:spPr>
          <a:xfrm>
            <a:off x="5921319" y="3820870"/>
            <a:ext cx="395628"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24FDFD26-3017-4489-1F7F-5915F61A995A}"/>
              </a:ext>
            </a:extLst>
          </p:cNvPr>
          <p:cNvGrpSpPr/>
          <p:nvPr/>
        </p:nvGrpSpPr>
        <p:grpSpPr>
          <a:xfrm>
            <a:off x="6465674" y="2586394"/>
            <a:ext cx="1855649" cy="223371"/>
            <a:chOff x="7863374" y="2841578"/>
            <a:chExt cx="1855649" cy="223371"/>
          </a:xfrm>
        </p:grpSpPr>
        <p:sp>
          <p:nvSpPr>
            <p:cNvPr id="44" name="Rectangle 43">
              <a:extLst>
                <a:ext uri="{FF2B5EF4-FFF2-40B4-BE49-F238E27FC236}">
                  <a16:creationId xmlns:a16="http://schemas.microsoft.com/office/drawing/2014/main" id="{428A4FC0-6723-EE47-0122-83EA9AE7326E}"/>
                </a:ext>
              </a:extLst>
            </p:cNvPr>
            <p:cNvSpPr/>
            <p:nvPr/>
          </p:nvSpPr>
          <p:spPr>
            <a:xfrm>
              <a:off x="7863374" y="2881240"/>
              <a:ext cx="145023" cy="144047"/>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45" name="TextBox 44">
              <a:extLst>
                <a:ext uri="{FF2B5EF4-FFF2-40B4-BE49-F238E27FC236}">
                  <a16:creationId xmlns:a16="http://schemas.microsoft.com/office/drawing/2014/main" id="{101854AA-7011-343E-2AA5-5662B03A624F}"/>
                </a:ext>
              </a:extLst>
            </p:cNvPr>
            <p:cNvSpPr txBox="1"/>
            <p:nvPr/>
          </p:nvSpPr>
          <p:spPr>
            <a:xfrm>
              <a:off x="8063023" y="2841578"/>
              <a:ext cx="165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Tasama - Accountant</a:t>
              </a:r>
            </a:p>
          </p:txBody>
        </p:sp>
      </p:grpSp>
      <p:grpSp>
        <p:nvGrpSpPr>
          <p:cNvPr id="42" name="Group 41">
            <a:extLst>
              <a:ext uri="{FF2B5EF4-FFF2-40B4-BE49-F238E27FC236}">
                <a16:creationId xmlns:a16="http://schemas.microsoft.com/office/drawing/2014/main" id="{6111B99B-A057-1372-71B4-37D6054EEEB3}"/>
              </a:ext>
            </a:extLst>
          </p:cNvPr>
          <p:cNvGrpSpPr/>
          <p:nvPr/>
        </p:nvGrpSpPr>
        <p:grpSpPr>
          <a:xfrm>
            <a:off x="10874197" y="2586394"/>
            <a:ext cx="820498" cy="223371"/>
            <a:chOff x="9180549" y="2841578"/>
            <a:chExt cx="820498" cy="223371"/>
          </a:xfrm>
        </p:grpSpPr>
        <p:sp>
          <p:nvSpPr>
            <p:cNvPr id="38" name="Rectangle 37">
              <a:extLst>
                <a:ext uri="{FF2B5EF4-FFF2-40B4-BE49-F238E27FC236}">
                  <a16:creationId xmlns:a16="http://schemas.microsoft.com/office/drawing/2014/main" id="{9ADD403A-FEAD-31B4-0E03-CA9674C360C3}"/>
                </a:ext>
              </a:extLst>
            </p:cNvPr>
            <p:cNvSpPr/>
            <p:nvPr/>
          </p:nvSpPr>
          <p:spPr>
            <a:xfrm>
              <a:off x="9180549" y="2881240"/>
              <a:ext cx="145023" cy="14404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39" name="TextBox 38">
              <a:extLst>
                <a:ext uri="{FF2B5EF4-FFF2-40B4-BE49-F238E27FC236}">
                  <a16:creationId xmlns:a16="http://schemas.microsoft.com/office/drawing/2014/main" id="{9533F31A-68A3-E26A-3D2A-BD8792DCE2A5}"/>
                </a:ext>
              </a:extLst>
            </p:cNvPr>
            <p:cNvSpPr txBox="1"/>
            <p:nvPr/>
          </p:nvSpPr>
          <p:spPr>
            <a:xfrm>
              <a:off x="9380198" y="2841578"/>
              <a:ext cx="620849"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Client</a:t>
              </a:r>
            </a:p>
          </p:txBody>
        </p:sp>
      </p:grpSp>
      <p:grpSp>
        <p:nvGrpSpPr>
          <p:cNvPr id="40" name="Group 39">
            <a:extLst>
              <a:ext uri="{FF2B5EF4-FFF2-40B4-BE49-F238E27FC236}">
                <a16:creationId xmlns:a16="http://schemas.microsoft.com/office/drawing/2014/main" id="{DFFBB660-EE7D-6632-2355-BC1230C02D81}"/>
              </a:ext>
            </a:extLst>
          </p:cNvPr>
          <p:cNvGrpSpPr/>
          <p:nvPr/>
        </p:nvGrpSpPr>
        <p:grpSpPr>
          <a:xfrm>
            <a:off x="8579936" y="2586394"/>
            <a:ext cx="2035647" cy="223371"/>
            <a:chOff x="10398573" y="2841578"/>
            <a:chExt cx="2035647" cy="223371"/>
          </a:xfrm>
        </p:grpSpPr>
        <p:sp>
          <p:nvSpPr>
            <p:cNvPr id="46" name="Rectangle 45">
              <a:extLst>
                <a:ext uri="{FF2B5EF4-FFF2-40B4-BE49-F238E27FC236}">
                  <a16:creationId xmlns:a16="http://schemas.microsoft.com/office/drawing/2014/main" id="{B42DBE48-840C-AA06-E34D-4CF886CCFBBA}"/>
                </a:ext>
              </a:extLst>
            </p:cNvPr>
            <p:cNvSpPr/>
            <p:nvPr/>
          </p:nvSpPr>
          <p:spPr>
            <a:xfrm>
              <a:off x="10398573" y="2881240"/>
              <a:ext cx="145023" cy="14404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endParaRPr>
            </a:p>
          </p:txBody>
        </p:sp>
        <p:sp>
          <p:nvSpPr>
            <p:cNvPr id="48" name="TextBox 47">
              <a:extLst>
                <a:ext uri="{FF2B5EF4-FFF2-40B4-BE49-F238E27FC236}">
                  <a16:creationId xmlns:a16="http://schemas.microsoft.com/office/drawing/2014/main" id="{A3218D3C-C7A3-873C-1E0A-113F0A146F91}"/>
                </a:ext>
              </a:extLst>
            </p:cNvPr>
            <p:cNvSpPr txBox="1"/>
            <p:nvPr/>
          </p:nvSpPr>
          <p:spPr>
            <a:xfrm>
              <a:off x="10598220" y="2841578"/>
              <a:ext cx="183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rPr>
                <a:t>Tasama - S. Accountant</a:t>
              </a:r>
            </a:p>
          </p:txBody>
        </p:sp>
      </p:grpSp>
      <p:sp>
        <p:nvSpPr>
          <p:cNvPr id="50" name="Rectangle 49">
            <a:extLst>
              <a:ext uri="{FF2B5EF4-FFF2-40B4-BE49-F238E27FC236}">
                <a16:creationId xmlns:a16="http://schemas.microsoft.com/office/drawing/2014/main" id="{6737D66A-2144-67C3-B632-BD7A2C650B27}"/>
              </a:ext>
            </a:extLst>
          </p:cNvPr>
          <p:cNvSpPr/>
          <p:nvPr/>
        </p:nvSpPr>
        <p:spPr>
          <a:xfrm>
            <a:off x="695107" y="6463602"/>
            <a:ext cx="8072853" cy="269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ontserrat"/>
                <a:ea typeface="+mn-ea"/>
              </a:rPr>
              <a:t>* All figures and volumes shown are based on Finance Team input</a:t>
            </a:r>
            <a:endParaRPr kumimoji="0" lang="en-AE" sz="1000" b="0" i="0" u="none" strike="noStrike" kern="1200" cap="none" spc="0" normalizeH="0" baseline="0" noProof="0">
              <a:ln>
                <a:noFill/>
              </a:ln>
              <a:solidFill>
                <a:srgbClr val="000000"/>
              </a:solidFill>
              <a:effectLst/>
              <a:uLnTx/>
              <a:uFillTx/>
              <a:latin typeface="Montserrat"/>
              <a:ea typeface="+mn-ea"/>
            </a:endParaRPr>
          </a:p>
        </p:txBody>
      </p:sp>
      <p:sp>
        <p:nvSpPr>
          <p:cNvPr id="43" name="Rectangle 42">
            <a:extLst>
              <a:ext uri="{FF2B5EF4-FFF2-40B4-BE49-F238E27FC236}">
                <a16:creationId xmlns:a16="http://schemas.microsoft.com/office/drawing/2014/main" id="{5B604B5F-7C8C-9B01-93FC-631E8E8CF997}"/>
              </a:ext>
            </a:extLst>
          </p:cNvPr>
          <p:cNvSpPr/>
          <p:nvPr/>
        </p:nvSpPr>
        <p:spPr>
          <a:xfrm>
            <a:off x="634649" y="4482886"/>
            <a:ext cx="86742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5-20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47" name="Rectangle 46">
            <a:extLst>
              <a:ext uri="{FF2B5EF4-FFF2-40B4-BE49-F238E27FC236}">
                <a16:creationId xmlns:a16="http://schemas.microsoft.com/office/drawing/2014/main" id="{D039046E-03DE-DCE3-4FF3-5C5E54C987D8}"/>
              </a:ext>
            </a:extLst>
          </p:cNvPr>
          <p:cNvSpPr/>
          <p:nvPr/>
        </p:nvSpPr>
        <p:spPr>
          <a:xfrm>
            <a:off x="6354663" y="4482886"/>
            <a:ext cx="9541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15-20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51" name="Rectangle 50">
            <a:extLst>
              <a:ext uri="{FF2B5EF4-FFF2-40B4-BE49-F238E27FC236}">
                <a16:creationId xmlns:a16="http://schemas.microsoft.com/office/drawing/2014/main" id="{6ACDFDB8-B7E3-2345-6F2A-FBFBA1943EBE}"/>
              </a:ext>
            </a:extLst>
          </p:cNvPr>
          <p:cNvSpPr/>
          <p:nvPr/>
        </p:nvSpPr>
        <p:spPr>
          <a:xfrm>
            <a:off x="9248490" y="4482886"/>
            <a:ext cx="86742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5-10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52" name="Rectangle 51">
            <a:extLst>
              <a:ext uri="{FF2B5EF4-FFF2-40B4-BE49-F238E27FC236}">
                <a16:creationId xmlns:a16="http://schemas.microsoft.com/office/drawing/2014/main" id="{F3363C5F-D06C-EB6D-99EF-4579BBA2D509}"/>
              </a:ext>
            </a:extLst>
          </p:cNvPr>
          <p:cNvSpPr/>
          <p:nvPr/>
        </p:nvSpPr>
        <p:spPr>
          <a:xfrm>
            <a:off x="10645109"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5-10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55" name="Rectangle 54">
            <a:extLst>
              <a:ext uri="{FF2B5EF4-FFF2-40B4-BE49-F238E27FC236}">
                <a16:creationId xmlns:a16="http://schemas.microsoft.com/office/drawing/2014/main" id="{9791205C-C74A-36E0-4F37-EDAA1AEBC112}"/>
              </a:ext>
            </a:extLst>
          </p:cNvPr>
          <p:cNvSpPr/>
          <p:nvPr/>
        </p:nvSpPr>
        <p:spPr>
          <a:xfrm>
            <a:off x="6316947" y="3258399"/>
            <a:ext cx="1029600" cy="112494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Upload the payment in the bank portal and initiate for signatory approvals</a:t>
            </a:r>
          </a:p>
        </p:txBody>
      </p:sp>
      <p:sp>
        <p:nvSpPr>
          <p:cNvPr id="56" name="Rectangle 55">
            <a:extLst>
              <a:ext uri="{FF2B5EF4-FFF2-40B4-BE49-F238E27FC236}">
                <a16:creationId xmlns:a16="http://schemas.microsoft.com/office/drawing/2014/main" id="{63212A21-42EF-E369-1F56-FFABE9D8D8D9}"/>
              </a:ext>
            </a:extLst>
          </p:cNvPr>
          <p:cNvSpPr/>
          <p:nvPr/>
        </p:nvSpPr>
        <p:spPr>
          <a:xfrm>
            <a:off x="7742175" y="3258399"/>
            <a:ext cx="1029600" cy="112494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Client approve the payment on the bank portal</a:t>
            </a:r>
          </a:p>
        </p:txBody>
      </p:sp>
      <p:sp>
        <p:nvSpPr>
          <p:cNvPr id="57" name="Rectangle 56">
            <a:extLst>
              <a:ext uri="{FF2B5EF4-FFF2-40B4-BE49-F238E27FC236}">
                <a16:creationId xmlns:a16="http://schemas.microsoft.com/office/drawing/2014/main" id="{1000B78B-CAAF-8AD2-77ED-0536920398BF}"/>
              </a:ext>
            </a:extLst>
          </p:cNvPr>
          <p:cNvSpPr/>
          <p:nvPr/>
        </p:nvSpPr>
        <p:spPr>
          <a:xfrm>
            <a:off x="9167403"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rPr>
              <a:t>Upon approval, Tasama record the Payment transaction </a:t>
            </a:r>
          </a:p>
        </p:txBody>
      </p:sp>
      <p:cxnSp>
        <p:nvCxnSpPr>
          <p:cNvPr id="59" name="Straight Arrow Connector 58">
            <a:extLst>
              <a:ext uri="{FF2B5EF4-FFF2-40B4-BE49-F238E27FC236}">
                <a16:creationId xmlns:a16="http://schemas.microsoft.com/office/drawing/2014/main" id="{B488D635-28C3-5BA0-7E18-9517982AA8F4}"/>
              </a:ext>
            </a:extLst>
          </p:cNvPr>
          <p:cNvCxnSpPr>
            <a:cxnSpLocks/>
            <a:stCxn id="55" idx="3"/>
            <a:endCxn id="56" idx="1"/>
          </p:cNvCxnSpPr>
          <p:nvPr/>
        </p:nvCxnSpPr>
        <p:spPr>
          <a:xfrm>
            <a:off x="7346547" y="3820870"/>
            <a:ext cx="395628"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7858F9A-63A9-1336-6472-8544AF6B02CF}"/>
              </a:ext>
            </a:extLst>
          </p:cNvPr>
          <p:cNvCxnSpPr>
            <a:cxnSpLocks/>
            <a:stCxn id="56" idx="3"/>
            <a:endCxn id="57" idx="1"/>
          </p:cNvCxnSpPr>
          <p:nvPr/>
        </p:nvCxnSpPr>
        <p:spPr>
          <a:xfrm>
            <a:off x="8771775" y="3820870"/>
            <a:ext cx="395628"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DA1C61B0-6FC7-29F4-0B68-4B1BC03839CE}"/>
              </a:ext>
            </a:extLst>
          </p:cNvPr>
          <p:cNvCxnSpPr>
            <a:cxnSpLocks/>
            <a:stCxn id="57" idx="3"/>
            <a:endCxn id="22" idx="2"/>
          </p:cNvCxnSpPr>
          <p:nvPr/>
        </p:nvCxnSpPr>
        <p:spPr>
          <a:xfrm>
            <a:off x="10197003" y="3820870"/>
            <a:ext cx="337899"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31FC845F-9C13-5B89-0BAF-B1252A5D01A7}"/>
              </a:ext>
            </a:extLst>
          </p:cNvPr>
          <p:cNvSpPr/>
          <p:nvPr/>
        </p:nvSpPr>
        <p:spPr>
          <a:xfrm>
            <a:off x="2122350" y="4482886"/>
            <a:ext cx="86742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15-20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
        <p:nvSpPr>
          <p:cNvPr id="69" name="Rectangle 68">
            <a:extLst>
              <a:ext uri="{FF2B5EF4-FFF2-40B4-BE49-F238E27FC236}">
                <a16:creationId xmlns:a16="http://schemas.microsoft.com/office/drawing/2014/main" id="{28799EA2-DBA5-3803-9BBA-EF1C242B3771}"/>
              </a:ext>
            </a:extLst>
          </p:cNvPr>
          <p:cNvSpPr/>
          <p:nvPr/>
        </p:nvSpPr>
        <p:spPr>
          <a:xfrm>
            <a:off x="3504207" y="4482886"/>
            <a:ext cx="9541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rPr>
              <a:t>15-20 </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rPr>
              <a:t>min</a:t>
            </a:r>
          </a:p>
        </p:txBody>
      </p:sp>
    </p:spTree>
    <p:extLst>
      <p:ext uri="{BB962C8B-B14F-4D97-AF65-F5344CB8AC3E}">
        <p14:creationId xmlns:p14="http://schemas.microsoft.com/office/powerpoint/2010/main" val="3375999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95B3-8A45-D2ED-51E5-D3EFC6D3D02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E1B1BB-DA7E-5741-3E04-C0C5A05D6986}"/>
              </a:ext>
            </a:extLst>
          </p:cNvPr>
          <p:cNvGraphicFramePr>
            <a:graphicFrameLocks noChangeAspect="1"/>
          </p:cNvGraphicFramePr>
          <p:nvPr>
            <p:custDataLst>
              <p:tags r:id="rId1"/>
            </p:custDataLst>
            <p:extLst>
              <p:ext uri="{D42A27DB-BD31-4B8C-83A1-F6EECF244321}">
                <p14:modId xmlns:p14="http://schemas.microsoft.com/office/powerpoint/2010/main" val="3635898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C4E1B1BB-DA7E-5741-3E04-C0C5A05D69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BB6AAA2-DB20-290C-5644-BCEAC2BC24A4}"/>
              </a:ext>
            </a:extLst>
          </p:cNvPr>
          <p:cNvSpPr>
            <a:spLocks noGrp="1"/>
          </p:cNvSpPr>
          <p:nvPr>
            <p:ph type="ctrTitle"/>
          </p:nvPr>
        </p:nvSpPr>
        <p:spPr/>
        <p:txBody>
          <a:bodyPr vert="horz"/>
          <a:lstStyle/>
          <a:p>
            <a:r>
              <a:rPr lang="en-US"/>
              <a:t>2. Detailed process for ERP clients</a:t>
            </a:r>
          </a:p>
        </p:txBody>
      </p:sp>
    </p:spTree>
    <p:extLst>
      <p:ext uri="{BB962C8B-B14F-4D97-AF65-F5344CB8AC3E}">
        <p14:creationId xmlns:p14="http://schemas.microsoft.com/office/powerpoint/2010/main" val="3674058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8BE32-D9D6-4735-99E4-75305C0E751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EF4440F-598C-AB75-1B2C-22849053D234}"/>
              </a:ext>
            </a:extLst>
          </p:cNvPr>
          <p:cNvGraphicFramePr>
            <a:graphicFrameLocks noChangeAspect="1"/>
          </p:cNvGraphicFramePr>
          <p:nvPr>
            <p:custDataLst>
              <p:tags r:id="rId1"/>
            </p:custDataLst>
            <p:extLst>
              <p:ext uri="{D42A27DB-BD31-4B8C-83A1-F6EECF244321}">
                <p14:modId xmlns:p14="http://schemas.microsoft.com/office/powerpoint/2010/main" val="31945309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6" name="think-cell data - do not delete" hidden="1">
                        <a:extLst>
                          <a:ext uri="{FF2B5EF4-FFF2-40B4-BE49-F238E27FC236}">
                            <a16:creationId xmlns:a16="http://schemas.microsoft.com/office/drawing/2014/main" id="{8EF4440F-598C-AB75-1B2C-22849053D2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96CB958-74B2-50D3-ECA2-C04795C8B262}"/>
              </a:ext>
            </a:extLst>
          </p:cNvPr>
          <p:cNvSpPr>
            <a:spLocks noGrp="1"/>
          </p:cNvSpPr>
          <p:nvPr>
            <p:ph type="title"/>
          </p:nvPr>
        </p:nvSpPr>
        <p:spPr/>
        <p:txBody>
          <a:bodyPr vert="horz"/>
          <a:lstStyle/>
          <a:p>
            <a:r>
              <a:rPr lang="en-US"/>
              <a:t>2a. Accounts Payable – ERP   </a:t>
            </a:r>
          </a:p>
        </p:txBody>
      </p:sp>
      <p:sp>
        <p:nvSpPr>
          <p:cNvPr id="3" name="Slide Number Placeholder 2">
            <a:extLst>
              <a:ext uri="{FF2B5EF4-FFF2-40B4-BE49-F238E27FC236}">
                <a16:creationId xmlns:a16="http://schemas.microsoft.com/office/drawing/2014/main" id="{FD84704D-7194-2C78-80C3-7E6628C776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cs typeface="Montserrat-Arabic"/>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SA" sz="1200" b="0" i="0" u="none" strike="noStrike" kern="1200" cap="none" spc="0" normalizeH="0" baseline="0" noProof="0">
              <a:ln>
                <a:noFill/>
              </a:ln>
              <a:solidFill>
                <a:srgbClr val="10069E">
                  <a:tint val="82000"/>
                </a:srgbClr>
              </a:solidFill>
              <a:effectLst/>
              <a:uLnTx/>
              <a:uFillTx/>
              <a:latin typeface="Montserrat"/>
              <a:ea typeface="+mn-ea"/>
              <a:cs typeface="Montserrat-Arabic"/>
            </a:endParaRPr>
          </a:p>
        </p:txBody>
      </p:sp>
      <p:sp>
        <p:nvSpPr>
          <p:cNvPr id="7" name="TextBox 6">
            <a:extLst>
              <a:ext uri="{FF2B5EF4-FFF2-40B4-BE49-F238E27FC236}">
                <a16:creationId xmlns:a16="http://schemas.microsoft.com/office/drawing/2014/main" id="{7E1BBCFC-AF80-C40D-F6A5-CBF01B8721C6}"/>
              </a:ext>
            </a:extLst>
          </p:cNvPr>
          <p:cNvSpPr txBox="1"/>
          <p:nvPr/>
        </p:nvSpPr>
        <p:spPr>
          <a:xfrm>
            <a:off x="318000" y="1099409"/>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How it works</a:t>
            </a:r>
          </a:p>
        </p:txBody>
      </p:sp>
      <p:cxnSp>
        <p:nvCxnSpPr>
          <p:cNvPr id="8" name="Straight Connector 7">
            <a:extLst>
              <a:ext uri="{FF2B5EF4-FFF2-40B4-BE49-F238E27FC236}">
                <a16:creationId xmlns:a16="http://schemas.microsoft.com/office/drawing/2014/main" id="{55EC862C-6909-816B-283E-8030EBC68842}"/>
              </a:ext>
            </a:extLst>
          </p:cNvPr>
          <p:cNvCxnSpPr>
            <a:cxnSpLocks/>
          </p:cNvCxnSpPr>
          <p:nvPr/>
        </p:nvCxnSpPr>
        <p:spPr>
          <a:xfrm flipH="1">
            <a:off x="449421" y="1535785"/>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9A7D4C7-10E0-7A26-08DD-E74BDEB2418C}"/>
              </a:ext>
            </a:extLst>
          </p:cNvPr>
          <p:cNvSpPr txBox="1"/>
          <p:nvPr/>
        </p:nvSpPr>
        <p:spPr>
          <a:xfrm>
            <a:off x="318000" y="1686711"/>
            <a:ext cx="11376695" cy="502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ontserrat SemiBold"/>
                <a:ea typeface="+mn-ea"/>
                <a:cs typeface="Montserrat-Arabic"/>
              </a:rPr>
              <a:t>In the ERP process, clients initiate invoices directly in the system, Tasama accountants validate and record them, and approvals are completed through automated workflow posting</a:t>
            </a:r>
          </a:p>
        </p:txBody>
      </p:sp>
      <p:pic>
        <p:nvPicPr>
          <p:cNvPr id="37" name="Picture 36">
            <a:extLst>
              <a:ext uri="{FF2B5EF4-FFF2-40B4-BE49-F238E27FC236}">
                <a16:creationId xmlns:a16="http://schemas.microsoft.com/office/drawing/2014/main" id="{CE276311-1F4E-8979-799D-44A5BA0891A8}"/>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12813" y="5728708"/>
            <a:ext cx="12192000" cy="342358"/>
          </a:xfrm>
          <a:prstGeom prst="rect">
            <a:avLst/>
          </a:prstGeom>
          <a:solidFill>
            <a:srgbClr val="FFFFFF"/>
          </a:solidFill>
          <a:ln>
            <a:noFill/>
          </a:ln>
        </p:spPr>
      </p:pic>
      <p:sp>
        <p:nvSpPr>
          <p:cNvPr id="13" name="TextBox 12">
            <a:extLst>
              <a:ext uri="{FF2B5EF4-FFF2-40B4-BE49-F238E27FC236}">
                <a16:creationId xmlns:a16="http://schemas.microsoft.com/office/drawing/2014/main" id="{39700807-1966-6BC1-C75D-63D7C9F006FC}"/>
              </a:ext>
            </a:extLst>
          </p:cNvPr>
          <p:cNvSpPr txBox="1"/>
          <p:nvPr/>
        </p:nvSpPr>
        <p:spPr>
          <a:xfrm>
            <a:off x="318000" y="4895187"/>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Key metrics</a:t>
            </a:r>
          </a:p>
        </p:txBody>
      </p:sp>
      <p:cxnSp>
        <p:nvCxnSpPr>
          <p:cNvPr id="14" name="Straight Connector 13">
            <a:extLst>
              <a:ext uri="{FF2B5EF4-FFF2-40B4-BE49-F238E27FC236}">
                <a16:creationId xmlns:a16="http://schemas.microsoft.com/office/drawing/2014/main" id="{17C9538A-D094-BD01-28BF-59FF86AE053A}"/>
              </a:ext>
            </a:extLst>
          </p:cNvPr>
          <p:cNvCxnSpPr>
            <a:cxnSpLocks/>
          </p:cNvCxnSpPr>
          <p:nvPr/>
        </p:nvCxnSpPr>
        <p:spPr>
          <a:xfrm flipH="1">
            <a:off x="449421" y="5331563"/>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0E8B3D8-FA25-E90B-3500-A97FFDED241E}"/>
              </a:ext>
            </a:extLst>
          </p:cNvPr>
          <p:cNvSpPr/>
          <p:nvPr/>
        </p:nvSpPr>
        <p:spPr>
          <a:xfrm>
            <a:off x="2368828"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cs typeface="Montserrat-Arabic"/>
              </a:rPr>
              <a:t>Volume: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cs typeface="Montserrat-Arabic"/>
              </a:rPr>
              <a:t>~9,000</a:t>
            </a:r>
            <a:r>
              <a:rPr kumimoji="0" lang="en-US" sz="1200" b="0" i="0" u="none" strike="noStrike" kern="1200" cap="none" spc="0" normalizeH="0" baseline="0" noProof="0">
                <a:ln>
                  <a:noFill/>
                </a:ln>
                <a:solidFill>
                  <a:srgbClr val="10069E"/>
                </a:solidFill>
                <a:effectLst/>
                <a:uLnTx/>
                <a:uFillTx/>
                <a:latin typeface="Montserrat"/>
                <a:ea typeface="+mn-ea"/>
                <a:cs typeface="Montserrat-Arabic"/>
              </a:rPr>
              <a:t> accounts payable annually</a:t>
            </a:r>
            <a:endParaRPr kumimoji="0" lang="en-AE" sz="1200" b="0" i="0" u="none" strike="noStrike" kern="1200" cap="none" spc="0" normalizeH="0" baseline="0" noProof="0">
              <a:ln>
                <a:noFill/>
              </a:ln>
              <a:solidFill>
                <a:srgbClr val="10069E"/>
              </a:solidFill>
              <a:effectLst/>
              <a:uLnTx/>
              <a:uFillTx/>
              <a:latin typeface="Montserrat"/>
              <a:ea typeface="+mn-ea"/>
              <a:cs typeface="Montserrat-Arabic"/>
            </a:endParaRPr>
          </a:p>
        </p:txBody>
      </p:sp>
      <p:sp>
        <p:nvSpPr>
          <p:cNvPr id="35" name="Rectangle: Rounded Corners 34">
            <a:extLst>
              <a:ext uri="{FF2B5EF4-FFF2-40B4-BE49-F238E27FC236}">
                <a16:creationId xmlns:a16="http://schemas.microsoft.com/office/drawing/2014/main" id="{2F7E1A7C-B6B6-1DEB-BBC8-10E244AC970B}"/>
              </a:ext>
            </a:extLst>
          </p:cNvPr>
          <p:cNvSpPr/>
          <p:nvPr/>
        </p:nvSpPr>
        <p:spPr>
          <a:xfrm>
            <a:off x="7479313"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cs typeface="Montserrat-Arabic"/>
              </a:rPr>
              <a:t>Effort: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cs typeface="Montserrat-Arabic"/>
              </a:rPr>
              <a:t>10-30</a:t>
            </a:r>
            <a:r>
              <a:rPr kumimoji="0" lang="en-US" sz="1200" b="0" i="0" u="none" strike="noStrike" kern="1200" cap="none" spc="0" normalizeH="0" baseline="0" noProof="0">
                <a:ln>
                  <a:noFill/>
                </a:ln>
                <a:solidFill>
                  <a:srgbClr val="10069E"/>
                </a:solidFill>
                <a:effectLst/>
                <a:uLnTx/>
                <a:uFillTx/>
                <a:latin typeface="Montserrat"/>
                <a:ea typeface="+mn-ea"/>
                <a:cs typeface="Montserrat-Arabic"/>
              </a:rPr>
              <a:t> min per accounts payable</a:t>
            </a:r>
            <a:endParaRPr kumimoji="0" lang="en-AE" sz="1200" b="0" i="0" u="none" strike="noStrike" kern="1200" cap="none" spc="0" normalizeH="0" baseline="0" noProof="0">
              <a:ln>
                <a:noFill/>
              </a:ln>
              <a:solidFill>
                <a:srgbClr val="10069E"/>
              </a:solidFill>
              <a:effectLst/>
              <a:uLnTx/>
              <a:uFillTx/>
              <a:latin typeface="Montserrat"/>
              <a:ea typeface="+mn-ea"/>
              <a:cs typeface="Montserrat-Arabic"/>
            </a:endParaRPr>
          </a:p>
        </p:txBody>
      </p:sp>
      <p:sp>
        <p:nvSpPr>
          <p:cNvPr id="10" name="TextBox 9">
            <a:extLst>
              <a:ext uri="{FF2B5EF4-FFF2-40B4-BE49-F238E27FC236}">
                <a16:creationId xmlns:a16="http://schemas.microsoft.com/office/drawing/2014/main" id="{8CF36FEB-58B2-7A73-5700-AE7DDF922218}"/>
              </a:ext>
            </a:extLst>
          </p:cNvPr>
          <p:cNvSpPr txBox="1"/>
          <p:nvPr/>
        </p:nvSpPr>
        <p:spPr>
          <a:xfrm>
            <a:off x="318000" y="2339580"/>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High-level process steps</a:t>
            </a:r>
          </a:p>
        </p:txBody>
      </p:sp>
      <p:cxnSp>
        <p:nvCxnSpPr>
          <p:cNvPr id="11" name="Straight Connector 10">
            <a:extLst>
              <a:ext uri="{FF2B5EF4-FFF2-40B4-BE49-F238E27FC236}">
                <a16:creationId xmlns:a16="http://schemas.microsoft.com/office/drawing/2014/main" id="{396F1CFA-30A2-8AE5-EDBB-C887BB271ED8}"/>
              </a:ext>
            </a:extLst>
          </p:cNvPr>
          <p:cNvCxnSpPr>
            <a:cxnSpLocks/>
          </p:cNvCxnSpPr>
          <p:nvPr/>
        </p:nvCxnSpPr>
        <p:spPr>
          <a:xfrm flipH="1">
            <a:off x="449421" y="2775956"/>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9B6CCB7-B706-B564-2FC6-8AA71C3BC3F0}"/>
              </a:ext>
            </a:extLst>
          </p:cNvPr>
          <p:cNvSpPr/>
          <p:nvPr/>
        </p:nvSpPr>
        <p:spPr>
          <a:xfrm>
            <a:off x="433362" y="3202152"/>
            <a:ext cx="1270000" cy="1237435"/>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Client shares invoice (via email/ServiceNow) and confirms CoC/GL code</a:t>
            </a:r>
          </a:p>
        </p:txBody>
      </p:sp>
      <p:sp>
        <p:nvSpPr>
          <p:cNvPr id="17" name="Rectangle 16">
            <a:extLst>
              <a:ext uri="{FF2B5EF4-FFF2-40B4-BE49-F238E27FC236}">
                <a16:creationId xmlns:a16="http://schemas.microsoft.com/office/drawing/2014/main" id="{5E24FE53-D578-BE13-FE9C-A14D93C2629C}"/>
              </a:ext>
            </a:extLst>
          </p:cNvPr>
          <p:cNvSpPr/>
          <p:nvPr/>
        </p:nvSpPr>
        <p:spPr>
          <a:xfrm>
            <a:off x="2143124" y="3309532"/>
            <a:ext cx="1658182" cy="1022674"/>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900">
                <a:solidFill>
                  <a:srgbClr val="000000"/>
                </a:solidFill>
              </a:rPr>
              <a:t>Review the invoice perform 3 - way match (PO/Contract, COC, Invoice)</a:t>
            </a:r>
          </a:p>
        </p:txBody>
      </p:sp>
      <p:sp>
        <p:nvSpPr>
          <p:cNvPr id="18" name="Rectangle 17">
            <a:extLst>
              <a:ext uri="{FF2B5EF4-FFF2-40B4-BE49-F238E27FC236}">
                <a16:creationId xmlns:a16="http://schemas.microsoft.com/office/drawing/2014/main" id="{17DF69ED-A6D5-A872-F1AE-0220F0F85E3C}"/>
              </a:ext>
            </a:extLst>
          </p:cNvPr>
          <p:cNvSpPr/>
          <p:nvPr/>
        </p:nvSpPr>
        <p:spPr>
          <a:xfrm>
            <a:off x="4241068" y="3309532"/>
            <a:ext cx="1658182" cy="1022674"/>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900">
                <a:solidFill>
                  <a:srgbClr val="000000"/>
                </a:solidFill>
              </a:rPr>
              <a:t>Record and validate the Invoice in ERP and initiate for the approval process</a:t>
            </a:r>
          </a:p>
        </p:txBody>
      </p:sp>
      <p:sp>
        <p:nvSpPr>
          <p:cNvPr id="19" name="Rectangle 18">
            <a:extLst>
              <a:ext uri="{FF2B5EF4-FFF2-40B4-BE49-F238E27FC236}">
                <a16:creationId xmlns:a16="http://schemas.microsoft.com/office/drawing/2014/main" id="{B3E2D599-FD0D-CE6A-E8A0-5CF4D3303923}"/>
              </a:ext>
            </a:extLst>
          </p:cNvPr>
          <p:cNvSpPr/>
          <p:nvPr/>
        </p:nvSpPr>
        <p:spPr>
          <a:xfrm>
            <a:off x="6339012" y="3309532"/>
            <a:ext cx="1658182" cy="1022674"/>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900">
                <a:solidFill>
                  <a:srgbClr val="000000"/>
                </a:solidFill>
              </a:rPr>
              <a:t>Review - Tasama</a:t>
            </a:r>
          </a:p>
        </p:txBody>
      </p:sp>
      <p:sp>
        <p:nvSpPr>
          <p:cNvPr id="22" name="Oval 21">
            <a:extLst>
              <a:ext uri="{FF2B5EF4-FFF2-40B4-BE49-F238E27FC236}">
                <a16:creationId xmlns:a16="http://schemas.microsoft.com/office/drawing/2014/main" id="{BFF3870F-D5E9-729E-DB59-E0DA15F7EF17}"/>
              </a:ext>
            </a:extLst>
          </p:cNvPr>
          <p:cNvSpPr/>
          <p:nvPr/>
        </p:nvSpPr>
        <p:spPr>
          <a:xfrm>
            <a:off x="10534902" y="3202152"/>
            <a:ext cx="1270000" cy="1237435"/>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Workflow approved and auto posted</a:t>
            </a:r>
          </a:p>
        </p:txBody>
      </p:sp>
      <p:cxnSp>
        <p:nvCxnSpPr>
          <p:cNvPr id="23" name="Straight Arrow Connector 22">
            <a:extLst>
              <a:ext uri="{FF2B5EF4-FFF2-40B4-BE49-F238E27FC236}">
                <a16:creationId xmlns:a16="http://schemas.microsoft.com/office/drawing/2014/main" id="{5E423EEE-6542-3643-98F0-574656DD2F50}"/>
              </a:ext>
            </a:extLst>
          </p:cNvPr>
          <p:cNvCxnSpPr>
            <a:stCxn id="16" idx="6"/>
            <a:endCxn id="17" idx="1"/>
          </p:cNvCxnSpPr>
          <p:nvPr/>
        </p:nvCxnSpPr>
        <p:spPr>
          <a:xfrm flipV="1">
            <a:off x="1703362" y="3820869"/>
            <a:ext cx="439762" cy="1"/>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01B5849-D182-9AC5-6301-B29952943FE6}"/>
              </a:ext>
            </a:extLst>
          </p:cNvPr>
          <p:cNvCxnSpPr>
            <a:cxnSpLocks/>
            <a:stCxn id="17" idx="3"/>
            <a:endCxn id="18" idx="1"/>
          </p:cNvCxnSpPr>
          <p:nvPr/>
        </p:nvCxnSpPr>
        <p:spPr>
          <a:xfrm>
            <a:off x="3801306" y="3820869"/>
            <a:ext cx="43976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6DACDDA-0ED6-6794-F5E4-E4D90F26A86F}"/>
              </a:ext>
            </a:extLst>
          </p:cNvPr>
          <p:cNvCxnSpPr>
            <a:cxnSpLocks/>
            <a:stCxn id="18" idx="3"/>
            <a:endCxn id="19" idx="1"/>
          </p:cNvCxnSpPr>
          <p:nvPr/>
        </p:nvCxnSpPr>
        <p:spPr>
          <a:xfrm>
            <a:off x="5899250" y="3820869"/>
            <a:ext cx="43976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3FE9ACB-4560-B0F1-DFB1-70F31789617C}"/>
              </a:ext>
            </a:extLst>
          </p:cNvPr>
          <p:cNvCxnSpPr>
            <a:cxnSpLocks/>
            <a:stCxn id="19" idx="3"/>
            <a:endCxn id="20" idx="1"/>
          </p:cNvCxnSpPr>
          <p:nvPr/>
        </p:nvCxnSpPr>
        <p:spPr>
          <a:xfrm>
            <a:off x="7997194" y="3820869"/>
            <a:ext cx="43976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8AD8908E-EAD9-F81B-1C92-250DC0FB0054}"/>
              </a:ext>
            </a:extLst>
          </p:cNvPr>
          <p:cNvGrpSpPr/>
          <p:nvPr/>
        </p:nvGrpSpPr>
        <p:grpSpPr>
          <a:xfrm>
            <a:off x="6449192" y="2586394"/>
            <a:ext cx="1855649" cy="223371"/>
            <a:chOff x="7863374" y="2841578"/>
            <a:chExt cx="1855649" cy="223371"/>
          </a:xfrm>
        </p:grpSpPr>
        <p:sp>
          <p:nvSpPr>
            <p:cNvPr id="44" name="Rectangle 43">
              <a:extLst>
                <a:ext uri="{FF2B5EF4-FFF2-40B4-BE49-F238E27FC236}">
                  <a16:creationId xmlns:a16="http://schemas.microsoft.com/office/drawing/2014/main" id="{53130FB7-C6E0-2CC4-6ABE-5FBA007EACA9}"/>
                </a:ext>
              </a:extLst>
            </p:cNvPr>
            <p:cNvSpPr/>
            <p:nvPr/>
          </p:nvSpPr>
          <p:spPr>
            <a:xfrm>
              <a:off x="7863374" y="2881240"/>
              <a:ext cx="145023" cy="144047"/>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5" name="TextBox 44">
              <a:extLst>
                <a:ext uri="{FF2B5EF4-FFF2-40B4-BE49-F238E27FC236}">
                  <a16:creationId xmlns:a16="http://schemas.microsoft.com/office/drawing/2014/main" id="{054C592D-F76E-4E1D-2E2F-2B9CE3094F3A}"/>
                </a:ext>
              </a:extLst>
            </p:cNvPr>
            <p:cNvSpPr txBox="1"/>
            <p:nvPr/>
          </p:nvSpPr>
          <p:spPr>
            <a:xfrm>
              <a:off x="8063023" y="2841578"/>
              <a:ext cx="165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Tasama - Accountant</a:t>
              </a:r>
            </a:p>
          </p:txBody>
        </p:sp>
      </p:grpSp>
      <p:grpSp>
        <p:nvGrpSpPr>
          <p:cNvPr id="42" name="Group 41">
            <a:extLst>
              <a:ext uri="{FF2B5EF4-FFF2-40B4-BE49-F238E27FC236}">
                <a16:creationId xmlns:a16="http://schemas.microsoft.com/office/drawing/2014/main" id="{A10C0EB2-77FD-EE2B-D3FB-BA81EE4A5539}"/>
              </a:ext>
            </a:extLst>
          </p:cNvPr>
          <p:cNvGrpSpPr/>
          <p:nvPr/>
        </p:nvGrpSpPr>
        <p:grpSpPr>
          <a:xfrm>
            <a:off x="10874197" y="2586394"/>
            <a:ext cx="820498" cy="223371"/>
            <a:chOff x="9180549" y="2841578"/>
            <a:chExt cx="820498" cy="223371"/>
          </a:xfrm>
        </p:grpSpPr>
        <p:sp>
          <p:nvSpPr>
            <p:cNvPr id="38" name="Rectangle 37">
              <a:extLst>
                <a:ext uri="{FF2B5EF4-FFF2-40B4-BE49-F238E27FC236}">
                  <a16:creationId xmlns:a16="http://schemas.microsoft.com/office/drawing/2014/main" id="{21F1D34E-549B-A4BD-EDFF-B72D98558F26}"/>
                </a:ext>
              </a:extLst>
            </p:cNvPr>
            <p:cNvSpPr/>
            <p:nvPr/>
          </p:nvSpPr>
          <p:spPr>
            <a:xfrm>
              <a:off x="9180549" y="2881240"/>
              <a:ext cx="145023" cy="14404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39" name="TextBox 38">
              <a:extLst>
                <a:ext uri="{FF2B5EF4-FFF2-40B4-BE49-F238E27FC236}">
                  <a16:creationId xmlns:a16="http://schemas.microsoft.com/office/drawing/2014/main" id="{90BA1F8A-3CA8-6F82-6B09-6CCE38404FA8}"/>
                </a:ext>
              </a:extLst>
            </p:cNvPr>
            <p:cNvSpPr txBox="1"/>
            <p:nvPr/>
          </p:nvSpPr>
          <p:spPr>
            <a:xfrm>
              <a:off x="9380198" y="2841578"/>
              <a:ext cx="620849"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Client</a:t>
              </a:r>
            </a:p>
          </p:txBody>
        </p:sp>
      </p:grpSp>
      <p:grpSp>
        <p:nvGrpSpPr>
          <p:cNvPr id="40" name="Group 39">
            <a:extLst>
              <a:ext uri="{FF2B5EF4-FFF2-40B4-BE49-F238E27FC236}">
                <a16:creationId xmlns:a16="http://schemas.microsoft.com/office/drawing/2014/main" id="{4ACA7A45-AA29-C2DF-7746-35A0CED9299C}"/>
              </a:ext>
            </a:extLst>
          </p:cNvPr>
          <p:cNvGrpSpPr/>
          <p:nvPr/>
        </p:nvGrpSpPr>
        <p:grpSpPr>
          <a:xfrm>
            <a:off x="8571696" y="2586394"/>
            <a:ext cx="2035647" cy="223371"/>
            <a:chOff x="10398573" y="2841578"/>
            <a:chExt cx="2035647" cy="223371"/>
          </a:xfrm>
        </p:grpSpPr>
        <p:sp>
          <p:nvSpPr>
            <p:cNvPr id="46" name="Rectangle 45">
              <a:extLst>
                <a:ext uri="{FF2B5EF4-FFF2-40B4-BE49-F238E27FC236}">
                  <a16:creationId xmlns:a16="http://schemas.microsoft.com/office/drawing/2014/main" id="{043153EB-EA93-55A7-F760-C6608A00B89B}"/>
                </a:ext>
              </a:extLst>
            </p:cNvPr>
            <p:cNvSpPr/>
            <p:nvPr/>
          </p:nvSpPr>
          <p:spPr>
            <a:xfrm>
              <a:off x="10398573" y="2881240"/>
              <a:ext cx="145023" cy="14404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8" name="TextBox 47">
              <a:extLst>
                <a:ext uri="{FF2B5EF4-FFF2-40B4-BE49-F238E27FC236}">
                  <a16:creationId xmlns:a16="http://schemas.microsoft.com/office/drawing/2014/main" id="{D98B69E6-F560-A383-0FBB-2CF85A2BCD02}"/>
                </a:ext>
              </a:extLst>
            </p:cNvPr>
            <p:cNvSpPr txBox="1"/>
            <p:nvPr/>
          </p:nvSpPr>
          <p:spPr>
            <a:xfrm>
              <a:off x="10598220" y="2841578"/>
              <a:ext cx="183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Tasama - S. Accountant</a:t>
              </a:r>
            </a:p>
          </p:txBody>
        </p:sp>
      </p:grpSp>
      <p:sp>
        <p:nvSpPr>
          <p:cNvPr id="50" name="Rectangle 49">
            <a:extLst>
              <a:ext uri="{FF2B5EF4-FFF2-40B4-BE49-F238E27FC236}">
                <a16:creationId xmlns:a16="http://schemas.microsoft.com/office/drawing/2014/main" id="{6C5EB85F-AFEC-57D7-8B7C-5A9E427FF96C}"/>
              </a:ext>
            </a:extLst>
          </p:cNvPr>
          <p:cNvSpPr/>
          <p:nvPr/>
        </p:nvSpPr>
        <p:spPr>
          <a:xfrm>
            <a:off x="695107" y="6463602"/>
            <a:ext cx="8072853" cy="269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ontserrat"/>
                <a:ea typeface="+mn-ea"/>
                <a:cs typeface="Montserrat-Arabic"/>
              </a:rPr>
              <a:t>* All figures and volumes shown are based on Finance Team input</a:t>
            </a:r>
            <a:endParaRPr kumimoji="0" lang="en-AE"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7" name="Rectangle 46">
            <a:extLst>
              <a:ext uri="{FF2B5EF4-FFF2-40B4-BE49-F238E27FC236}">
                <a16:creationId xmlns:a16="http://schemas.microsoft.com/office/drawing/2014/main" id="{5F75B622-2AC1-D815-A9F3-7186A048BD88}"/>
              </a:ext>
            </a:extLst>
          </p:cNvPr>
          <p:cNvSpPr/>
          <p:nvPr/>
        </p:nvSpPr>
        <p:spPr>
          <a:xfrm>
            <a:off x="4545366"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3-15 min</a:t>
            </a:r>
          </a:p>
        </p:txBody>
      </p:sp>
      <p:sp>
        <p:nvSpPr>
          <p:cNvPr id="20" name="Rectangle 19">
            <a:extLst>
              <a:ext uri="{FF2B5EF4-FFF2-40B4-BE49-F238E27FC236}">
                <a16:creationId xmlns:a16="http://schemas.microsoft.com/office/drawing/2014/main" id="{60DED03F-C8E3-37BF-39A3-DF4654474AD5}"/>
              </a:ext>
            </a:extLst>
          </p:cNvPr>
          <p:cNvSpPr/>
          <p:nvPr/>
        </p:nvSpPr>
        <p:spPr>
          <a:xfrm>
            <a:off x="8436956" y="3309532"/>
            <a:ext cx="1658182" cy="102267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Review Client</a:t>
            </a:r>
          </a:p>
        </p:txBody>
      </p:sp>
      <p:cxnSp>
        <p:nvCxnSpPr>
          <p:cNvPr id="27" name="Straight Arrow Connector 26">
            <a:extLst>
              <a:ext uri="{FF2B5EF4-FFF2-40B4-BE49-F238E27FC236}">
                <a16:creationId xmlns:a16="http://schemas.microsoft.com/office/drawing/2014/main" id="{4336F827-0692-2E25-1213-7B1FFB375376}"/>
              </a:ext>
            </a:extLst>
          </p:cNvPr>
          <p:cNvCxnSpPr>
            <a:cxnSpLocks/>
            <a:stCxn id="20" idx="3"/>
            <a:endCxn id="22" idx="2"/>
          </p:cNvCxnSpPr>
          <p:nvPr/>
        </p:nvCxnSpPr>
        <p:spPr>
          <a:xfrm>
            <a:off x="10095138" y="3820869"/>
            <a:ext cx="439764" cy="1"/>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2361E138-2359-78E6-0704-DA791F8B4288}"/>
              </a:ext>
            </a:extLst>
          </p:cNvPr>
          <p:cNvGrpSpPr/>
          <p:nvPr/>
        </p:nvGrpSpPr>
        <p:grpSpPr>
          <a:xfrm>
            <a:off x="5262689" y="2586394"/>
            <a:ext cx="919648" cy="223371"/>
            <a:chOff x="9180549" y="2841578"/>
            <a:chExt cx="919648" cy="223371"/>
          </a:xfrm>
        </p:grpSpPr>
        <p:sp>
          <p:nvSpPr>
            <p:cNvPr id="31" name="Rectangle 30">
              <a:extLst>
                <a:ext uri="{FF2B5EF4-FFF2-40B4-BE49-F238E27FC236}">
                  <a16:creationId xmlns:a16="http://schemas.microsoft.com/office/drawing/2014/main" id="{B79BAC5B-CB43-0681-CDD2-49FD15447CB9}"/>
                </a:ext>
              </a:extLst>
            </p:cNvPr>
            <p:cNvSpPr/>
            <p:nvPr/>
          </p:nvSpPr>
          <p:spPr>
            <a:xfrm>
              <a:off x="9180549" y="2881240"/>
              <a:ext cx="145023" cy="144047"/>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32" name="TextBox 31">
              <a:extLst>
                <a:ext uri="{FF2B5EF4-FFF2-40B4-BE49-F238E27FC236}">
                  <a16:creationId xmlns:a16="http://schemas.microsoft.com/office/drawing/2014/main" id="{0AB5A770-49FB-78B6-1ADE-5411B8806873}"/>
                </a:ext>
              </a:extLst>
            </p:cNvPr>
            <p:cNvSpPr txBox="1"/>
            <p:nvPr/>
          </p:nvSpPr>
          <p:spPr>
            <a:xfrm>
              <a:off x="9380197" y="2841578"/>
              <a:ext cx="720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System</a:t>
              </a:r>
            </a:p>
          </p:txBody>
        </p:sp>
      </p:grpSp>
      <p:sp>
        <p:nvSpPr>
          <p:cNvPr id="34" name="Rectangle 33">
            <a:extLst>
              <a:ext uri="{FF2B5EF4-FFF2-40B4-BE49-F238E27FC236}">
                <a16:creationId xmlns:a16="http://schemas.microsoft.com/office/drawing/2014/main" id="{78B946AB-1885-0834-86E8-416CBACBEB7C}"/>
              </a:ext>
            </a:extLst>
          </p:cNvPr>
          <p:cNvSpPr/>
          <p:nvPr/>
        </p:nvSpPr>
        <p:spPr>
          <a:xfrm>
            <a:off x="2447422"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5-10 min</a:t>
            </a:r>
          </a:p>
        </p:txBody>
      </p:sp>
      <p:sp>
        <p:nvSpPr>
          <p:cNvPr id="36" name="Rectangle 35">
            <a:extLst>
              <a:ext uri="{FF2B5EF4-FFF2-40B4-BE49-F238E27FC236}">
                <a16:creationId xmlns:a16="http://schemas.microsoft.com/office/drawing/2014/main" id="{9A7998E7-8887-C30D-A63C-865C1B48A27A}"/>
              </a:ext>
            </a:extLst>
          </p:cNvPr>
          <p:cNvSpPr/>
          <p:nvPr/>
        </p:nvSpPr>
        <p:spPr>
          <a:xfrm>
            <a:off x="6643310" y="4482886"/>
            <a:ext cx="104958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5 min</a:t>
            </a:r>
          </a:p>
        </p:txBody>
      </p:sp>
    </p:spTree>
    <p:extLst>
      <p:ext uri="{BB962C8B-B14F-4D97-AF65-F5344CB8AC3E}">
        <p14:creationId xmlns:p14="http://schemas.microsoft.com/office/powerpoint/2010/main" val="3974957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DF0B-047B-5015-ACAE-71C70FD4501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EBA49F8-7890-EB58-8B9F-884E0E5FA178}"/>
              </a:ext>
            </a:extLst>
          </p:cNvPr>
          <p:cNvGraphicFramePr>
            <a:graphicFrameLocks noChangeAspect="1"/>
          </p:cNvGraphicFramePr>
          <p:nvPr>
            <p:custDataLst>
              <p:tags r:id="rId1"/>
            </p:custDataLst>
            <p:extLst>
              <p:ext uri="{D42A27DB-BD31-4B8C-83A1-F6EECF244321}">
                <p14:modId xmlns:p14="http://schemas.microsoft.com/office/powerpoint/2010/main" val="29841033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6" name="think-cell data - do not delete" hidden="1">
                        <a:extLst>
                          <a:ext uri="{FF2B5EF4-FFF2-40B4-BE49-F238E27FC236}">
                            <a16:creationId xmlns:a16="http://schemas.microsoft.com/office/drawing/2014/main" id="{9EBA49F8-7890-EB58-8B9F-884E0E5FA1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3B7F2D6-23A2-7FC4-14CE-D802B0D239E8}"/>
              </a:ext>
            </a:extLst>
          </p:cNvPr>
          <p:cNvSpPr>
            <a:spLocks noGrp="1"/>
          </p:cNvSpPr>
          <p:nvPr>
            <p:ph type="title"/>
          </p:nvPr>
        </p:nvSpPr>
        <p:spPr/>
        <p:txBody>
          <a:bodyPr vert="horz"/>
          <a:lstStyle/>
          <a:p>
            <a:r>
              <a:rPr lang="en-US"/>
              <a:t>2b. Payment – ERP </a:t>
            </a:r>
          </a:p>
        </p:txBody>
      </p:sp>
      <p:sp>
        <p:nvSpPr>
          <p:cNvPr id="3" name="Slide Number Placeholder 2">
            <a:extLst>
              <a:ext uri="{FF2B5EF4-FFF2-40B4-BE49-F238E27FC236}">
                <a16:creationId xmlns:a16="http://schemas.microsoft.com/office/drawing/2014/main" id="{5DBE0D00-1FB0-AB7E-6D65-D8846F1E90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cs typeface="Montserrat-Arabic"/>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SA" sz="1200" b="0" i="0" u="none" strike="noStrike" kern="1200" cap="none" spc="0" normalizeH="0" baseline="0" noProof="0">
              <a:ln>
                <a:noFill/>
              </a:ln>
              <a:solidFill>
                <a:srgbClr val="10069E">
                  <a:tint val="82000"/>
                </a:srgbClr>
              </a:solidFill>
              <a:effectLst/>
              <a:uLnTx/>
              <a:uFillTx/>
              <a:latin typeface="Montserrat"/>
              <a:ea typeface="+mn-ea"/>
              <a:cs typeface="Montserrat-Arabic"/>
            </a:endParaRPr>
          </a:p>
        </p:txBody>
      </p:sp>
      <p:sp>
        <p:nvSpPr>
          <p:cNvPr id="7" name="TextBox 6">
            <a:extLst>
              <a:ext uri="{FF2B5EF4-FFF2-40B4-BE49-F238E27FC236}">
                <a16:creationId xmlns:a16="http://schemas.microsoft.com/office/drawing/2014/main" id="{436CB327-4710-1D08-6E4C-3D657A37F3FE}"/>
              </a:ext>
            </a:extLst>
          </p:cNvPr>
          <p:cNvSpPr txBox="1"/>
          <p:nvPr/>
        </p:nvSpPr>
        <p:spPr>
          <a:xfrm>
            <a:off x="318000" y="1099409"/>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How it works</a:t>
            </a:r>
          </a:p>
        </p:txBody>
      </p:sp>
      <p:cxnSp>
        <p:nvCxnSpPr>
          <p:cNvPr id="8" name="Straight Connector 7">
            <a:extLst>
              <a:ext uri="{FF2B5EF4-FFF2-40B4-BE49-F238E27FC236}">
                <a16:creationId xmlns:a16="http://schemas.microsoft.com/office/drawing/2014/main" id="{9CF13FAD-2E46-5BCA-2FCE-DAA2A8F24D95}"/>
              </a:ext>
            </a:extLst>
          </p:cNvPr>
          <p:cNvCxnSpPr>
            <a:cxnSpLocks/>
          </p:cNvCxnSpPr>
          <p:nvPr/>
        </p:nvCxnSpPr>
        <p:spPr>
          <a:xfrm flipH="1">
            <a:off x="449421" y="1535785"/>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0893B89-E97D-C528-42DD-32482D6E7440}"/>
              </a:ext>
            </a:extLst>
          </p:cNvPr>
          <p:cNvSpPr txBox="1"/>
          <p:nvPr/>
        </p:nvSpPr>
        <p:spPr>
          <a:xfrm>
            <a:off x="318000" y="1686711"/>
            <a:ext cx="11675526" cy="502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ontserrat SemiBold"/>
                <a:ea typeface="+mn-ea"/>
                <a:cs typeface="Montserrat-Arabic"/>
              </a:rPr>
              <a:t>In the ERP process, workflow-approved invoices are shared with the client for confirmation, and once approved, payments are processed and uploaded in the bank portal. The ERP system supports reconciliation and posting, reducing manual effort</a:t>
            </a:r>
          </a:p>
        </p:txBody>
      </p:sp>
      <p:pic>
        <p:nvPicPr>
          <p:cNvPr id="37" name="Picture 36">
            <a:extLst>
              <a:ext uri="{FF2B5EF4-FFF2-40B4-BE49-F238E27FC236}">
                <a16:creationId xmlns:a16="http://schemas.microsoft.com/office/drawing/2014/main" id="{C676450B-F075-6731-418F-771C89D9BC05}"/>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12813" y="5728708"/>
            <a:ext cx="12192000" cy="342358"/>
          </a:xfrm>
          <a:prstGeom prst="rect">
            <a:avLst/>
          </a:prstGeom>
          <a:solidFill>
            <a:srgbClr val="FFFFFF"/>
          </a:solidFill>
          <a:ln>
            <a:noFill/>
          </a:ln>
        </p:spPr>
      </p:pic>
      <p:sp>
        <p:nvSpPr>
          <p:cNvPr id="13" name="TextBox 12">
            <a:extLst>
              <a:ext uri="{FF2B5EF4-FFF2-40B4-BE49-F238E27FC236}">
                <a16:creationId xmlns:a16="http://schemas.microsoft.com/office/drawing/2014/main" id="{55C35F3C-E1F4-6D05-B1EA-FA0AFA2078E0}"/>
              </a:ext>
            </a:extLst>
          </p:cNvPr>
          <p:cNvSpPr txBox="1"/>
          <p:nvPr/>
        </p:nvSpPr>
        <p:spPr>
          <a:xfrm>
            <a:off x="318000" y="4895187"/>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Key metrics</a:t>
            </a:r>
          </a:p>
        </p:txBody>
      </p:sp>
      <p:cxnSp>
        <p:nvCxnSpPr>
          <p:cNvPr id="14" name="Straight Connector 13">
            <a:extLst>
              <a:ext uri="{FF2B5EF4-FFF2-40B4-BE49-F238E27FC236}">
                <a16:creationId xmlns:a16="http://schemas.microsoft.com/office/drawing/2014/main" id="{1EAE23E8-AF41-C386-39D3-246FCAE74182}"/>
              </a:ext>
            </a:extLst>
          </p:cNvPr>
          <p:cNvCxnSpPr>
            <a:cxnSpLocks/>
          </p:cNvCxnSpPr>
          <p:nvPr/>
        </p:nvCxnSpPr>
        <p:spPr>
          <a:xfrm flipH="1">
            <a:off x="449421" y="5331563"/>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70BEAA2D-8741-DB8B-F32F-BFD07BB63A44}"/>
              </a:ext>
            </a:extLst>
          </p:cNvPr>
          <p:cNvSpPr/>
          <p:nvPr/>
        </p:nvSpPr>
        <p:spPr>
          <a:xfrm>
            <a:off x="2368828"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cs typeface="Montserrat-Arabic"/>
              </a:rPr>
              <a:t>Volume: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0069E"/>
                </a:solidFill>
                <a:effectLst/>
                <a:uLnTx/>
                <a:uFillTx/>
                <a:latin typeface="Montserrat"/>
                <a:ea typeface="+mn-ea"/>
                <a:cs typeface="Montserrat-Arabic"/>
              </a:rPr>
              <a:t>~9,000</a:t>
            </a:r>
            <a:r>
              <a:rPr kumimoji="0" lang="en-US" sz="1200" b="0" i="0" u="none" strike="noStrike" kern="1200" cap="none" spc="0" normalizeH="0" baseline="0" noProof="0">
                <a:ln>
                  <a:noFill/>
                </a:ln>
                <a:solidFill>
                  <a:srgbClr val="10069E"/>
                </a:solidFill>
                <a:effectLst/>
                <a:uLnTx/>
                <a:uFillTx/>
                <a:latin typeface="Montserrat"/>
                <a:ea typeface="+mn-ea"/>
                <a:cs typeface="Montserrat-Arabic"/>
              </a:rPr>
              <a:t> payments annually</a:t>
            </a:r>
            <a:endParaRPr kumimoji="0" lang="en-AE" sz="1200" b="0" i="0" u="none" strike="noStrike" kern="1200" cap="none" spc="0" normalizeH="0" baseline="0" noProof="0">
              <a:ln>
                <a:noFill/>
              </a:ln>
              <a:solidFill>
                <a:srgbClr val="10069E"/>
              </a:solidFill>
              <a:effectLst/>
              <a:uLnTx/>
              <a:uFillTx/>
              <a:latin typeface="Montserrat"/>
              <a:ea typeface="+mn-ea"/>
              <a:cs typeface="Montserrat-Arabic"/>
            </a:endParaRPr>
          </a:p>
        </p:txBody>
      </p:sp>
      <p:sp>
        <p:nvSpPr>
          <p:cNvPr id="35" name="Rectangle: Rounded Corners 34">
            <a:extLst>
              <a:ext uri="{FF2B5EF4-FFF2-40B4-BE49-F238E27FC236}">
                <a16:creationId xmlns:a16="http://schemas.microsoft.com/office/drawing/2014/main" id="{CC0A4F35-BC4F-263C-2AD3-E90159CE08EC}"/>
              </a:ext>
            </a:extLst>
          </p:cNvPr>
          <p:cNvSpPr/>
          <p:nvPr/>
        </p:nvSpPr>
        <p:spPr>
          <a:xfrm>
            <a:off x="7479313" y="5495781"/>
            <a:ext cx="2343859" cy="808212"/>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069E"/>
                </a:solidFill>
                <a:effectLst/>
                <a:uLnTx/>
                <a:uFillTx/>
                <a:latin typeface="Montserrat"/>
                <a:ea typeface="+mn-ea"/>
                <a:cs typeface="Montserrat-Arabic"/>
              </a:rPr>
              <a:t>Effort: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rgbClr val="10069E"/>
                </a:solidFill>
                <a:latin typeface="Montserrat"/>
                <a:cs typeface="Montserrat-Arabic"/>
              </a:rPr>
              <a:t>3</a:t>
            </a:r>
            <a:r>
              <a:rPr kumimoji="0" lang="en-US" sz="1600" b="0" i="0" u="none" strike="noStrike" kern="1200" cap="none" spc="0" normalizeH="0" baseline="0" noProof="0">
                <a:ln>
                  <a:noFill/>
                </a:ln>
                <a:solidFill>
                  <a:srgbClr val="10069E"/>
                </a:solidFill>
                <a:effectLst/>
                <a:uLnTx/>
                <a:uFillTx/>
                <a:latin typeface="Montserrat"/>
                <a:ea typeface="+mn-ea"/>
                <a:cs typeface="Montserrat-Arabic"/>
              </a:rPr>
              <a:t>0-40</a:t>
            </a:r>
            <a:r>
              <a:rPr kumimoji="0" lang="en-US" sz="1200" b="0" i="0" u="none" strike="noStrike" kern="1200" cap="none" spc="0" normalizeH="0" baseline="0" noProof="0">
                <a:ln>
                  <a:noFill/>
                </a:ln>
                <a:solidFill>
                  <a:srgbClr val="10069E"/>
                </a:solidFill>
                <a:effectLst/>
                <a:uLnTx/>
                <a:uFillTx/>
                <a:latin typeface="Montserrat"/>
                <a:ea typeface="+mn-ea"/>
                <a:cs typeface="Montserrat-Arabic"/>
              </a:rPr>
              <a:t> min per payment</a:t>
            </a:r>
            <a:endParaRPr kumimoji="0" lang="en-AE" sz="1200" b="0" i="0" u="none" strike="noStrike" kern="1200" cap="none" spc="0" normalizeH="0" baseline="0" noProof="0">
              <a:ln>
                <a:noFill/>
              </a:ln>
              <a:solidFill>
                <a:srgbClr val="10069E"/>
              </a:solidFill>
              <a:effectLst/>
              <a:uLnTx/>
              <a:uFillTx/>
              <a:latin typeface="Montserrat"/>
              <a:ea typeface="+mn-ea"/>
              <a:cs typeface="Montserrat-Arabic"/>
            </a:endParaRPr>
          </a:p>
        </p:txBody>
      </p:sp>
      <p:sp>
        <p:nvSpPr>
          <p:cNvPr id="10" name="TextBox 9">
            <a:extLst>
              <a:ext uri="{FF2B5EF4-FFF2-40B4-BE49-F238E27FC236}">
                <a16:creationId xmlns:a16="http://schemas.microsoft.com/office/drawing/2014/main" id="{294D4BEF-F5D6-44E9-8158-B0ACC9623C7C}"/>
              </a:ext>
            </a:extLst>
          </p:cNvPr>
          <p:cNvSpPr txBox="1"/>
          <p:nvPr/>
        </p:nvSpPr>
        <p:spPr>
          <a:xfrm>
            <a:off x="318000" y="2339580"/>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High-level process steps</a:t>
            </a:r>
          </a:p>
        </p:txBody>
      </p:sp>
      <p:cxnSp>
        <p:nvCxnSpPr>
          <p:cNvPr id="11" name="Straight Connector 10">
            <a:extLst>
              <a:ext uri="{FF2B5EF4-FFF2-40B4-BE49-F238E27FC236}">
                <a16:creationId xmlns:a16="http://schemas.microsoft.com/office/drawing/2014/main" id="{D8E5DC64-2DD2-4A94-5678-28D465207F66}"/>
              </a:ext>
            </a:extLst>
          </p:cNvPr>
          <p:cNvCxnSpPr>
            <a:cxnSpLocks/>
          </p:cNvCxnSpPr>
          <p:nvPr/>
        </p:nvCxnSpPr>
        <p:spPr>
          <a:xfrm flipH="1">
            <a:off x="449421" y="2775956"/>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563DFBE-3743-89D9-4169-F38340CD16E8}"/>
              </a:ext>
            </a:extLst>
          </p:cNvPr>
          <p:cNvSpPr/>
          <p:nvPr/>
        </p:nvSpPr>
        <p:spPr>
          <a:xfrm>
            <a:off x="433362" y="3202152"/>
            <a:ext cx="1270000" cy="1237435"/>
          </a:xfrm>
          <a:prstGeom prst="ellipse">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Work flow approved invoices are shared with client to confirm on the payment to be initiated</a:t>
            </a:r>
          </a:p>
        </p:txBody>
      </p:sp>
      <p:sp>
        <p:nvSpPr>
          <p:cNvPr id="17" name="Rectangle 16">
            <a:extLst>
              <a:ext uri="{FF2B5EF4-FFF2-40B4-BE49-F238E27FC236}">
                <a16:creationId xmlns:a16="http://schemas.microsoft.com/office/drawing/2014/main" id="{8D9B0860-4D5C-7BE7-E3E4-6E93259C949E}"/>
              </a:ext>
            </a:extLst>
          </p:cNvPr>
          <p:cNvSpPr/>
          <p:nvPr/>
        </p:nvSpPr>
        <p:spPr>
          <a:xfrm>
            <a:off x="1906404" y="3258399"/>
            <a:ext cx="1029600" cy="112494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Client confirms on the invoices to be paid through bank</a:t>
            </a:r>
          </a:p>
        </p:txBody>
      </p:sp>
      <p:sp>
        <p:nvSpPr>
          <p:cNvPr id="18" name="Rectangle 17">
            <a:extLst>
              <a:ext uri="{FF2B5EF4-FFF2-40B4-BE49-F238E27FC236}">
                <a16:creationId xmlns:a16="http://schemas.microsoft.com/office/drawing/2014/main" id="{D231AE50-DF3C-935E-6313-A86DBB9F9651}"/>
              </a:ext>
            </a:extLst>
          </p:cNvPr>
          <p:cNvSpPr/>
          <p:nvPr/>
        </p:nvSpPr>
        <p:spPr>
          <a:xfrm>
            <a:off x="3139046"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Upon confirmation, payment process is initiated for the confirmed invoices in ERP</a:t>
            </a:r>
          </a:p>
        </p:txBody>
      </p:sp>
      <p:sp>
        <p:nvSpPr>
          <p:cNvPr id="19" name="Rectangle 18">
            <a:extLst>
              <a:ext uri="{FF2B5EF4-FFF2-40B4-BE49-F238E27FC236}">
                <a16:creationId xmlns:a16="http://schemas.microsoft.com/office/drawing/2014/main" id="{FA49EEF7-3F93-CBA5-96FE-3605F73BE57E}"/>
              </a:ext>
            </a:extLst>
          </p:cNvPr>
          <p:cNvSpPr/>
          <p:nvPr/>
        </p:nvSpPr>
        <p:spPr>
          <a:xfrm>
            <a:off x="4371688" y="3258399"/>
            <a:ext cx="1029600" cy="112494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Client approve the payment batch in the ERP</a:t>
            </a:r>
          </a:p>
        </p:txBody>
      </p:sp>
      <p:sp>
        <p:nvSpPr>
          <p:cNvPr id="22" name="Oval 21">
            <a:extLst>
              <a:ext uri="{FF2B5EF4-FFF2-40B4-BE49-F238E27FC236}">
                <a16:creationId xmlns:a16="http://schemas.microsoft.com/office/drawing/2014/main" id="{FF69B997-A251-5B96-AB8D-23F475A87880}"/>
              </a:ext>
            </a:extLst>
          </p:cNvPr>
          <p:cNvSpPr/>
          <p:nvPr/>
        </p:nvSpPr>
        <p:spPr>
          <a:xfrm>
            <a:off x="10534902" y="3202152"/>
            <a:ext cx="1270000" cy="1237435"/>
          </a:xfrm>
          <a:prstGeom prst="ellipse">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Create accounting for Payables module and cash management in ERP to post the payments</a:t>
            </a:r>
          </a:p>
        </p:txBody>
      </p:sp>
      <p:cxnSp>
        <p:nvCxnSpPr>
          <p:cNvPr id="23" name="Straight Arrow Connector 22">
            <a:extLst>
              <a:ext uri="{FF2B5EF4-FFF2-40B4-BE49-F238E27FC236}">
                <a16:creationId xmlns:a16="http://schemas.microsoft.com/office/drawing/2014/main" id="{047F80F1-ACD6-30C6-2700-D57C6E0B317C}"/>
              </a:ext>
            </a:extLst>
          </p:cNvPr>
          <p:cNvCxnSpPr>
            <a:stCxn id="16" idx="6"/>
            <a:endCxn id="17" idx="1"/>
          </p:cNvCxnSpPr>
          <p:nvPr/>
        </p:nvCxnSpPr>
        <p:spPr>
          <a:xfrm>
            <a:off x="1703362"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8501A44-0EC2-B6CC-6911-95FA7787FC63}"/>
              </a:ext>
            </a:extLst>
          </p:cNvPr>
          <p:cNvCxnSpPr>
            <a:cxnSpLocks/>
            <a:stCxn id="17" idx="3"/>
            <a:endCxn id="18" idx="1"/>
          </p:cNvCxnSpPr>
          <p:nvPr/>
        </p:nvCxnSpPr>
        <p:spPr>
          <a:xfrm>
            <a:off x="2936004"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3B1E065-FED0-A540-5D21-A71646DF40CB}"/>
              </a:ext>
            </a:extLst>
          </p:cNvPr>
          <p:cNvCxnSpPr>
            <a:cxnSpLocks/>
            <a:stCxn id="18" idx="3"/>
            <a:endCxn id="19" idx="1"/>
          </p:cNvCxnSpPr>
          <p:nvPr/>
        </p:nvCxnSpPr>
        <p:spPr>
          <a:xfrm>
            <a:off x="4168646"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71A3432C-6A18-E0C9-BDCC-DC7726BB06D2}"/>
              </a:ext>
            </a:extLst>
          </p:cNvPr>
          <p:cNvCxnSpPr>
            <a:cxnSpLocks/>
            <a:stCxn id="19" idx="3"/>
            <a:endCxn id="55" idx="1"/>
          </p:cNvCxnSpPr>
          <p:nvPr/>
        </p:nvCxnSpPr>
        <p:spPr>
          <a:xfrm>
            <a:off x="5401288"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E82904B5-F8D1-3302-51A0-2CF4B456C8A5}"/>
              </a:ext>
            </a:extLst>
          </p:cNvPr>
          <p:cNvGrpSpPr/>
          <p:nvPr/>
        </p:nvGrpSpPr>
        <p:grpSpPr>
          <a:xfrm>
            <a:off x="6465674" y="2586394"/>
            <a:ext cx="1855649" cy="223371"/>
            <a:chOff x="7863374" y="2841578"/>
            <a:chExt cx="1855649" cy="223371"/>
          </a:xfrm>
        </p:grpSpPr>
        <p:sp>
          <p:nvSpPr>
            <p:cNvPr id="44" name="Rectangle 43">
              <a:extLst>
                <a:ext uri="{FF2B5EF4-FFF2-40B4-BE49-F238E27FC236}">
                  <a16:creationId xmlns:a16="http://schemas.microsoft.com/office/drawing/2014/main" id="{65CE2D49-8240-D517-62E6-1E9B8F3DE678}"/>
                </a:ext>
              </a:extLst>
            </p:cNvPr>
            <p:cNvSpPr/>
            <p:nvPr/>
          </p:nvSpPr>
          <p:spPr>
            <a:xfrm>
              <a:off x="7863374" y="2881240"/>
              <a:ext cx="145023" cy="144047"/>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5" name="TextBox 44">
              <a:extLst>
                <a:ext uri="{FF2B5EF4-FFF2-40B4-BE49-F238E27FC236}">
                  <a16:creationId xmlns:a16="http://schemas.microsoft.com/office/drawing/2014/main" id="{B557A74B-431E-D505-BBEB-69908CA880E0}"/>
                </a:ext>
              </a:extLst>
            </p:cNvPr>
            <p:cNvSpPr txBox="1"/>
            <p:nvPr/>
          </p:nvSpPr>
          <p:spPr>
            <a:xfrm>
              <a:off x="8063023" y="2841578"/>
              <a:ext cx="165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Tasama - Accountant</a:t>
              </a:r>
            </a:p>
          </p:txBody>
        </p:sp>
      </p:grpSp>
      <p:grpSp>
        <p:nvGrpSpPr>
          <p:cNvPr id="42" name="Group 41">
            <a:extLst>
              <a:ext uri="{FF2B5EF4-FFF2-40B4-BE49-F238E27FC236}">
                <a16:creationId xmlns:a16="http://schemas.microsoft.com/office/drawing/2014/main" id="{3223442B-AB7C-2263-E886-39BC3F6AC060}"/>
              </a:ext>
            </a:extLst>
          </p:cNvPr>
          <p:cNvGrpSpPr/>
          <p:nvPr/>
        </p:nvGrpSpPr>
        <p:grpSpPr>
          <a:xfrm>
            <a:off x="10874197" y="2586394"/>
            <a:ext cx="820498" cy="223371"/>
            <a:chOff x="9180549" y="2841578"/>
            <a:chExt cx="820498" cy="223371"/>
          </a:xfrm>
        </p:grpSpPr>
        <p:sp>
          <p:nvSpPr>
            <p:cNvPr id="38" name="Rectangle 37">
              <a:extLst>
                <a:ext uri="{FF2B5EF4-FFF2-40B4-BE49-F238E27FC236}">
                  <a16:creationId xmlns:a16="http://schemas.microsoft.com/office/drawing/2014/main" id="{72880E21-1A8E-C698-2BCD-00FFE9FE9F78}"/>
                </a:ext>
              </a:extLst>
            </p:cNvPr>
            <p:cNvSpPr/>
            <p:nvPr/>
          </p:nvSpPr>
          <p:spPr>
            <a:xfrm>
              <a:off x="9180549" y="2881240"/>
              <a:ext cx="145023" cy="14404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39" name="TextBox 38">
              <a:extLst>
                <a:ext uri="{FF2B5EF4-FFF2-40B4-BE49-F238E27FC236}">
                  <a16:creationId xmlns:a16="http://schemas.microsoft.com/office/drawing/2014/main" id="{0EE20A78-7395-C435-E07A-983151641E14}"/>
                </a:ext>
              </a:extLst>
            </p:cNvPr>
            <p:cNvSpPr txBox="1"/>
            <p:nvPr/>
          </p:nvSpPr>
          <p:spPr>
            <a:xfrm>
              <a:off x="9380198" y="2841578"/>
              <a:ext cx="620849"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Client</a:t>
              </a:r>
            </a:p>
          </p:txBody>
        </p:sp>
      </p:grpSp>
      <p:grpSp>
        <p:nvGrpSpPr>
          <p:cNvPr id="40" name="Group 39">
            <a:extLst>
              <a:ext uri="{FF2B5EF4-FFF2-40B4-BE49-F238E27FC236}">
                <a16:creationId xmlns:a16="http://schemas.microsoft.com/office/drawing/2014/main" id="{16E4BD8A-D4B0-A815-D4CB-18AF7CEA94A3}"/>
              </a:ext>
            </a:extLst>
          </p:cNvPr>
          <p:cNvGrpSpPr/>
          <p:nvPr/>
        </p:nvGrpSpPr>
        <p:grpSpPr>
          <a:xfrm>
            <a:off x="8579936" y="2586394"/>
            <a:ext cx="2035647" cy="223371"/>
            <a:chOff x="10398573" y="2841578"/>
            <a:chExt cx="2035647" cy="223371"/>
          </a:xfrm>
        </p:grpSpPr>
        <p:sp>
          <p:nvSpPr>
            <p:cNvPr id="46" name="Rectangle 45">
              <a:extLst>
                <a:ext uri="{FF2B5EF4-FFF2-40B4-BE49-F238E27FC236}">
                  <a16:creationId xmlns:a16="http://schemas.microsoft.com/office/drawing/2014/main" id="{6C9395E2-74EE-6F91-32D0-F9F51D249436}"/>
                </a:ext>
              </a:extLst>
            </p:cNvPr>
            <p:cNvSpPr/>
            <p:nvPr/>
          </p:nvSpPr>
          <p:spPr>
            <a:xfrm>
              <a:off x="10398573" y="2881240"/>
              <a:ext cx="145023" cy="14404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8" name="TextBox 47">
              <a:extLst>
                <a:ext uri="{FF2B5EF4-FFF2-40B4-BE49-F238E27FC236}">
                  <a16:creationId xmlns:a16="http://schemas.microsoft.com/office/drawing/2014/main" id="{F103E53C-71B0-9438-C6C8-AC95D018D63C}"/>
                </a:ext>
              </a:extLst>
            </p:cNvPr>
            <p:cNvSpPr txBox="1"/>
            <p:nvPr/>
          </p:nvSpPr>
          <p:spPr>
            <a:xfrm>
              <a:off x="10598220" y="2841578"/>
              <a:ext cx="1836000" cy="223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ontserrat SemiBold"/>
                  <a:ea typeface="+mn-ea"/>
                  <a:cs typeface="Montserrat-Arabic"/>
                </a:rPr>
                <a:t>Tasama - S. Accountant</a:t>
              </a:r>
            </a:p>
          </p:txBody>
        </p:sp>
      </p:grpSp>
      <p:sp>
        <p:nvSpPr>
          <p:cNvPr id="50" name="Rectangle 49">
            <a:extLst>
              <a:ext uri="{FF2B5EF4-FFF2-40B4-BE49-F238E27FC236}">
                <a16:creationId xmlns:a16="http://schemas.microsoft.com/office/drawing/2014/main" id="{F7E24ADE-C43D-4340-E209-3D987623D353}"/>
              </a:ext>
            </a:extLst>
          </p:cNvPr>
          <p:cNvSpPr/>
          <p:nvPr/>
        </p:nvSpPr>
        <p:spPr>
          <a:xfrm>
            <a:off x="695107" y="6463602"/>
            <a:ext cx="8072853" cy="269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ontserrat"/>
                <a:ea typeface="+mn-ea"/>
                <a:cs typeface="Montserrat-Arabic"/>
              </a:rPr>
              <a:t>* All figures and volumes shown are based on Finance Team input</a:t>
            </a:r>
            <a:endParaRPr kumimoji="0" lang="en-AE" sz="10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43" name="Rectangle 42">
            <a:extLst>
              <a:ext uri="{FF2B5EF4-FFF2-40B4-BE49-F238E27FC236}">
                <a16:creationId xmlns:a16="http://schemas.microsoft.com/office/drawing/2014/main" id="{F45A2474-B713-FE7D-2994-88A70E9665FE}"/>
              </a:ext>
            </a:extLst>
          </p:cNvPr>
          <p:cNvSpPr/>
          <p:nvPr/>
        </p:nvSpPr>
        <p:spPr>
          <a:xfrm>
            <a:off x="634649" y="4482886"/>
            <a:ext cx="867426"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5-10 min</a:t>
            </a:r>
          </a:p>
        </p:txBody>
      </p:sp>
      <p:sp>
        <p:nvSpPr>
          <p:cNvPr id="47" name="Rectangle 46">
            <a:extLst>
              <a:ext uri="{FF2B5EF4-FFF2-40B4-BE49-F238E27FC236}">
                <a16:creationId xmlns:a16="http://schemas.microsoft.com/office/drawing/2014/main" id="{6B4A3A5E-5DF8-29E9-FAB1-73F0A4EC1235}"/>
              </a:ext>
            </a:extLst>
          </p:cNvPr>
          <p:cNvSpPr/>
          <p:nvPr/>
        </p:nvSpPr>
        <p:spPr>
          <a:xfrm>
            <a:off x="5724846" y="4482886"/>
            <a:ext cx="7885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cs typeface="Montserrat-Arabic"/>
              </a:rPr>
              <a:t>5</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 min</a:t>
            </a:r>
          </a:p>
        </p:txBody>
      </p:sp>
      <p:sp>
        <p:nvSpPr>
          <p:cNvPr id="55" name="Rectangle 54">
            <a:extLst>
              <a:ext uri="{FF2B5EF4-FFF2-40B4-BE49-F238E27FC236}">
                <a16:creationId xmlns:a16="http://schemas.microsoft.com/office/drawing/2014/main" id="{A49CB2D6-A12A-520C-41DE-04B75E89DA90}"/>
              </a:ext>
            </a:extLst>
          </p:cNvPr>
          <p:cNvSpPr/>
          <p:nvPr/>
        </p:nvSpPr>
        <p:spPr>
          <a:xfrm>
            <a:off x="5604330"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Upon approval of payments in the ERP, Tasama accountant upload the payment in the bank portal</a:t>
            </a:r>
          </a:p>
        </p:txBody>
      </p:sp>
      <p:sp>
        <p:nvSpPr>
          <p:cNvPr id="56" name="Rectangle 55">
            <a:extLst>
              <a:ext uri="{FF2B5EF4-FFF2-40B4-BE49-F238E27FC236}">
                <a16:creationId xmlns:a16="http://schemas.microsoft.com/office/drawing/2014/main" id="{B8FD6681-7FFC-9AB5-ECFB-59121E138128}"/>
              </a:ext>
            </a:extLst>
          </p:cNvPr>
          <p:cNvSpPr/>
          <p:nvPr/>
        </p:nvSpPr>
        <p:spPr>
          <a:xfrm>
            <a:off x="6836972" y="3258399"/>
            <a:ext cx="1029600" cy="112494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Client then execute the payment in bank portal.</a:t>
            </a:r>
          </a:p>
        </p:txBody>
      </p:sp>
      <p:sp>
        <p:nvSpPr>
          <p:cNvPr id="57" name="Rectangle 56">
            <a:extLst>
              <a:ext uri="{FF2B5EF4-FFF2-40B4-BE49-F238E27FC236}">
                <a16:creationId xmlns:a16="http://schemas.microsoft.com/office/drawing/2014/main" id="{62F38402-B2A2-BD29-EA8A-1A0CD0C5C09A}"/>
              </a:ext>
            </a:extLst>
          </p:cNvPr>
          <p:cNvSpPr/>
          <p:nvPr/>
        </p:nvSpPr>
        <p:spPr>
          <a:xfrm>
            <a:off x="8069614"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Upon approval of payments in the bank, Tasama accountant extract the bank statement from bank portal</a:t>
            </a:r>
          </a:p>
        </p:txBody>
      </p:sp>
      <p:cxnSp>
        <p:nvCxnSpPr>
          <p:cNvPr id="59" name="Straight Arrow Connector 58">
            <a:extLst>
              <a:ext uri="{FF2B5EF4-FFF2-40B4-BE49-F238E27FC236}">
                <a16:creationId xmlns:a16="http://schemas.microsoft.com/office/drawing/2014/main" id="{EEB0B0C7-E7C4-4B62-D923-99B9501BC1E7}"/>
              </a:ext>
            </a:extLst>
          </p:cNvPr>
          <p:cNvCxnSpPr>
            <a:cxnSpLocks/>
            <a:stCxn id="55" idx="3"/>
            <a:endCxn id="56" idx="1"/>
          </p:cNvCxnSpPr>
          <p:nvPr/>
        </p:nvCxnSpPr>
        <p:spPr>
          <a:xfrm>
            <a:off x="6633930"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42FA43B6-B4C8-D28E-6BDC-DC74CFFAB64C}"/>
              </a:ext>
            </a:extLst>
          </p:cNvPr>
          <p:cNvCxnSpPr>
            <a:cxnSpLocks/>
            <a:stCxn id="56" idx="3"/>
            <a:endCxn id="57" idx="1"/>
          </p:cNvCxnSpPr>
          <p:nvPr/>
        </p:nvCxnSpPr>
        <p:spPr>
          <a:xfrm>
            <a:off x="7866572"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AD2C043B-F4DA-ACBC-8993-452AD2460496}"/>
              </a:ext>
            </a:extLst>
          </p:cNvPr>
          <p:cNvCxnSpPr>
            <a:cxnSpLocks/>
            <a:stCxn id="57" idx="3"/>
            <a:endCxn id="15" idx="1"/>
          </p:cNvCxnSpPr>
          <p:nvPr/>
        </p:nvCxnSpPr>
        <p:spPr>
          <a:xfrm>
            <a:off x="9099214" y="3820870"/>
            <a:ext cx="203042"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a:extLst>
              <a:ext uri="{FF2B5EF4-FFF2-40B4-BE49-F238E27FC236}">
                <a16:creationId xmlns:a16="http://schemas.microsoft.com/office/drawing/2014/main" id="{04EAB069-3A08-6851-4076-2897375C396D}"/>
              </a:ext>
            </a:extLst>
          </p:cNvPr>
          <p:cNvSpPr/>
          <p:nvPr/>
        </p:nvSpPr>
        <p:spPr>
          <a:xfrm>
            <a:off x="3176762" y="4482886"/>
            <a:ext cx="9541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5-10 min</a:t>
            </a:r>
          </a:p>
        </p:txBody>
      </p:sp>
      <p:sp>
        <p:nvSpPr>
          <p:cNvPr id="15" name="Rectangle 14">
            <a:extLst>
              <a:ext uri="{FF2B5EF4-FFF2-40B4-BE49-F238E27FC236}">
                <a16:creationId xmlns:a16="http://schemas.microsoft.com/office/drawing/2014/main" id="{B6ADDC3E-A0BC-6265-83B7-138D82CF8770}"/>
              </a:ext>
            </a:extLst>
          </p:cNvPr>
          <p:cNvSpPr/>
          <p:nvPr/>
        </p:nvSpPr>
        <p:spPr>
          <a:xfrm>
            <a:off x="9302256" y="3258399"/>
            <a:ext cx="1029600" cy="1124941"/>
          </a:xfrm>
          <a:prstGeom prst="rect">
            <a:avLst/>
          </a:prstGeom>
          <a:solidFill>
            <a:srgbClr val="D7D7D7"/>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a:ea typeface="+mn-ea"/>
                <a:cs typeface="Montserrat-Arabic"/>
              </a:rPr>
              <a:t>Upload in ERP to reconcile the payment with bank statement lines</a:t>
            </a:r>
          </a:p>
        </p:txBody>
      </p:sp>
      <p:cxnSp>
        <p:nvCxnSpPr>
          <p:cNvPr id="21" name="Straight Arrow Connector 20">
            <a:extLst>
              <a:ext uri="{FF2B5EF4-FFF2-40B4-BE49-F238E27FC236}">
                <a16:creationId xmlns:a16="http://schemas.microsoft.com/office/drawing/2014/main" id="{8B361056-529B-3BBE-BF2F-529E3067929C}"/>
              </a:ext>
            </a:extLst>
          </p:cNvPr>
          <p:cNvCxnSpPr>
            <a:cxnSpLocks/>
            <a:stCxn id="15" idx="3"/>
            <a:endCxn id="22" idx="2"/>
          </p:cNvCxnSpPr>
          <p:nvPr/>
        </p:nvCxnSpPr>
        <p:spPr>
          <a:xfrm>
            <a:off x="10331856" y="3820870"/>
            <a:ext cx="203046" cy="0"/>
          </a:xfrm>
          <a:prstGeom prst="straightConnector1">
            <a:avLst/>
          </a:prstGeom>
          <a:ln>
            <a:solidFill>
              <a:srgbClr val="A7A7A7"/>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7D664D4D-983F-7681-EEE1-6CA930EF0EE7}"/>
              </a:ext>
            </a:extLst>
          </p:cNvPr>
          <p:cNvSpPr/>
          <p:nvPr/>
        </p:nvSpPr>
        <p:spPr>
          <a:xfrm>
            <a:off x="8190130" y="4482886"/>
            <a:ext cx="7885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cs typeface="Montserrat-Arabic"/>
              </a:rPr>
              <a:t>5</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 min</a:t>
            </a:r>
          </a:p>
        </p:txBody>
      </p:sp>
      <p:sp>
        <p:nvSpPr>
          <p:cNvPr id="30" name="Rectangle 29">
            <a:extLst>
              <a:ext uri="{FF2B5EF4-FFF2-40B4-BE49-F238E27FC236}">
                <a16:creationId xmlns:a16="http://schemas.microsoft.com/office/drawing/2014/main" id="{CE5AE29D-0210-45AB-D8CB-8E8A62EAD4BA}"/>
              </a:ext>
            </a:extLst>
          </p:cNvPr>
          <p:cNvSpPr/>
          <p:nvPr/>
        </p:nvSpPr>
        <p:spPr>
          <a:xfrm>
            <a:off x="9422772" y="4482886"/>
            <a:ext cx="7885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cs typeface="Montserrat-Arabic"/>
              </a:rPr>
              <a:t>5</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 min</a:t>
            </a:r>
          </a:p>
        </p:txBody>
      </p:sp>
      <p:sp>
        <p:nvSpPr>
          <p:cNvPr id="31" name="Rectangle 30">
            <a:extLst>
              <a:ext uri="{FF2B5EF4-FFF2-40B4-BE49-F238E27FC236}">
                <a16:creationId xmlns:a16="http://schemas.microsoft.com/office/drawing/2014/main" id="{E5133954-1DEC-15C1-5747-C7AD571AD1D0}"/>
              </a:ext>
            </a:extLst>
          </p:cNvPr>
          <p:cNvSpPr/>
          <p:nvPr/>
        </p:nvSpPr>
        <p:spPr>
          <a:xfrm>
            <a:off x="10775618" y="4482886"/>
            <a:ext cx="788569" cy="244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1">
                <a:solidFill>
                  <a:srgbClr val="000000">
                    <a:lumMod val="95000"/>
                    <a:lumOff val="5000"/>
                  </a:srgbClr>
                </a:solidFill>
                <a:latin typeface="Ink Free" panose="03080402000500000000" pitchFamily="66" charset="0"/>
                <a:cs typeface="Montserrat-Arabic"/>
              </a:rPr>
              <a:t>5</a:t>
            </a:r>
            <a:r>
              <a:rPr kumimoji="0" lang="en-US" sz="1200" b="0" i="1" u="none" strike="noStrike" kern="1200" cap="none" spc="0" normalizeH="0" baseline="0" noProof="0">
                <a:ln>
                  <a:noFill/>
                </a:ln>
                <a:solidFill>
                  <a:srgbClr val="000000">
                    <a:lumMod val="95000"/>
                    <a:lumOff val="5000"/>
                  </a:srgbClr>
                </a:solidFill>
                <a:effectLst/>
                <a:uLnTx/>
                <a:uFillTx/>
                <a:latin typeface="Ink Free" panose="03080402000500000000" pitchFamily="66" charset="0"/>
                <a:ea typeface="+mn-ea"/>
                <a:cs typeface="Montserrat-Arabic"/>
              </a:rPr>
              <a:t> min</a:t>
            </a:r>
          </a:p>
        </p:txBody>
      </p:sp>
    </p:spTree>
    <p:extLst>
      <p:ext uri="{BB962C8B-B14F-4D97-AF65-F5344CB8AC3E}">
        <p14:creationId xmlns:p14="http://schemas.microsoft.com/office/powerpoint/2010/main" val="103486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930C3C0-FF00-13CB-A2E6-1D18B3F322F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930C3C0-FF00-13CB-A2E6-1D18B3F322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169E5D-1A30-6B21-051D-B4AA368335B8}"/>
              </a:ext>
            </a:extLst>
          </p:cNvPr>
          <p:cNvSpPr>
            <a:spLocks noGrp="1"/>
          </p:cNvSpPr>
          <p:nvPr>
            <p:ph type="ctrTitle"/>
          </p:nvPr>
        </p:nvSpPr>
        <p:spPr/>
        <p:txBody>
          <a:bodyPr vert="horz"/>
          <a:lstStyle/>
          <a:p>
            <a:r>
              <a:rPr lang="en-US"/>
              <a:t>F&amp;A Workflows</a:t>
            </a:r>
          </a:p>
        </p:txBody>
      </p:sp>
      <p:sp>
        <p:nvSpPr>
          <p:cNvPr id="3" name="Subtitle 2">
            <a:extLst>
              <a:ext uri="{FF2B5EF4-FFF2-40B4-BE49-F238E27FC236}">
                <a16:creationId xmlns:a16="http://schemas.microsoft.com/office/drawing/2014/main" id="{45B61C62-305E-2BAC-96D9-90EF6AB2D69B}"/>
              </a:ext>
            </a:extLst>
          </p:cNvPr>
          <p:cNvSpPr>
            <a:spLocks noGrp="1"/>
          </p:cNvSpPr>
          <p:nvPr>
            <p:ph type="subTitle" idx="1"/>
          </p:nvPr>
        </p:nvSpPr>
        <p:spPr/>
        <p:txBody>
          <a:bodyPr/>
          <a:lstStyle/>
          <a:p>
            <a:r>
              <a:rPr lang="en-US"/>
              <a:t>* As per July 23</a:t>
            </a:r>
          </a:p>
          <a:p>
            <a:endParaRPr lang="en-US"/>
          </a:p>
        </p:txBody>
      </p:sp>
    </p:spTree>
    <p:extLst>
      <p:ext uri="{BB962C8B-B14F-4D97-AF65-F5344CB8AC3E}">
        <p14:creationId xmlns:p14="http://schemas.microsoft.com/office/powerpoint/2010/main" val="773861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F106-B455-EDCB-D464-BCA43D1DE73F}"/>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1EB49B0-2BBB-7A06-3735-C4133AD98C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31EB49B0-2BBB-7A06-3735-C4133AD98C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1A3B929-C6DD-925D-84F2-BCBCA10DD5B1}"/>
              </a:ext>
            </a:extLst>
          </p:cNvPr>
          <p:cNvSpPr>
            <a:spLocks noGrp="1"/>
          </p:cNvSpPr>
          <p:nvPr>
            <p:ph type="title"/>
          </p:nvPr>
        </p:nvSpPr>
        <p:spPr>
          <a:xfrm>
            <a:off x="488632" y="377363"/>
            <a:ext cx="9358101" cy="502766"/>
          </a:xfrm>
        </p:spPr>
        <p:txBody>
          <a:bodyPr vert="horz">
            <a:normAutofit/>
          </a:bodyPr>
          <a:lstStyle/>
          <a:p>
            <a:r>
              <a:rPr lang="en-US"/>
              <a:t>Finance &amp; Accounting Processes – General Ledger</a:t>
            </a:r>
          </a:p>
        </p:txBody>
      </p:sp>
      <p:sp>
        <p:nvSpPr>
          <p:cNvPr id="195" name="Title 2">
            <a:extLst>
              <a:ext uri="{FF2B5EF4-FFF2-40B4-BE49-F238E27FC236}">
                <a16:creationId xmlns:a16="http://schemas.microsoft.com/office/drawing/2014/main" id="{51812338-610C-6B51-44ED-0A5C7717F065}"/>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73E3784E-8266-CDC7-F719-D42888D8D9E8}"/>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FAP_100_001– Journal Entry Creation (JV, Accruals and Others)</a:t>
            </a:r>
          </a:p>
        </p:txBody>
      </p:sp>
      <p:grpSp>
        <p:nvGrpSpPr>
          <p:cNvPr id="27" name="Group 26">
            <a:extLst>
              <a:ext uri="{FF2B5EF4-FFF2-40B4-BE49-F238E27FC236}">
                <a16:creationId xmlns:a16="http://schemas.microsoft.com/office/drawing/2014/main" id="{928538EA-BBC0-6800-12D8-5B047869F9AA}"/>
              </a:ext>
            </a:extLst>
          </p:cNvPr>
          <p:cNvGrpSpPr/>
          <p:nvPr/>
        </p:nvGrpSpPr>
        <p:grpSpPr>
          <a:xfrm>
            <a:off x="157122" y="4069385"/>
            <a:ext cx="11877755" cy="1271669"/>
            <a:chOff x="157122" y="4938142"/>
            <a:chExt cx="11877755" cy="1645537"/>
          </a:xfrm>
        </p:grpSpPr>
        <p:sp>
          <p:nvSpPr>
            <p:cNvPr id="9" name="Rectangle 8">
              <a:extLst>
                <a:ext uri="{FF2B5EF4-FFF2-40B4-BE49-F238E27FC236}">
                  <a16:creationId xmlns:a16="http://schemas.microsoft.com/office/drawing/2014/main" id="{8C39A70D-57CC-83CA-06BD-91342CC9167F}"/>
                </a:ext>
              </a:extLst>
            </p:cNvPr>
            <p:cNvSpPr>
              <a:spLocks/>
            </p:cNvSpPr>
            <p:nvPr/>
          </p:nvSpPr>
          <p:spPr>
            <a:xfrm>
              <a:off x="157122" y="4938142"/>
              <a:ext cx="437127"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4E7C9D16-CEB8-1BE6-9865-A703168251CD}"/>
                </a:ext>
              </a:extLst>
            </p:cNvPr>
            <p:cNvSpPr>
              <a:spLocks/>
            </p:cNvSpPr>
            <p:nvPr/>
          </p:nvSpPr>
          <p:spPr>
            <a:xfrm>
              <a:off x="594249" y="4938143"/>
              <a:ext cx="11440628"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grpSp>
      <p:grpSp>
        <p:nvGrpSpPr>
          <p:cNvPr id="23" name="Group 22">
            <a:extLst>
              <a:ext uri="{FF2B5EF4-FFF2-40B4-BE49-F238E27FC236}">
                <a16:creationId xmlns:a16="http://schemas.microsoft.com/office/drawing/2014/main" id="{ED38687D-70AF-3E18-098F-BD4326F41ADF}"/>
              </a:ext>
            </a:extLst>
          </p:cNvPr>
          <p:cNvGrpSpPr/>
          <p:nvPr/>
        </p:nvGrpSpPr>
        <p:grpSpPr>
          <a:xfrm>
            <a:off x="157122" y="1536635"/>
            <a:ext cx="11877755" cy="1271669"/>
            <a:chOff x="157122" y="1655293"/>
            <a:chExt cx="11877755" cy="1645537"/>
          </a:xfrm>
        </p:grpSpPr>
        <p:sp>
          <p:nvSpPr>
            <p:cNvPr id="6" name="Rectangle 5">
              <a:extLst>
                <a:ext uri="{FF2B5EF4-FFF2-40B4-BE49-F238E27FC236}">
                  <a16:creationId xmlns:a16="http://schemas.microsoft.com/office/drawing/2014/main" id="{A39D54F4-7442-84CB-BCA3-8E149273ABD9}"/>
                </a:ext>
              </a:extLst>
            </p:cNvPr>
            <p:cNvSpPr/>
            <p:nvPr/>
          </p:nvSpPr>
          <p:spPr>
            <a:xfrm>
              <a:off x="594249" y="1660998"/>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7" name="Rectangle 16">
              <a:extLst>
                <a:ext uri="{FF2B5EF4-FFF2-40B4-BE49-F238E27FC236}">
                  <a16:creationId xmlns:a16="http://schemas.microsoft.com/office/drawing/2014/main" id="{EE070D13-BA85-2FA0-2128-7C3780D88321}"/>
                </a:ext>
              </a:extLst>
            </p:cNvPr>
            <p:cNvSpPr>
              <a:spLocks/>
            </p:cNvSpPr>
            <p:nvPr/>
          </p:nvSpPr>
          <p:spPr>
            <a:xfrm>
              <a:off x="157122" y="1655293"/>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grpSp>
        <p:nvGrpSpPr>
          <p:cNvPr id="26" name="Group 25">
            <a:extLst>
              <a:ext uri="{FF2B5EF4-FFF2-40B4-BE49-F238E27FC236}">
                <a16:creationId xmlns:a16="http://schemas.microsoft.com/office/drawing/2014/main" id="{F2F155AB-1EAF-7DDC-6BAA-96CA19A4FD13}"/>
              </a:ext>
            </a:extLst>
          </p:cNvPr>
          <p:cNvGrpSpPr/>
          <p:nvPr/>
        </p:nvGrpSpPr>
        <p:grpSpPr>
          <a:xfrm>
            <a:off x="157122" y="2803010"/>
            <a:ext cx="11877755" cy="1271669"/>
            <a:chOff x="157122" y="3296717"/>
            <a:chExt cx="11877755" cy="1645537"/>
          </a:xfrm>
        </p:grpSpPr>
        <p:sp>
          <p:nvSpPr>
            <p:cNvPr id="11" name="Rectangle 10">
              <a:extLst>
                <a:ext uri="{FF2B5EF4-FFF2-40B4-BE49-F238E27FC236}">
                  <a16:creationId xmlns:a16="http://schemas.microsoft.com/office/drawing/2014/main" id="{8546E557-5ED1-B050-7C0C-5D03F84E23B4}"/>
                </a:ext>
              </a:extLst>
            </p:cNvPr>
            <p:cNvSpPr/>
            <p:nvPr/>
          </p:nvSpPr>
          <p:spPr>
            <a:xfrm>
              <a:off x="594249" y="3302422"/>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5336443C-4301-0276-F164-95356C8104DD}"/>
                </a:ext>
              </a:extLst>
            </p:cNvPr>
            <p:cNvSpPr>
              <a:spLocks/>
            </p:cNvSpPr>
            <p:nvPr/>
          </p:nvSpPr>
          <p:spPr>
            <a:xfrm>
              <a:off x="157122" y="3296717"/>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sp>
        <p:nvSpPr>
          <p:cNvPr id="82" name="Flowchart: Process 81">
            <a:extLst>
              <a:ext uri="{FF2B5EF4-FFF2-40B4-BE49-F238E27FC236}">
                <a16:creationId xmlns:a16="http://schemas.microsoft.com/office/drawing/2014/main" id="{D90503FE-7E01-CA5E-DA44-317BEC0B77B2}"/>
              </a:ext>
            </a:extLst>
          </p:cNvPr>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Share supporting documents for to process with </a:t>
            </a:r>
            <a:r>
              <a:rPr kumimoji="0" lang="en-US" sz="700" b="0" i="0" u="none" strike="noStrike" kern="1200" cap="none" spc="0" normalizeH="0" baseline="0" noProof="0" err="1">
                <a:ln>
                  <a:noFill/>
                </a:ln>
                <a:solidFill>
                  <a:srgbClr val="000000"/>
                </a:solidFill>
                <a:effectLst/>
                <a:uLnTx/>
                <a:uFillTx/>
                <a:latin typeface="Montserrat"/>
                <a:ea typeface="+mn-ea"/>
                <a:cs typeface="Montserrat-Arabic"/>
              </a:rPr>
              <a:t>Tasama</a:t>
            </a:r>
            <a:endParaRPr kumimoji="0" lang="en-US" sz="7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85" name="Flowchart: Terminator 84">
            <a:extLst>
              <a:ext uri="{FF2B5EF4-FFF2-40B4-BE49-F238E27FC236}">
                <a16:creationId xmlns:a16="http://schemas.microsoft.com/office/drawing/2014/main" id="{E0F348E7-A278-9027-F6B6-E688E466A0AA}"/>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10199C96-3E9F-5E9D-5C5F-6990F7F92BCD}"/>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1" name="Flowchart: Process 90">
            <a:extLst>
              <a:ext uri="{FF2B5EF4-FFF2-40B4-BE49-F238E27FC236}">
                <a16:creationId xmlns:a16="http://schemas.microsoft.com/office/drawing/2014/main" id="{426A18FF-7235-280D-3CA1-898E35EA884B}"/>
              </a:ext>
            </a:extLst>
          </p:cNvPr>
          <p:cNvSpPr/>
          <p:nvPr/>
        </p:nvSpPr>
        <p:spPr>
          <a:xfrm>
            <a:off x="1399094" y="313900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Receive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supporting documents and emails from Finance Manager/Accounting Manager</a:t>
            </a:r>
          </a:p>
        </p:txBody>
      </p:sp>
      <p:sp>
        <p:nvSpPr>
          <p:cNvPr id="99" name="Flowchart: Process 98">
            <a:extLst>
              <a:ext uri="{FF2B5EF4-FFF2-40B4-BE49-F238E27FC236}">
                <a16:creationId xmlns:a16="http://schemas.microsoft.com/office/drawing/2014/main" id="{D6D98B04-E029-DFB3-5D1A-C6CAF261CC6B}"/>
              </a:ext>
            </a:extLst>
          </p:cNvPr>
          <p:cNvSpPr/>
          <p:nvPr/>
        </p:nvSpPr>
        <p:spPr>
          <a:xfrm>
            <a:off x="4627208" y="3139008"/>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Create/ Adjust Journal</a:t>
            </a:r>
          </a:p>
        </p:txBody>
      </p:sp>
      <p:sp>
        <p:nvSpPr>
          <p:cNvPr id="100" name="Flowchart: Decision 99">
            <a:extLst>
              <a:ext uri="{FF2B5EF4-FFF2-40B4-BE49-F238E27FC236}">
                <a16:creationId xmlns:a16="http://schemas.microsoft.com/office/drawing/2014/main" id="{860B8637-3FA5-1564-0BA5-965A58FEF7B7}"/>
              </a:ext>
            </a:extLst>
          </p:cNvPr>
          <p:cNvSpPr>
            <a:spLocks/>
          </p:cNvSpPr>
          <p:nvPr/>
        </p:nvSpPr>
        <p:spPr>
          <a:xfrm>
            <a:off x="3106818" y="3152752"/>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 line with the company policy?</a:t>
            </a:r>
          </a:p>
        </p:txBody>
      </p:sp>
      <p:sp>
        <p:nvSpPr>
          <p:cNvPr id="102" name="TextBox 101">
            <a:extLst>
              <a:ext uri="{FF2B5EF4-FFF2-40B4-BE49-F238E27FC236}">
                <a16:creationId xmlns:a16="http://schemas.microsoft.com/office/drawing/2014/main" id="{847FD5F2-88BA-F2CB-171C-9FEE036F3D1E}"/>
              </a:ext>
            </a:extLst>
          </p:cNvPr>
          <p:cNvSpPr txBox="1"/>
          <p:nvPr/>
        </p:nvSpPr>
        <p:spPr>
          <a:xfrm>
            <a:off x="4083424" y="315185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01" name="TextBox 100">
            <a:extLst>
              <a:ext uri="{FF2B5EF4-FFF2-40B4-BE49-F238E27FC236}">
                <a16:creationId xmlns:a16="http://schemas.microsoft.com/office/drawing/2014/main" id="{5CEBAFFA-8538-82DF-E3BE-31E61D7B6664}"/>
              </a:ext>
            </a:extLst>
          </p:cNvPr>
          <p:cNvSpPr txBox="1"/>
          <p:nvPr/>
        </p:nvSpPr>
        <p:spPr>
          <a:xfrm>
            <a:off x="3381260" y="3703978"/>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cxnSp>
        <p:nvCxnSpPr>
          <p:cNvPr id="122" name="Straight Arrow Connector 121">
            <a:extLst>
              <a:ext uri="{FF2B5EF4-FFF2-40B4-BE49-F238E27FC236}">
                <a16:creationId xmlns:a16="http://schemas.microsoft.com/office/drawing/2014/main" id="{B63AB386-320C-A024-69BF-8ED8949E709D}"/>
              </a:ext>
            </a:extLst>
          </p:cNvPr>
          <p:cNvCxnSpPr>
            <a:cxnSpLocks/>
            <a:stCxn id="82" idx="2"/>
            <a:endCxn id="91" idx="0"/>
          </p:cNvCxnSpPr>
          <p:nvPr/>
        </p:nvCxnSpPr>
        <p:spPr>
          <a:xfrm flipH="1">
            <a:off x="2144104" y="2441658"/>
            <a:ext cx="1" cy="69735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5" name="Flowchart: Process 4">
            <a:extLst>
              <a:ext uri="{FF2B5EF4-FFF2-40B4-BE49-F238E27FC236}">
                <a16:creationId xmlns:a16="http://schemas.microsoft.com/office/drawing/2014/main" id="{B4A92A26-44D5-FB3F-7D9D-652A4058FC56}"/>
              </a:ext>
            </a:extLst>
          </p:cNvPr>
          <p:cNvSpPr/>
          <p:nvPr/>
        </p:nvSpPr>
        <p:spPr>
          <a:xfrm>
            <a:off x="3195709" y="440538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issue and share update with Accountant</a:t>
            </a:r>
          </a:p>
        </p:txBody>
      </p:sp>
      <p:sp>
        <p:nvSpPr>
          <p:cNvPr id="19" name="Flowchart: Decision 18">
            <a:extLst>
              <a:ext uri="{FF2B5EF4-FFF2-40B4-BE49-F238E27FC236}">
                <a16:creationId xmlns:a16="http://schemas.microsoft.com/office/drawing/2014/main" id="{E3A9DD67-9A65-60CC-487C-D20E2D45C63C}"/>
              </a:ext>
            </a:extLst>
          </p:cNvPr>
          <p:cNvSpPr>
            <a:spLocks/>
          </p:cNvSpPr>
          <p:nvPr/>
        </p:nvSpPr>
        <p:spPr>
          <a:xfrm>
            <a:off x="5806898" y="441912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20" name="TextBox 19">
            <a:extLst>
              <a:ext uri="{FF2B5EF4-FFF2-40B4-BE49-F238E27FC236}">
                <a16:creationId xmlns:a16="http://schemas.microsoft.com/office/drawing/2014/main" id="{5A7ECD9A-4F3C-0D00-3B79-8127D94DCA96}"/>
              </a:ext>
            </a:extLst>
          </p:cNvPr>
          <p:cNvSpPr txBox="1"/>
          <p:nvPr/>
        </p:nvSpPr>
        <p:spPr>
          <a:xfrm>
            <a:off x="6458240" y="421817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1" name="TextBox 20">
            <a:extLst>
              <a:ext uri="{FF2B5EF4-FFF2-40B4-BE49-F238E27FC236}">
                <a16:creationId xmlns:a16="http://schemas.microsoft.com/office/drawing/2014/main" id="{107B23AC-4AAF-C6EF-EAA3-4DEABD671C0F}"/>
              </a:ext>
            </a:extLst>
          </p:cNvPr>
          <p:cNvSpPr txBox="1"/>
          <p:nvPr/>
        </p:nvSpPr>
        <p:spPr>
          <a:xfrm>
            <a:off x="6813002" y="4883057"/>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2" name="Flowchart: Process 21">
            <a:extLst>
              <a:ext uri="{FF2B5EF4-FFF2-40B4-BE49-F238E27FC236}">
                <a16:creationId xmlns:a16="http://schemas.microsoft.com/office/drawing/2014/main" id="{0D87E159-A423-F8C3-BB61-2C89B1DCB570}"/>
              </a:ext>
            </a:extLst>
          </p:cNvPr>
          <p:cNvSpPr/>
          <p:nvPr/>
        </p:nvSpPr>
        <p:spPr>
          <a:xfrm>
            <a:off x="7327288" y="440538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Post Journal</a:t>
            </a:r>
          </a:p>
        </p:txBody>
      </p:sp>
      <p:sp>
        <p:nvSpPr>
          <p:cNvPr id="24" name="Flowchart: Terminator 23">
            <a:extLst>
              <a:ext uri="{FF2B5EF4-FFF2-40B4-BE49-F238E27FC236}">
                <a16:creationId xmlns:a16="http://schemas.microsoft.com/office/drawing/2014/main" id="{55A7C8F7-B675-2582-8A9C-54DB548A1026}"/>
              </a:ext>
            </a:extLst>
          </p:cNvPr>
          <p:cNvSpPr/>
          <p:nvPr/>
        </p:nvSpPr>
        <p:spPr>
          <a:xfrm>
            <a:off x="8809368" y="4611239"/>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5" name="Straight Arrow Connector 24">
            <a:extLst>
              <a:ext uri="{FF2B5EF4-FFF2-40B4-BE49-F238E27FC236}">
                <a16:creationId xmlns:a16="http://schemas.microsoft.com/office/drawing/2014/main" id="{91E92B48-58C0-2ECB-DF0B-388A8940FA57}"/>
              </a:ext>
            </a:extLst>
          </p:cNvPr>
          <p:cNvCxnSpPr>
            <a:cxnSpLocks/>
            <a:stCxn id="91" idx="3"/>
            <a:endCxn id="100" idx="1"/>
          </p:cNvCxnSpPr>
          <p:nvPr/>
        </p:nvCxnSpPr>
        <p:spPr>
          <a:xfrm>
            <a:off x="2889114" y="3438844"/>
            <a:ext cx="217704"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5F64D3A-0D4F-4327-4FAB-5ED7C97F8A6B}"/>
              </a:ext>
            </a:extLst>
          </p:cNvPr>
          <p:cNvCxnSpPr>
            <a:cxnSpLocks/>
            <a:stCxn id="100" idx="2"/>
            <a:endCxn id="5" idx="0"/>
          </p:cNvCxnSpPr>
          <p:nvPr/>
        </p:nvCxnSpPr>
        <p:spPr>
          <a:xfrm>
            <a:off x="3758161" y="3724935"/>
            <a:ext cx="0" cy="680448"/>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7B5A847-51FF-3729-9E26-15B648E13885}"/>
              </a:ext>
            </a:extLst>
          </p:cNvPr>
          <p:cNvCxnSpPr>
            <a:cxnSpLocks/>
            <a:stCxn id="100" idx="3"/>
            <a:endCxn id="99" idx="1"/>
          </p:cNvCxnSpPr>
          <p:nvPr/>
        </p:nvCxnSpPr>
        <p:spPr>
          <a:xfrm>
            <a:off x="4409503" y="3438844"/>
            <a:ext cx="217705"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01004F16-F54C-4E88-7529-31A0261AA7C3}"/>
              </a:ext>
            </a:extLst>
          </p:cNvPr>
          <p:cNvCxnSpPr>
            <a:cxnSpLocks/>
            <a:stCxn id="19" idx="3"/>
            <a:endCxn id="22" idx="1"/>
          </p:cNvCxnSpPr>
          <p:nvPr/>
        </p:nvCxnSpPr>
        <p:spPr>
          <a:xfrm flipV="1">
            <a:off x="7109583" y="4705219"/>
            <a:ext cx="217705"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537694DB-E549-C45B-90BF-ACF139796BF0}"/>
              </a:ext>
            </a:extLst>
          </p:cNvPr>
          <p:cNvCxnSpPr>
            <a:cxnSpLocks/>
            <a:stCxn id="22" idx="3"/>
            <a:endCxn id="24" idx="1"/>
          </p:cNvCxnSpPr>
          <p:nvPr/>
        </p:nvCxnSpPr>
        <p:spPr>
          <a:xfrm>
            <a:off x="8452191" y="4705219"/>
            <a:ext cx="35717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95558104-F010-EE13-CBF2-C40CB266C055}"/>
              </a:ext>
            </a:extLst>
          </p:cNvPr>
          <p:cNvCxnSpPr>
            <a:cxnSpLocks/>
            <a:stCxn id="5" idx="1"/>
            <a:endCxn id="91" idx="2"/>
          </p:cNvCxnSpPr>
          <p:nvPr/>
        </p:nvCxnSpPr>
        <p:spPr>
          <a:xfrm rot="10800000">
            <a:off x="2144105" y="3738681"/>
            <a:ext cx="1051605" cy="96653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C436E6B5-61B3-9F1F-C64C-7BF0CB2E1B5A}"/>
              </a:ext>
            </a:extLst>
          </p:cNvPr>
          <p:cNvCxnSpPr>
            <a:cxnSpLocks/>
            <a:stCxn id="99" idx="2"/>
            <a:endCxn id="19" idx="1"/>
          </p:cNvCxnSpPr>
          <p:nvPr/>
        </p:nvCxnSpPr>
        <p:spPr>
          <a:xfrm rot="16200000" flipH="1">
            <a:off x="5015009" y="3913331"/>
            <a:ext cx="966540" cy="617238"/>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8371352B-A41C-63F9-A266-D82A3A3AA78B}"/>
              </a:ext>
            </a:extLst>
          </p:cNvPr>
          <p:cNvCxnSpPr>
            <a:cxnSpLocks/>
            <a:stCxn id="19" idx="0"/>
            <a:endCxn id="99" idx="0"/>
          </p:cNvCxnSpPr>
          <p:nvPr/>
        </p:nvCxnSpPr>
        <p:spPr>
          <a:xfrm rot="16200000" flipV="1">
            <a:off x="5183891" y="3144777"/>
            <a:ext cx="1280120" cy="1268581"/>
          </a:xfrm>
          <a:prstGeom prst="bentConnector3">
            <a:avLst>
              <a:gd name="adj1" fmla="val 117858"/>
            </a:avLst>
          </a:prstGeom>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44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1BF0-513E-E927-BB2C-A960A347C31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A89E505-22E2-7539-1FB0-1FF3B977979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7A89E505-22E2-7539-1FB0-1FF3B97797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9C23B6-F6BF-3BCD-23EB-CE923953F7C7}"/>
              </a:ext>
            </a:extLst>
          </p:cNvPr>
          <p:cNvSpPr>
            <a:spLocks noGrp="1"/>
          </p:cNvSpPr>
          <p:nvPr>
            <p:ph type="title"/>
          </p:nvPr>
        </p:nvSpPr>
        <p:spPr>
          <a:xfrm>
            <a:off x="488632" y="377363"/>
            <a:ext cx="9358101" cy="502766"/>
          </a:xfrm>
        </p:spPr>
        <p:txBody>
          <a:bodyPr vert="horz"/>
          <a:lstStyle/>
          <a:p>
            <a:r>
              <a:rPr lang="en-US"/>
              <a:t>Finance &amp; Accounting Processes – General Ledger</a:t>
            </a:r>
          </a:p>
        </p:txBody>
      </p:sp>
      <p:sp>
        <p:nvSpPr>
          <p:cNvPr id="195" name="Title 2">
            <a:extLst>
              <a:ext uri="{FF2B5EF4-FFF2-40B4-BE49-F238E27FC236}">
                <a16:creationId xmlns:a16="http://schemas.microsoft.com/office/drawing/2014/main" id="{F1C32F98-7421-E6D4-DE8D-DE194C372E1C}"/>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AA04A26A-7124-07E6-82B6-2AB2EFF8BDF7}"/>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FAP_100_002– Journal Entry Creation for Accounts Payable</a:t>
            </a:r>
          </a:p>
        </p:txBody>
      </p:sp>
      <p:grpSp>
        <p:nvGrpSpPr>
          <p:cNvPr id="27" name="Group 26">
            <a:extLst>
              <a:ext uri="{FF2B5EF4-FFF2-40B4-BE49-F238E27FC236}">
                <a16:creationId xmlns:a16="http://schemas.microsoft.com/office/drawing/2014/main" id="{A80AF03B-702C-7DEC-3084-EB1829CAC97E}"/>
              </a:ext>
            </a:extLst>
          </p:cNvPr>
          <p:cNvGrpSpPr/>
          <p:nvPr/>
        </p:nvGrpSpPr>
        <p:grpSpPr>
          <a:xfrm>
            <a:off x="157122" y="4069385"/>
            <a:ext cx="11877755" cy="1271669"/>
            <a:chOff x="157122" y="4938142"/>
            <a:chExt cx="11877755" cy="1645537"/>
          </a:xfrm>
        </p:grpSpPr>
        <p:sp>
          <p:nvSpPr>
            <p:cNvPr id="9" name="Rectangle 8">
              <a:extLst>
                <a:ext uri="{FF2B5EF4-FFF2-40B4-BE49-F238E27FC236}">
                  <a16:creationId xmlns:a16="http://schemas.microsoft.com/office/drawing/2014/main" id="{F9ED0F6F-927F-9088-80A7-0A84EE96ED72}"/>
                </a:ext>
              </a:extLst>
            </p:cNvPr>
            <p:cNvSpPr>
              <a:spLocks/>
            </p:cNvSpPr>
            <p:nvPr/>
          </p:nvSpPr>
          <p:spPr>
            <a:xfrm>
              <a:off x="157122" y="4938142"/>
              <a:ext cx="437127"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Procurement Department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B078C552-0ECC-0B85-BA16-B4A934CC18CA}"/>
                </a:ext>
              </a:extLst>
            </p:cNvPr>
            <p:cNvSpPr>
              <a:spLocks/>
            </p:cNvSpPr>
            <p:nvPr/>
          </p:nvSpPr>
          <p:spPr>
            <a:xfrm>
              <a:off x="594249" y="4938143"/>
              <a:ext cx="11440628"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grpSp>
      <p:grpSp>
        <p:nvGrpSpPr>
          <p:cNvPr id="23" name="Group 22">
            <a:extLst>
              <a:ext uri="{FF2B5EF4-FFF2-40B4-BE49-F238E27FC236}">
                <a16:creationId xmlns:a16="http://schemas.microsoft.com/office/drawing/2014/main" id="{763095AA-0084-21DC-B22B-4EC597658A7F}"/>
              </a:ext>
            </a:extLst>
          </p:cNvPr>
          <p:cNvGrpSpPr/>
          <p:nvPr/>
        </p:nvGrpSpPr>
        <p:grpSpPr>
          <a:xfrm>
            <a:off x="157122" y="1536635"/>
            <a:ext cx="11877755" cy="1271669"/>
            <a:chOff x="157122" y="1655293"/>
            <a:chExt cx="11877755" cy="1645537"/>
          </a:xfrm>
        </p:grpSpPr>
        <p:sp>
          <p:nvSpPr>
            <p:cNvPr id="6" name="Rectangle 5">
              <a:extLst>
                <a:ext uri="{FF2B5EF4-FFF2-40B4-BE49-F238E27FC236}">
                  <a16:creationId xmlns:a16="http://schemas.microsoft.com/office/drawing/2014/main" id="{B1D54C82-99D3-0F57-6639-BE69E0E6B70D}"/>
                </a:ext>
              </a:extLst>
            </p:cNvPr>
            <p:cNvSpPr/>
            <p:nvPr/>
          </p:nvSpPr>
          <p:spPr>
            <a:xfrm>
              <a:off x="594249" y="1660998"/>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7" name="Rectangle 16">
              <a:extLst>
                <a:ext uri="{FF2B5EF4-FFF2-40B4-BE49-F238E27FC236}">
                  <a16:creationId xmlns:a16="http://schemas.microsoft.com/office/drawing/2014/main" id="{A1C98CC4-E52A-F1EB-90DC-26159E90C1BD}"/>
                </a:ext>
              </a:extLst>
            </p:cNvPr>
            <p:cNvSpPr>
              <a:spLocks/>
            </p:cNvSpPr>
            <p:nvPr/>
          </p:nvSpPr>
          <p:spPr>
            <a:xfrm>
              <a:off x="157122" y="1655293"/>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grpSp>
        <p:nvGrpSpPr>
          <p:cNvPr id="26" name="Group 25">
            <a:extLst>
              <a:ext uri="{FF2B5EF4-FFF2-40B4-BE49-F238E27FC236}">
                <a16:creationId xmlns:a16="http://schemas.microsoft.com/office/drawing/2014/main" id="{E4E26A0B-C911-AD95-E5A0-14EE676505E1}"/>
              </a:ext>
            </a:extLst>
          </p:cNvPr>
          <p:cNvGrpSpPr/>
          <p:nvPr/>
        </p:nvGrpSpPr>
        <p:grpSpPr>
          <a:xfrm>
            <a:off x="157122" y="2803010"/>
            <a:ext cx="11877755" cy="1271669"/>
            <a:chOff x="157122" y="3296717"/>
            <a:chExt cx="11877755" cy="1645537"/>
          </a:xfrm>
        </p:grpSpPr>
        <p:sp>
          <p:nvSpPr>
            <p:cNvPr id="11" name="Rectangle 10">
              <a:extLst>
                <a:ext uri="{FF2B5EF4-FFF2-40B4-BE49-F238E27FC236}">
                  <a16:creationId xmlns:a16="http://schemas.microsoft.com/office/drawing/2014/main" id="{B430F450-D608-66E2-D540-977448AAE974}"/>
                </a:ext>
              </a:extLst>
            </p:cNvPr>
            <p:cNvSpPr/>
            <p:nvPr/>
          </p:nvSpPr>
          <p:spPr>
            <a:xfrm>
              <a:off x="594249" y="3302422"/>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1821FC54-74DF-57F5-B9CC-E50C97FDB4FA}"/>
                </a:ext>
              </a:extLst>
            </p:cNvPr>
            <p:cNvSpPr>
              <a:spLocks/>
            </p:cNvSpPr>
            <p:nvPr/>
          </p:nvSpPr>
          <p:spPr>
            <a:xfrm>
              <a:off x="157122" y="3296717"/>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grpSp>
        <p:nvGrpSpPr>
          <p:cNvPr id="13" name="Group 12">
            <a:extLst>
              <a:ext uri="{FF2B5EF4-FFF2-40B4-BE49-F238E27FC236}">
                <a16:creationId xmlns:a16="http://schemas.microsoft.com/office/drawing/2014/main" id="{796EA91C-D0E6-15C7-A782-F1B102EC69B8}"/>
              </a:ext>
            </a:extLst>
          </p:cNvPr>
          <p:cNvGrpSpPr/>
          <p:nvPr/>
        </p:nvGrpSpPr>
        <p:grpSpPr>
          <a:xfrm>
            <a:off x="157122" y="5335761"/>
            <a:ext cx="11877755" cy="1271669"/>
            <a:chOff x="157122" y="4938142"/>
            <a:chExt cx="11877755" cy="1645537"/>
          </a:xfrm>
        </p:grpSpPr>
        <p:sp>
          <p:nvSpPr>
            <p:cNvPr id="14" name="Rectangle 13">
              <a:extLst>
                <a:ext uri="{FF2B5EF4-FFF2-40B4-BE49-F238E27FC236}">
                  <a16:creationId xmlns:a16="http://schemas.microsoft.com/office/drawing/2014/main" id="{F012330D-44EB-E91C-29CC-69773316BA60}"/>
                </a:ext>
              </a:extLst>
            </p:cNvPr>
            <p:cNvSpPr>
              <a:spLocks/>
            </p:cNvSpPr>
            <p:nvPr/>
          </p:nvSpPr>
          <p:spPr>
            <a:xfrm>
              <a:off x="157122" y="4938142"/>
              <a:ext cx="437127"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5" name="Rectangle 14">
              <a:extLst>
                <a:ext uri="{FF2B5EF4-FFF2-40B4-BE49-F238E27FC236}">
                  <a16:creationId xmlns:a16="http://schemas.microsoft.com/office/drawing/2014/main" id="{FDDDBFD6-062A-2291-0FD0-648F08E72B08}"/>
                </a:ext>
              </a:extLst>
            </p:cNvPr>
            <p:cNvSpPr>
              <a:spLocks/>
            </p:cNvSpPr>
            <p:nvPr/>
          </p:nvSpPr>
          <p:spPr>
            <a:xfrm>
              <a:off x="594249" y="4938143"/>
              <a:ext cx="11440628"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grpSp>
      <p:sp>
        <p:nvSpPr>
          <p:cNvPr id="82" name="Flowchart: Process 81">
            <a:extLst>
              <a:ext uri="{FF2B5EF4-FFF2-40B4-BE49-F238E27FC236}">
                <a16:creationId xmlns:a16="http://schemas.microsoft.com/office/drawing/2014/main" id="{AA7B80CF-B4CD-4B30-FFA0-BE7B39B61B8B}"/>
              </a:ext>
            </a:extLst>
          </p:cNvPr>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Share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Invoices for processing with </a:t>
            </a:r>
            <a:r>
              <a:rPr kumimoji="0" lang="en-US" sz="700" b="0" i="0" u="none" strike="noStrike" kern="1200" cap="none" spc="0" normalizeH="0" baseline="0" noProof="0" err="1">
                <a:ln>
                  <a:noFill/>
                </a:ln>
                <a:solidFill>
                  <a:srgbClr val="000000"/>
                </a:solidFill>
                <a:effectLst/>
                <a:uLnTx/>
                <a:uFillTx/>
                <a:latin typeface="Montserrat"/>
                <a:ea typeface="+mn-ea"/>
                <a:cs typeface="Montserrat-Arabic"/>
              </a:rPr>
              <a:t>Tasama</a:t>
            </a:r>
            <a:endParaRPr kumimoji="0" lang="en-US" sz="700" b="0" i="0" u="none" strike="noStrike" kern="1200" cap="none" spc="0" normalizeH="0" baseline="0" noProof="0">
              <a:ln>
                <a:noFill/>
              </a:ln>
              <a:solidFill>
                <a:srgbClr val="000000"/>
              </a:solidFill>
              <a:effectLst/>
              <a:uLnTx/>
              <a:uFillTx/>
              <a:latin typeface="Montserrat"/>
              <a:ea typeface="+mn-ea"/>
              <a:cs typeface="Montserrat-Arabic"/>
            </a:endParaRPr>
          </a:p>
        </p:txBody>
      </p:sp>
      <p:sp>
        <p:nvSpPr>
          <p:cNvPr id="85" name="Flowchart: Terminator 84">
            <a:extLst>
              <a:ext uri="{FF2B5EF4-FFF2-40B4-BE49-F238E27FC236}">
                <a16:creationId xmlns:a16="http://schemas.microsoft.com/office/drawing/2014/main" id="{0B7F13F9-F1A5-8702-19AF-698E01552574}"/>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E0385E86-9812-BFD7-F030-AB42385867FA}"/>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1" name="Flowchart: Process 90">
            <a:extLst>
              <a:ext uri="{FF2B5EF4-FFF2-40B4-BE49-F238E27FC236}">
                <a16:creationId xmlns:a16="http://schemas.microsoft.com/office/drawing/2014/main" id="{B7BC2F67-236D-0291-3277-836F90BE9DBE}"/>
              </a:ext>
            </a:extLst>
          </p:cNvPr>
          <p:cNvSpPr/>
          <p:nvPr/>
        </p:nvSpPr>
        <p:spPr>
          <a:xfrm>
            <a:off x="1399094" y="313900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Receive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supporting documents and emails from Finance Manager/Vendor directly on finance domain email</a:t>
            </a:r>
          </a:p>
        </p:txBody>
      </p:sp>
      <p:cxnSp>
        <p:nvCxnSpPr>
          <p:cNvPr id="122" name="Straight Arrow Connector 121">
            <a:extLst>
              <a:ext uri="{FF2B5EF4-FFF2-40B4-BE49-F238E27FC236}">
                <a16:creationId xmlns:a16="http://schemas.microsoft.com/office/drawing/2014/main" id="{46C49385-3325-A299-8A54-9206CA03492A}"/>
              </a:ext>
            </a:extLst>
          </p:cNvPr>
          <p:cNvCxnSpPr>
            <a:cxnSpLocks/>
            <a:stCxn id="82" idx="2"/>
            <a:endCxn id="91" idx="0"/>
          </p:cNvCxnSpPr>
          <p:nvPr/>
        </p:nvCxnSpPr>
        <p:spPr>
          <a:xfrm flipH="1">
            <a:off x="2144104" y="2441658"/>
            <a:ext cx="1" cy="69735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22" name="Flowchart: Decision 21">
            <a:extLst>
              <a:ext uri="{FF2B5EF4-FFF2-40B4-BE49-F238E27FC236}">
                <a16:creationId xmlns:a16="http://schemas.microsoft.com/office/drawing/2014/main" id="{3D5A24A4-691C-6657-CB1C-25608C08D8A6}"/>
              </a:ext>
            </a:extLst>
          </p:cNvPr>
          <p:cNvSpPr>
            <a:spLocks/>
          </p:cNvSpPr>
          <p:nvPr/>
        </p:nvSpPr>
        <p:spPr>
          <a:xfrm>
            <a:off x="3106818" y="3152752"/>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Delivery Approval/COC Signed?</a:t>
            </a:r>
          </a:p>
        </p:txBody>
      </p:sp>
      <p:sp>
        <p:nvSpPr>
          <p:cNvPr id="24" name="TextBox 23">
            <a:extLst>
              <a:ext uri="{FF2B5EF4-FFF2-40B4-BE49-F238E27FC236}">
                <a16:creationId xmlns:a16="http://schemas.microsoft.com/office/drawing/2014/main" id="{446F5485-AF99-5E57-3AE4-AF733BF3E0A3}"/>
              </a:ext>
            </a:extLst>
          </p:cNvPr>
          <p:cNvSpPr txBox="1"/>
          <p:nvPr/>
        </p:nvSpPr>
        <p:spPr>
          <a:xfrm>
            <a:off x="4083424" y="315185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5" name="TextBox 24">
            <a:extLst>
              <a:ext uri="{FF2B5EF4-FFF2-40B4-BE49-F238E27FC236}">
                <a16:creationId xmlns:a16="http://schemas.microsoft.com/office/drawing/2014/main" id="{B9D5B5E5-F672-BC27-5557-8D2943DEA119}"/>
              </a:ext>
            </a:extLst>
          </p:cNvPr>
          <p:cNvSpPr txBox="1"/>
          <p:nvPr/>
        </p:nvSpPr>
        <p:spPr>
          <a:xfrm>
            <a:off x="3381260" y="3703978"/>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8" name="Flowchart: Process 27">
            <a:extLst>
              <a:ext uri="{FF2B5EF4-FFF2-40B4-BE49-F238E27FC236}">
                <a16:creationId xmlns:a16="http://schemas.microsoft.com/office/drawing/2014/main" id="{C7153A53-20CE-98EB-CCF0-BC4E0318796A}"/>
              </a:ext>
            </a:extLst>
          </p:cNvPr>
          <p:cNvSpPr/>
          <p:nvPr/>
        </p:nvSpPr>
        <p:spPr>
          <a:xfrm>
            <a:off x="4627208" y="3139008"/>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Create/ Adjust Journal</a:t>
            </a:r>
          </a:p>
        </p:txBody>
      </p:sp>
      <p:sp>
        <p:nvSpPr>
          <p:cNvPr id="29" name="Flowchart: Decision 28">
            <a:extLst>
              <a:ext uri="{FF2B5EF4-FFF2-40B4-BE49-F238E27FC236}">
                <a16:creationId xmlns:a16="http://schemas.microsoft.com/office/drawing/2014/main" id="{2389A3AA-5017-58B4-F348-4E7798F3B619}"/>
              </a:ext>
            </a:extLst>
          </p:cNvPr>
          <p:cNvSpPr>
            <a:spLocks/>
          </p:cNvSpPr>
          <p:nvPr/>
        </p:nvSpPr>
        <p:spPr>
          <a:xfrm>
            <a:off x="5806898" y="572296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30" name="TextBox 29">
            <a:extLst>
              <a:ext uri="{FF2B5EF4-FFF2-40B4-BE49-F238E27FC236}">
                <a16:creationId xmlns:a16="http://schemas.microsoft.com/office/drawing/2014/main" id="{196A4668-F1C1-3786-0822-C9D1E57822CC}"/>
              </a:ext>
            </a:extLst>
          </p:cNvPr>
          <p:cNvSpPr txBox="1"/>
          <p:nvPr/>
        </p:nvSpPr>
        <p:spPr>
          <a:xfrm>
            <a:off x="6458240" y="552201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31" name="TextBox 30">
            <a:extLst>
              <a:ext uri="{FF2B5EF4-FFF2-40B4-BE49-F238E27FC236}">
                <a16:creationId xmlns:a16="http://schemas.microsoft.com/office/drawing/2014/main" id="{40A9C217-062F-2AEA-ABA6-56BB88DF532F}"/>
              </a:ext>
            </a:extLst>
          </p:cNvPr>
          <p:cNvSpPr txBox="1"/>
          <p:nvPr/>
        </p:nvSpPr>
        <p:spPr>
          <a:xfrm>
            <a:off x="6813002" y="6186897"/>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32" name="Flowchart: Process 31">
            <a:extLst>
              <a:ext uri="{FF2B5EF4-FFF2-40B4-BE49-F238E27FC236}">
                <a16:creationId xmlns:a16="http://schemas.microsoft.com/office/drawing/2014/main" id="{3B7807FE-EB69-5E5C-2E17-83499B8F16F5}"/>
              </a:ext>
            </a:extLst>
          </p:cNvPr>
          <p:cNvSpPr/>
          <p:nvPr/>
        </p:nvSpPr>
        <p:spPr>
          <a:xfrm>
            <a:off x="7327288" y="570922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Post Journal</a:t>
            </a:r>
          </a:p>
        </p:txBody>
      </p:sp>
      <p:sp>
        <p:nvSpPr>
          <p:cNvPr id="33" name="Flowchart: Terminator 32">
            <a:extLst>
              <a:ext uri="{FF2B5EF4-FFF2-40B4-BE49-F238E27FC236}">
                <a16:creationId xmlns:a16="http://schemas.microsoft.com/office/drawing/2014/main" id="{892E0977-2B13-C2E5-D796-9AF21EC39E4E}"/>
              </a:ext>
            </a:extLst>
          </p:cNvPr>
          <p:cNvSpPr/>
          <p:nvPr/>
        </p:nvSpPr>
        <p:spPr>
          <a:xfrm>
            <a:off x="8809368" y="5915079"/>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34" name="Straight Arrow Connector 33">
            <a:extLst>
              <a:ext uri="{FF2B5EF4-FFF2-40B4-BE49-F238E27FC236}">
                <a16:creationId xmlns:a16="http://schemas.microsoft.com/office/drawing/2014/main" id="{28601DB9-803C-40F6-CF21-FC00B1363F6F}"/>
              </a:ext>
            </a:extLst>
          </p:cNvPr>
          <p:cNvCxnSpPr>
            <a:cxnSpLocks/>
            <a:stCxn id="22" idx="3"/>
            <a:endCxn id="28" idx="1"/>
          </p:cNvCxnSpPr>
          <p:nvPr/>
        </p:nvCxnSpPr>
        <p:spPr>
          <a:xfrm>
            <a:off x="4409503" y="3438844"/>
            <a:ext cx="217705"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A5E14E9-4269-5CCA-9310-9C995DF86515}"/>
              </a:ext>
            </a:extLst>
          </p:cNvPr>
          <p:cNvCxnSpPr>
            <a:cxnSpLocks/>
            <a:stCxn id="29" idx="3"/>
            <a:endCxn id="32" idx="1"/>
          </p:cNvCxnSpPr>
          <p:nvPr/>
        </p:nvCxnSpPr>
        <p:spPr>
          <a:xfrm flipV="1">
            <a:off x="7109583" y="6009059"/>
            <a:ext cx="217705"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04BF1FE-B84E-9F86-63A9-27189AC12BB9}"/>
              </a:ext>
            </a:extLst>
          </p:cNvPr>
          <p:cNvCxnSpPr>
            <a:cxnSpLocks/>
            <a:stCxn id="32" idx="3"/>
            <a:endCxn id="33" idx="1"/>
          </p:cNvCxnSpPr>
          <p:nvPr/>
        </p:nvCxnSpPr>
        <p:spPr>
          <a:xfrm>
            <a:off x="8452191" y="6009059"/>
            <a:ext cx="35717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F0413AD2-ADBB-91CC-4AE8-D629DA51DBCC}"/>
              </a:ext>
            </a:extLst>
          </p:cNvPr>
          <p:cNvCxnSpPr>
            <a:cxnSpLocks/>
            <a:stCxn id="28" idx="2"/>
            <a:endCxn id="29" idx="1"/>
          </p:cNvCxnSpPr>
          <p:nvPr/>
        </p:nvCxnSpPr>
        <p:spPr>
          <a:xfrm rot="16200000" flipH="1">
            <a:off x="4363089" y="4565251"/>
            <a:ext cx="2270380" cy="617238"/>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B802916C-92DF-6595-FE33-C92CD95A073A}"/>
              </a:ext>
            </a:extLst>
          </p:cNvPr>
          <p:cNvCxnSpPr>
            <a:cxnSpLocks/>
            <a:stCxn id="29" idx="0"/>
            <a:endCxn id="28" idx="0"/>
          </p:cNvCxnSpPr>
          <p:nvPr/>
        </p:nvCxnSpPr>
        <p:spPr>
          <a:xfrm rot="16200000" flipV="1">
            <a:off x="4531971" y="3796697"/>
            <a:ext cx="2583960" cy="1268581"/>
          </a:xfrm>
          <a:prstGeom prst="bentConnector3">
            <a:avLst>
              <a:gd name="adj1" fmla="val 108847"/>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40" name="Flowchart: Process 39">
            <a:extLst>
              <a:ext uri="{FF2B5EF4-FFF2-40B4-BE49-F238E27FC236}">
                <a16:creationId xmlns:a16="http://schemas.microsoft.com/office/drawing/2014/main" id="{20825D95-938A-9592-E135-EAFE8EA0385C}"/>
              </a:ext>
            </a:extLst>
          </p:cNvPr>
          <p:cNvSpPr/>
          <p:nvPr/>
        </p:nvSpPr>
        <p:spPr>
          <a:xfrm>
            <a:off x="3195709" y="440538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COC issue and share update with Accountant</a:t>
            </a:r>
          </a:p>
        </p:txBody>
      </p:sp>
      <p:cxnSp>
        <p:nvCxnSpPr>
          <p:cNvPr id="41" name="Connector: Elbow 40">
            <a:extLst>
              <a:ext uri="{FF2B5EF4-FFF2-40B4-BE49-F238E27FC236}">
                <a16:creationId xmlns:a16="http://schemas.microsoft.com/office/drawing/2014/main" id="{2C27EB4D-2CAC-FF57-62A0-6EB4C02FD9F3}"/>
              </a:ext>
            </a:extLst>
          </p:cNvPr>
          <p:cNvCxnSpPr>
            <a:cxnSpLocks/>
            <a:stCxn id="40" idx="1"/>
          </p:cNvCxnSpPr>
          <p:nvPr/>
        </p:nvCxnSpPr>
        <p:spPr>
          <a:xfrm rot="10800000">
            <a:off x="2144105" y="3738681"/>
            <a:ext cx="1051605" cy="96653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68DF5D11-39D7-0E61-5F53-6DAE5F00D97B}"/>
              </a:ext>
            </a:extLst>
          </p:cNvPr>
          <p:cNvCxnSpPr>
            <a:cxnSpLocks/>
          </p:cNvCxnSpPr>
          <p:nvPr/>
        </p:nvCxnSpPr>
        <p:spPr>
          <a:xfrm>
            <a:off x="3758161" y="3724935"/>
            <a:ext cx="0" cy="680448"/>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FF1D087-0E8A-EB0F-72A8-F4670883034B}"/>
              </a:ext>
            </a:extLst>
          </p:cNvPr>
          <p:cNvCxnSpPr>
            <a:cxnSpLocks/>
          </p:cNvCxnSpPr>
          <p:nvPr/>
        </p:nvCxnSpPr>
        <p:spPr>
          <a:xfrm>
            <a:off x="2889114" y="3438844"/>
            <a:ext cx="217704"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800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70340-E7C0-C78A-A3A7-8FB1FD503AA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F271CB1-6EBC-D057-712D-F1CBE103553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9F271CB1-6EBC-D057-712D-F1CBE10355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B90B390-4264-48FE-2624-8C3302EC347E}"/>
              </a:ext>
            </a:extLst>
          </p:cNvPr>
          <p:cNvSpPr>
            <a:spLocks noGrp="1"/>
          </p:cNvSpPr>
          <p:nvPr>
            <p:ph type="title"/>
          </p:nvPr>
        </p:nvSpPr>
        <p:spPr>
          <a:xfrm>
            <a:off x="488632" y="377363"/>
            <a:ext cx="9358101" cy="502766"/>
          </a:xfrm>
        </p:spPr>
        <p:txBody>
          <a:bodyPr vert="horz">
            <a:normAutofit/>
          </a:bodyPr>
          <a:lstStyle/>
          <a:p>
            <a:r>
              <a:rPr lang="en-US"/>
              <a:t>Finance &amp; Accounting Processes – General Ledger</a:t>
            </a:r>
          </a:p>
        </p:txBody>
      </p:sp>
      <p:sp>
        <p:nvSpPr>
          <p:cNvPr id="195" name="Title 2">
            <a:extLst>
              <a:ext uri="{FF2B5EF4-FFF2-40B4-BE49-F238E27FC236}">
                <a16:creationId xmlns:a16="http://schemas.microsoft.com/office/drawing/2014/main" id="{DCC59C98-176D-EC26-343B-01A6CF443A0D}"/>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8B8838D0-FC08-62DC-5716-43BCC1FA3142}"/>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FAP_100_003 – Preparation of all Journal Entries and General Ledgers for the period</a:t>
            </a:r>
          </a:p>
        </p:txBody>
      </p:sp>
      <p:grpSp>
        <p:nvGrpSpPr>
          <p:cNvPr id="27" name="Group 26">
            <a:extLst>
              <a:ext uri="{FF2B5EF4-FFF2-40B4-BE49-F238E27FC236}">
                <a16:creationId xmlns:a16="http://schemas.microsoft.com/office/drawing/2014/main" id="{345EAA35-A3A9-BD5D-637F-943A59DEF8CB}"/>
              </a:ext>
            </a:extLst>
          </p:cNvPr>
          <p:cNvGrpSpPr/>
          <p:nvPr/>
        </p:nvGrpSpPr>
        <p:grpSpPr>
          <a:xfrm>
            <a:off x="157122" y="4069385"/>
            <a:ext cx="11877755" cy="1271669"/>
            <a:chOff x="157122" y="4938142"/>
            <a:chExt cx="11877755" cy="1645537"/>
          </a:xfrm>
        </p:grpSpPr>
        <p:sp>
          <p:nvSpPr>
            <p:cNvPr id="9" name="Rectangle 8">
              <a:extLst>
                <a:ext uri="{FF2B5EF4-FFF2-40B4-BE49-F238E27FC236}">
                  <a16:creationId xmlns:a16="http://schemas.microsoft.com/office/drawing/2014/main" id="{BECA1D35-BB5C-8E4E-8ADD-CE1074FEAD7C}"/>
                </a:ext>
              </a:extLst>
            </p:cNvPr>
            <p:cNvSpPr>
              <a:spLocks/>
            </p:cNvSpPr>
            <p:nvPr/>
          </p:nvSpPr>
          <p:spPr>
            <a:xfrm>
              <a:off x="157122" y="4938142"/>
              <a:ext cx="437127"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60CFF19D-7F6B-A532-86F1-084D6C882E7A}"/>
                </a:ext>
              </a:extLst>
            </p:cNvPr>
            <p:cNvSpPr>
              <a:spLocks/>
            </p:cNvSpPr>
            <p:nvPr/>
          </p:nvSpPr>
          <p:spPr>
            <a:xfrm>
              <a:off x="594249" y="4938143"/>
              <a:ext cx="11440628" cy="1645536"/>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grpSp>
      <p:grpSp>
        <p:nvGrpSpPr>
          <p:cNvPr id="23" name="Group 22">
            <a:extLst>
              <a:ext uri="{FF2B5EF4-FFF2-40B4-BE49-F238E27FC236}">
                <a16:creationId xmlns:a16="http://schemas.microsoft.com/office/drawing/2014/main" id="{419E8F09-376E-E2F5-3533-E933E2F940B0}"/>
              </a:ext>
            </a:extLst>
          </p:cNvPr>
          <p:cNvGrpSpPr/>
          <p:nvPr/>
        </p:nvGrpSpPr>
        <p:grpSpPr>
          <a:xfrm>
            <a:off x="157122" y="1536635"/>
            <a:ext cx="11877755" cy="1271669"/>
            <a:chOff x="157122" y="1655293"/>
            <a:chExt cx="11877755" cy="1645537"/>
          </a:xfrm>
        </p:grpSpPr>
        <p:sp>
          <p:nvSpPr>
            <p:cNvPr id="6" name="Rectangle 5">
              <a:extLst>
                <a:ext uri="{FF2B5EF4-FFF2-40B4-BE49-F238E27FC236}">
                  <a16:creationId xmlns:a16="http://schemas.microsoft.com/office/drawing/2014/main" id="{49C1CDC5-DFD6-AA89-0B4A-C0219763A4B4}"/>
                </a:ext>
              </a:extLst>
            </p:cNvPr>
            <p:cNvSpPr/>
            <p:nvPr/>
          </p:nvSpPr>
          <p:spPr>
            <a:xfrm>
              <a:off x="594249" y="1660998"/>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7" name="Rectangle 16">
              <a:extLst>
                <a:ext uri="{FF2B5EF4-FFF2-40B4-BE49-F238E27FC236}">
                  <a16:creationId xmlns:a16="http://schemas.microsoft.com/office/drawing/2014/main" id="{3E4F01AE-DD6B-1A9A-371B-4092D653D3E4}"/>
                </a:ext>
              </a:extLst>
            </p:cNvPr>
            <p:cNvSpPr>
              <a:spLocks/>
            </p:cNvSpPr>
            <p:nvPr/>
          </p:nvSpPr>
          <p:spPr>
            <a:xfrm>
              <a:off x="157122" y="1655293"/>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grpSp>
        <p:nvGrpSpPr>
          <p:cNvPr id="26" name="Group 25">
            <a:extLst>
              <a:ext uri="{FF2B5EF4-FFF2-40B4-BE49-F238E27FC236}">
                <a16:creationId xmlns:a16="http://schemas.microsoft.com/office/drawing/2014/main" id="{D29753CE-A90D-5476-778A-0B668E042B2B}"/>
              </a:ext>
            </a:extLst>
          </p:cNvPr>
          <p:cNvGrpSpPr/>
          <p:nvPr/>
        </p:nvGrpSpPr>
        <p:grpSpPr>
          <a:xfrm>
            <a:off x="157122" y="2803010"/>
            <a:ext cx="11877755" cy="1271669"/>
            <a:chOff x="157122" y="3296717"/>
            <a:chExt cx="11877755" cy="1645537"/>
          </a:xfrm>
        </p:grpSpPr>
        <p:sp>
          <p:nvSpPr>
            <p:cNvPr id="11" name="Rectangle 10">
              <a:extLst>
                <a:ext uri="{FF2B5EF4-FFF2-40B4-BE49-F238E27FC236}">
                  <a16:creationId xmlns:a16="http://schemas.microsoft.com/office/drawing/2014/main" id="{568DC02A-E02B-83B9-2A6B-972A2BB83F73}"/>
                </a:ext>
              </a:extLst>
            </p:cNvPr>
            <p:cNvSpPr/>
            <p:nvPr/>
          </p:nvSpPr>
          <p:spPr>
            <a:xfrm>
              <a:off x="594249" y="3302422"/>
              <a:ext cx="11440628" cy="1638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624C76D2-CD09-95C0-E4AD-C57C9B171158}"/>
                </a:ext>
              </a:extLst>
            </p:cNvPr>
            <p:cNvSpPr>
              <a:spLocks/>
            </p:cNvSpPr>
            <p:nvPr/>
          </p:nvSpPr>
          <p:spPr>
            <a:xfrm>
              <a:off x="157122" y="3296717"/>
              <a:ext cx="437127" cy="164553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grpSp>
      <p:sp>
        <p:nvSpPr>
          <p:cNvPr id="82" name="Flowchart: Process 81">
            <a:extLst>
              <a:ext uri="{FF2B5EF4-FFF2-40B4-BE49-F238E27FC236}">
                <a16:creationId xmlns:a16="http://schemas.microsoft.com/office/drawing/2014/main" id="{0EE788F6-55BF-DEB9-C1E3-4C060C7535CB}"/>
              </a:ext>
            </a:extLst>
          </p:cNvPr>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Share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supporting documents for period (where required)</a:t>
            </a:r>
          </a:p>
        </p:txBody>
      </p:sp>
      <p:sp>
        <p:nvSpPr>
          <p:cNvPr id="85" name="Flowchart: Terminator 84">
            <a:extLst>
              <a:ext uri="{FF2B5EF4-FFF2-40B4-BE49-F238E27FC236}">
                <a16:creationId xmlns:a16="http://schemas.microsoft.com/office/drawing/2014/main" id="{5A178CCF-B3AD-4EE9-E9A7-58711E84508A}"/>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485F02DC-A7F6-0B45-8075-6F4E2A6638C8}"/>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1" name="Flowchart: Process 90">
            <a:extLst>
              <a:ext uri="{FF2B5EF4-FFF2-40B4-BE49-F238E27FC236}">
                <a16:creationId xmlns:a16="http://schemas.microsoft.com/office/drawing/2014/main" id="{59F0BA55-238D-96DA-7C06-198B0EBBD2C5}"/>
              </a:ext>
            </a:extLst>
          </p:cNvPr>
          <p:cNvSpPr/>
          <p:nvPr/>
        </p:nvSpPr>
        <p:spPr>
          <a:xfrm>
            <a:off x="1399094" y="313900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Receive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supporting documents and emails from Chief Accountant for period</a:t>
            </a:r>
          </a:p>
        </p:txBody>
      </p:sp>
      <p:sp>
        <p:nvSpPr>
          <p:cNvPr id="99" name="Flowchart: Process 98">
            <a:extLst>
              <a:ext uri="{FF2B5EF4-FFF2-40B4-BE49-F238E27FC236}">
                <a16:creationId xmlns:a16="http://schemas.microsoft.com/office/drawing/2014/main" id="{64F44CB2-AC22-06EE-6D86-2C669C56A489}"/>
              </a:ext>
            </a:extLst>
          </p:cNvPr>
          <p:cNvSpPr/>
          <p:nvPr/>
        </p:nvSpPr>
        <p:spPr>
          <a:xfrm>
            <a:off x="4627208" y="3139008"/>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Post JV’s and General Ledgers for the Period</a:t>
            </a:r>
          </a:p>
        </p:txBody>
      </p:sp>
      <p:sp>
        <p:nvSpPr>
          <p:cNvPr id="100" name="Flowchart: Decision 99">
            <a:extLst>
              <a:ext uri="{FF2B5EF4-FFF2-40B4-BE49-F238E27FC236}">
                <a16:creationId xmlns:a16="http://schemas.microsoft.com/office/drawing/2014/main" id="{FA4DF793-C74F-1752-57C9-E894B61ABDDC}"/>
              </a:ext>
            </a:extLst>
          </p:cNvPr>
          <p:cNvSpPr>
            <a:spLocks/>
          </p:cNvSpPr>
          <p:nvPr/>
        </p:nvSpPr>
        <p:spPr>
          <a:xfrm>
            <a:off x="3106818" y="3152752"/>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 line with the company policy?</a:t>
            </a:r>
          </a:p>
        </p:txBody>
      </p:sp>
      <p:sp>
        <p:nvSpPr>
          <p:cNvPr id="102" name="TextBox 101">
            <a:extLst>
              <a:ext uri="{FF2B5EF4-FFF2-40B4-BE49-F238E27FC236}">
                <a16:creationId xmlns:a16="http://schemas.microsoft.com/office/drawing/2014/main" id="{7FE292BB-0D73-580E-E847-F5C77B0CB9D3}"/>
              </a:ext>
            </a:extLst>
          </p:cNvPr>
          <p:cNvSpPr txBox="1"/>
          <p:nvPr/>
        </p:nvSpPr>
        <p:spPr>
          <a:xfrm>
            <a:off x="4083424" y="315185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01" name="TextBox 100">
            <a:extLst>
              <a:ext uri="{FF2B5EF4-FFF2-40B4-BE49-F238E27FC236}">
                <a16:creationId xmlns:a16="http://schemas.microsoft.com/office/drawing/2014/main" id="{BF255262-AED6-24A2-7103-4A3BA8258372}"/>
              </a:ext>
            </a:extLst>
          </p:cNvPr>
          <p:cNvSpPr txBox="1"/>
          <p:nvPr/>
        </p:nvSpPr>
        <p:spPr>
          <a:xfrm>
            <a:off x="3381260" y="3703978"/>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cxnSp>
        <p:nvCxnSpPr>
          <p:cNvPr id="122" name="Straight Arrow Connector 121">
            <a:extLst>
              <a:ext uri="{FF2B5EF4-FFF2-40B4-BE49-F238E27FC236}">
                <a16:creationId xmlns:a16="http://schemas.microsoft.com/office/drawing/2014/main" id="{4BA2A067-55FA-C19A-6963-A5E582727F43}"/>
              </a:ext>
            </a:extLst>
          </p:cNvPr>
          <p:cNvCxnSpPr>
            <a:cxnSpLocks/>
            <a:stCxn id="82" idx="2"/>
            <a:endCxn id="91" idx="0"/>
          </p:cNvCxnSpPr>
          <p:nvPr/>
        </p:nvCxnSpPr>
        <p:spPr>
          <a:xfrm flipH="1">
            <a:off x="2144104" y="2441658"/>
            <a:ext cx="1" cy="69735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5" name="Flowchart: Process 4">
            <a:extLst>
              <a:ext uri="{FF2B5EF4-FFF2-40B4-BE49-F238E27FC236}">
                <a16:creationId xmlns:a16="http://schemas.microsoft.com/office/drawing/2014/main" id="{2F12E9D1-704A-A77E-1467-4A0B78D9EEAF}"/>
              </a:ext>
            </a:extLst>
          </p:cNvPr>
          <p:cNvSpPr/>
          <p:nvPr/>
        </p:nvSpPr>
        <p:spPr>
          <a:xfrm>
            <a:off x="3195709" y="440538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issue and share update with Accountant</a:t>
            </a:r>
          </a:p>
        </p:txBody>
      </p:sp>
      <p:sp>
        <p:nvSpPr>
          <p:cNvPr id="19" name="Flowchart: Decision 18">
            <a:extLst>
              <a:ext uri="{FF2B5EF4-FFF2-40B4-BE49-F238E27FC236}">
                <a16:creationId xmlns:a16="http://schemas.microsoft.com/office/drawing/2014/main" id="{F1785D32-985A-2A94-8B7A-73AE21CC5973}"/>
              </a:ext>
            </a:extLst>
          </p:cNvPr>
          <p:cNvSpPr>
            <a:spLocks/>
          </p:cNvSpPr>
          <p:nvPr/>
        </p:nvSpPr>
        <p:spPr>
          <a:xfrm>
            <a:off x="5806898" y="441912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20" name="TextBox 19">
            <a:extLst>
              <a:ext uri="{FF2B5EF4-FFF2-40B4-BE49-F238E27FC236}">
                <a16:creationId xmlns:a16="http://schemas.microsoft.com/office/drawing/2014/main" id="{2D24E3C8-AC5C-17D8-39D9-84B8F835A88A}"/>
              </a:ext>
            </a:extLst>
          </p:cNvPr>
          <p:cNvSpPr txBox="1"/>
          <p:nvPr/>
        </p:nvSpPr>
        <p:spPr>
          <a:xfrm>
            <a:off x="6458240" y="421817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1" name="TextBox 20">
            <a:extLst>
              <a:ext uri="{FF2B5EF4-FFF2-40B4-BE49-F238E27FC236}">
                <a16:creationId xmlns:a16="http://schemas.microsoft.com/office/drawing/2014/main" id="{E1606243-9CEC-F561-2D93-3759642ADA98}"/>
              </a:ext>
            </a:extLst>
          </p:cNvPr>
          <p:cNvSpPr txBox="1"/>
          <p:nvPr/>
        </p:nvSpPr>
        <p:spPr>
          <a:xfrm>
            <a:off x="6813002" y="4883057"/>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4" name="Flowchart: Terminator 23">
            <a:extLst>
              <a:ext uri="{FF2B5EF4-FFF2-40B4-BE49-F238E27FC236}">
                <a16:creationId xmlns:a16="http://schemas.microsoft.com/office/drawing/2014/main" id="{C5C18CF0-7E2D-D6CF-4F19-7192289A9596}"/>
              </a:ext>
            </a:extLst>
          </p:cNvPr>
          <p:cNvSpPr/>
          <p:nvPr/>
        </p:nvSpPr>
        <p:spPr>
          <a:xfrm>
            <a:off x="9781279" y="2061587"/>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5" name="Straight Arrow Connector 24">
            <a:extLst>
              <a:ext uri="{FF2B5EF4-FFF2-40B4-BE49-F238E27FC236}">
                <a16:creationId xmlns:a16="http://schemas.microsoft.com/office/drawing/2014/main" id="{17A321C4-FC3D-5637-78B5-A7EF3CD6A465}"/>
              </a:ext>
            </a:extLst>
          </p:cNvPr>
          <p:cNvCxnSpPr>
            <a:cxnSpLocks/>
            <a:stCxn id="91" idx="3"/>
            <a:endCxn id="100" idx="1"/>
          </p:cNvCxnSpPr>
          <p:nvPr/>
        </p:nvCxnSpPr>
        <p:spPr>
          <a:xfrm>
            <a:off x="2889114" y="3438844"/>
            <a:ext cx="217704"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B97AFFF-A044-49AE-B4B2-15ECABFD9D49}"/>
              </a:ext>
            </a:extLst>
          </p:cNvPr>
          <p:cNvCxnSpPr>
            <a:cxnSpLocks/>
            <a:stCxn id="100" idx="2"/>
            <a:endCxn id="5" idx="0"/>
          </p:cNvCxnSpPr>
          <p:nvPr/>
        </p:nvCxnSpPr>
        <p:spPr>
          <a:xfrm>
            <a:off x="3758161" y="3724935"/>
            <a:ext cx="0" cy="680448"/>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81ED60A-8E81-B91B-5527-AE175FBFAE9E}"/>
              </a:ext>
            </a:extLst>
          </p:cNvPr>
          <p:cNvCxnSpPr>
            <a:cxnSpLocks/>
            <a:stCxn id="100" idx="3"/>
            <a:endCxn id="99" idx="1"/>
          </p:cNvCxnSpPr>
          <p:nvPr/>
        </p:nvCxnSpPr>
        <p:spPr>
          <a:xfrm>
            <a:off x="4409503" y="3438844"/>
            <a:ext cx="217705"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B51E48A-4235-F3D3-709F-EBF9A263EB2E}"/>
              </a:ext>
            </a:extLst>
          </p:cNvPr>
          <p:cNvCxnSpPr>
            <a:cxnSpLocks/>
            <a:stCxn id="7" idx="3"/>
          </p:cNvCxnSpPr>
          <p:nvPr/>
        </p:nvCxnSpPr>
        <p:spPr>
          <a:xfrm flipV="1">
            <a:off x="9192583" y="2155566"/>
            <a:ext cx="58869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18243208-8A5F-6366-A074-EA03029C7761}"/>
              </a:ext>
            </a:extLst>
          </p:cNvPr>
          <p:cNvCxnSpPr>
            <a:cxnSpLocks/>
            <a:stCxn id="5" idx="1"/>
            <a:endCxn id="91" idx="2"/>
          </p:cNvCxnSpPr>
          <p:nvPr/>
        </p:nvCxnSpPr>
        <p:spPr>
          <a:xfrm rot="10800000">
            <a:off x="2144105" y="3738681"/>
            <a:ext cx="1051605" cy="96653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EBD29D16-E2FB-93CD-C531-8B602F1E5EFC}"/>
              </a:ext>
            </a:extLst>
          </p:cNvPr>
          <p:cNvCxnSpPr>
            <a:cxnSpLocks/>
            <a:stCxn id="99" idx="2"/>
            <a:endCxn id="19" idx="1"/>
          </p:cNvCxnSpPr>
          <p:nvPr/>
        </p:nvCxnSpPr>
        <p:spPr>
          <a:xfrm rot="16200000" flipH="1">
            <a:off x="5015009" y="3913331"/>
            <a:ext cx="966540" cy="617238"/>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6100AED3-D6FF-FC2E-DF8D-5AC405941256}"/>
              </a:ext>
            </a:extLst>
          </p:cNvPr>
          <p:cNvCxnSpPr>
            <a:cxnSpLocks/>
            <a:stCxn id="19" idx="0"/>
            <a:endCxn id="99" idx="0"/>
          </p:cNvCxnSpPr>
          <p:nvPr/>
        </p:nvCxnSpPr>
        <p:spPr>
          <a:xfrm rot="16200000" flipV="1">
            <a:off x="5183891" y="3144777"/>
            <a:ext cx="1280120" cy="1268581"/>
          </a:xfrm>
          <a:prstGeom prst="bentConnector3">
            <a:avLst>
              <a:gd name="adj1" fmla="val 117858"/>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7" name="Flowchart: Decision 6">
            <a:extLst>
              <a:ext uri="{FF2B5EF4-FFF2-40B4-BE49-F238E27FC236}">
                <a16:creationId xmlns:a16="http://schemas.microsoft.com/office/drawing/2014/main" id="{D3E984C7-9A1B-21FC-152C-1A17AC2FAC4A}"/>
              </a:ext>
            </a:extLst>
          </p:cNvPr>
          <p:cNvSpPr>
            <a:spLocks/>
          </p:cNvSpPr>
          <p:nvPr/>
        </p:nvSpPr>
        <p:spPr>
          <a:xfrm>
            <a:off x="7889898" y="1869475"/>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Approved?</a:t>
            </a:r>
          </a:p>
        </p:txBody>
      </p:sp>
      <p:sp>
        <p:nvSpPr>
          <p:cNvPr id="8" name="TextBox 7">
            <a:extLst>
              <a:ext uri="{FF2B5EF4-FFF2-40B4-BE49-F238E27FC236}">
                <a16:creationId xmlns:a16="http://schemas.microsoft.com/office/drawing/2014/main" id="{D3DD3909-C029-3639-5258-85245887754B}"/>
              </a:ext>
            </a:extLst>
          </p:cNvPr>
          <p:cNvSpPr txBox="1"/>
          <p:nvPr/>
        </p:nvSpPr>
        <p:spPr>
          <a:xfrm>
            <a:off x="8906017" y="184198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3" name="TextBox 12">
            <a:extLst>
              <a:ext uri="{FF2B5EF4-FFF2-40B4-BE49-F238E27FC236}">
                <a16:creationId xmlns:a16="http://schemas.microsoft.com/office/drawing/2014/main" id="{B6FBFF58-F717-10B5-BE45-3F6F339B1080}"/>
              </a:ext>
            </a:extLst>
          </p:cNvPr>
          <p:cNvSpPr txBox="1"/>
          <p:nvPr/>
        </p:nvSpPr>
        <p:spPr>
          <a:xfrm>
            <a:off x="8551255" y="241427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cxnSp>
        <p:nvCxnSpPr>
          <p:cNvPr id="14" name="Connector: Elbow 13">
            <a:extLst>
              <a:ext uri="{FF2B5EF4-FFF2-40B4-BE49-F238E27FC236}">
                <a16:creationId xmlns:a16="http://schemas.microsoft.com/office/drawing/2014/main" id="{E7CF3210-3960-1760-CC97-0871C879B258}"/>
              </a:ext>
            </a:extLst>
          </p:cNvPr>
          <p:cNvCxnSpPr>
            <a:cxnSpLocks/>
            <a:stCxn id="19" idx="3"/>
            <a:endCxn id="7" idx="1"/>
          </p:cNvCxnSpPr>
          <p:nvPr/>
        </p:nvCxnSpPr>
        <p:spPr>
          <a:xfrm flipV="1">
            <a:off x="7109583" y="2155567"/>
            <a:ext cx="780315" cy="2549653"/>
          </a:xfrm>
          <a:prstGeom prst="bentConnector3">
            <a:avLst>
              <a:gd name="adj1" fmla="val 50000"/>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1A76FC64-C907-89F8-76AD-2D6997515A99}"/>
              </a:ext>
            </a:extLst>
          </p:cNvPr>
          <p:cNvCxnSpPr>
            <a:cxnSpLocks/>
            <a:stCxn id="7" idx="2"/>
            <a:endCxn id="19" idx="2"/>
          </p:cNvCxnSpPr>
          <p:nvPr/>
        </p:nvCxnSpPr>
        <p:spPr>
          <a:xfrm rot="5400000">
            <a:off x="6224915" y="2674984"/>
            <a:ext cx="2549653" cy="2083000"/>
          </a:xfrm>
          <a:prstGeom prst="bentConnector3">
            <a:avLst>
              <a:gd name="adj1" fmla="val 108966"/>
            </a:avLst>
          </a:prstGeom>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6815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52E16-7A71-3396-0B2D-0B4CECD1EB9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C885A3A-77EB-1C0A-E28B-449B5AEE14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CC885A3A-77EB-1C0A-E28B-449B5AEE14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B430A33-96F9-DFFA-3D52-E3F0DAC61B83}"/>
              </a:ext>
            </a:extLst>
          </p:cNvPr>
          <p:cNvSpPr>
            <a:spLocks noGrp="1"/>
          </p:cNvSpPr>
          <p:nvPr>
            <p:ph type="title"/>
          </p:nvPr>
        </p:nvSpPr>
        <p:spPr>
          <a:xfrm>
            <a:off x="488632" y="377363"/>
            <a:ext cx="9358101" cy="502766"/>
          </a:xfrm>
        </p:spPr>
        <p:txBody>
          <a:bodyPr vert="horz">
            <a:normAutofit fontScale="90000"/>
          </a:bodyPr>
          <a:lstStyle/>
          <a:p>
            <a:r>
              <a:rPr lang="en-US"/>
              <a:t>Finance &amp; Accounting Processes – Accounts Payable and Accounts Receivable</a:t>
            </a:r>
          </a:p>
        </p:txBody>
      </p:sp>
      <p:sp>
        <p:nvSpPr>
          <p:cNvPr id="195" name="Title 2">
            <a:extLst>
              <a:ext uri="{FF2B5EF4-FFF2-40B4-BE49-F238E27FC236}">
                <a16:creationId xmlns:a16="http://schemas.microsoft.com/office/drawing/2014/main" id="{1CED9E3C-7E4D-DFB5-DBC4-3F51997E2C97}"/>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47CA5F7C-D1BA-8587-CE80-D365378563A5}"/>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FAP_100_004 – Detailed Invoice Tracker (both AP and AR)</a:t>
            </a:r>
          </a:p>
        </p:txBody>
      </p:sp>
      <p:sp>
        <p:nvSpPr>
          <p:cNvPr id="17" name="Rectangle 16">
            <a:extLst>
              <a:ext uri="{FF2B5EF4-FFF2-40B4-BE49-F238E27FC236}">
                <a16:creationId xmlns:a16="http://schemas.microsoft.com/office/drawing/2014/main" id="{D5DD61AA-542D-ACC2-2B6A-787C1034E799}"/>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9B2A4FFF-A67C-1D9A-7341-D0BAAAA85B7B}"/>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3504B2C1-8B2A-561A-BEDE-6ED67702C3A1}"/>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A0462BBB-4609-0A79-9DD8-7632EB2AE3BC}"/>
              </a:ext>
            </a:extLst>
          </p:cNvPr>
          <p:cNvSpPr>
            <a:spLocks/>
          </p:cNvSpPr>
          <p:nvPr/>
        </p:nvSpPr>
        <p:spPr>
          <a:xfrm>
            <a:off x="157122" y="153663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C0DC0218-4C74-E6D8-A0A6-3AF30DAF3F60}"/>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65CBA1DA-64AC-C4B8-6B3D-9FB5453422BF}"/>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82" name="Flowchart: Process 81">
            <a:extLst>
              <a:ext uri="{FF2B5EF4-FFF2-40B4-BE49-F238E27FC236}">
                <a16:creationId xmlns:a16="http://schemas.microsoft.com/office/drawing/2014/main" id="{6351A00F-C462-724F-6092-B0DCA6981C81}"/>
              </a:ext>
            </a:extLst>
          </p:cNvPr>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Record Invoices based on email communication from Client</a:t>
            </a:r>
          </a:p>
        </p:txBody>
      </p:sp>
      <p:sp>
        <p:nvSpPr>
          <p:cNvPr id="85" name="Flowchart: Terminator 84">
            <a:extLst>
              <a:ext uri="{FF2B5EF4-FFF2-40B4-BE49-F238E27FC236}">
                <a16:creationId xmlns:a16="http://schemas.microsoft.com/office/drawing/2014/main" id="{E83B67D8-D4D7-3126-CB77-0349F29DF309}"/>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EA12D82B-2328-4737-5104-EA6772657524}"/>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4D591EBB-E5C1-3953-E788-6956C82CE4DB}"/>
              </a:ext>
            </a:extLst>
          </p:cNvPr>
          <p:cNvCxnSpPr>
            <a:cxnSpLocks/>
            <a:stCxn id="82" idx="3"/>
            <a:endCxn id="22" idx="1"/>
          </p:cNvCxnSpPr>
          <p:nvPr/>
        </p:nvCxnSpPr>
        <p:spPr>
          <a:xfrm>
            <a:off x="2889115" y="2141822"/>
            <a:ext cx="43712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22" name="Flowchart: Process 21">
            <a:extLst>
              <a:ext uri="{FF2B5EF4-FFF2-40B4-BE49-F238E27FC236}">
                <a16:creationId xmlns:a16="http://schemas.microsoft.com/office/drawing/2014/main" id="{E164BFF6-5870-1B76-812D-99ED6DC3AD18}"/>
              </a:ext>
            </a:extLst>
          </p:cNvPr>
          <p:cNvSpPr/>
          <p:nvPr/>
        </p:nvSpPr>
        <p:spPr>
          <a:xfrm>
            <a:off x="3326242"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Record Invoice and Update tracker</a:t>
            </a:r>
          </a:p>
        </p:txBody>
      </p:sp>
      <p:sp>
        <p:nvSpPr>
          <p:cNvPr id="31" name="Flowchart: Decision 30">
            <a:extLst>
              <a:ext uri="{FF2B5EF4-FFF2-40B4-BE49-F238E27FC236}">
                <a16:creationId xmlns:a16="http://schemas.microsoft.com/office/drawing/2014/main" id="{DA6398F4-E629-63A8-3AC0-619D64F9BDF6}"/>
              </a:ext>
            </a:extLst>
          </p:cNvPr>
          <p:cNvSpPr>
            <a:spLocks/>
          </p:cNvSpPr>
          <p:nvPr/>
        </p:nvSpPr>
        <p:spPr>
          <a:xfrm>
            <a:off x="5224206" y="3062313"/>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Changes Required?</a:t>
            </a:r>
          </a:p>
        </p:txBody>
      </p:sp>
      <p:sp>
        <p:nvSpPr>
          <p:cNvPr id="32" name="TextBox 31">
            <a:extLst>
              <a:ext uri="{FF2B5EF4-FFF2-40B4-BE49-F238E27FC236}">
                <a16:creationId xmlns:a16="http://schemas.microsoft.com/office/drawing/2014/main" id="{4EC44B7B-FA8F-E005-7465-A58C7C8D9BFD}"/>
              </a:ext>
            </a:extLst>
          </p:cNvPr>
          <p:cNvSpPr txBox="1"/>
          <p:nvPr/>
        </p:nvSpPr>
        <p:spPr>
          <a:xfrm>
            <a:off x="5498648" y="2900084"/>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33" name="TextBox 32">
            <a:extLst>
              <a:ext uri="{FF2B5EF4-FFF2-40B4-BE49-F238E27FC236}">
                <a16:creationId xmlns:a16="http://schemas.microsoft.com/office/drawing/2014/main" id="{C864E8EC-8046-544E-1CEC-73CB3AD88E9A}"/>
              </a:ext>
            </a:extLst>
          </p:cNvPr>
          <p:cNvSpPr txBox="1"/>
          <p:nvPr/>
        </p:nvSpPr>
        <p:spPr>
          <a:xfrm>
            <a:off x="6526891" y="3348404"/>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35" name="Flowchart: Decision 34">
            <a:extLst>
              <a:ext uri="{FF2B5EF4-FFF2-40B4-BE49-F238E27FC236}">
                <a16:creationId xmlns:a16="http://schemas.microsoft.com/office/drawing/2014/main" id="{684CE3B4-AFDA-2463-1776-035C04541AA5}"/>
              </a:ext>
            </a:extLst>
          </p:cNvPr>
          <p:cNvSpPr>
            <a:spLocks/>
          </p:cNvSpPr>
          <p:nvPr/>
        </p:nvSpPr>
        <p:spPr>
          <a:xfrm>
            <a:off x="7119166" y="3062313"/>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sp>
        <p:nvSpPr>
          <p:cNvPr id="37" name="TextBox 36">
            <a:extLst>
              <a:ext uri="{FF2B5EF4-FFF2-40B4-BE49-F238E27FC236}">
                <a16:creationId xmlns:a16="http://schemas.microsoft.com/office/drawing/2014/main" id="{5195A669-85D0-AD5C-FD48-20318CF0F04D}"/>
              </a:ext>
            </a:extLst>
          </p:cNvPr>
          <p:cNvSpPr txBox="1"/>
          <p:nvPr/>
        </p:nvSpPr>
        <p:spPr>
          <a:xfrm>
            <a:off x="7393608" y="361532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36" name="TextBox 35">
            <a:extLst>
              <a:ext uri="{FF2B5EF4-FFF2-40B4-BE49-F238E27FC236}">
                <a16:creationId xmlns:a16="http://schemas.microsoft.com/office/drawing/2014/main" id="{86AE7ECD-B530-C0DA-465B-9F692649A1C1}"/>
              </a:ext>
            </a:extLst>
          </p:cNvPr>
          <p:cNvSpPr txBox="1"/>
          <p:nvPr/>
        </p:nvSpPr>
        <p:spPr>
          <a:xfrm>
            <a:off x="8213928" y="306141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38" name="Flowchart: Process 37">
            <a:extLst>
              <a:ext uri="{FF2B5EF4-FFF2-40B4-BE49-F238E27FC236}">
                <a16:creationId xmlns:a16="http://schemas.microsoft.com/office/drawing/2014/main" id="{D68CBB70-A2EC-3679-70E0-CBD506412D01}"/>
              </a:ext>
            </a:extLst>
          </p:cNvPr>
          <p:cNvSpPr>
            <a:spLocks/>
          </p:cNvSpPr>
          <p:nvPr/>
        </p:nvSpPr>
        <p:spPr>
          <a:xfrm>
            <a:off x="9014126" y="3048569"/>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Share it with Finance Manager</a:t>
            </a:r>
          </a:p>
        </p:txBody>
      </p:sp>
      <p:sp>
        <p:nvSpPr>
          <p:cNvPr id="39" name="Flowchart: Process 38">
            <a:extLst>
              <a:ext uri="{FF2B5EF4-FFF2-40B4-BE49-F238E27FC236}">
                <a16:creationId xmlns:a16="http://schemas.microsoft.com/office/drawing/2014/main" id="{5B0BE262-F7C1-262E-6C27-7406D252E04C}"/>
              </a:ext>
            </a:extLst>
          </p:cNvPr>
          <p:cNvSpPr>
            <a:spLocks/>
          </p:cNvSpPr>
          <p:nvPr/>
        </p:nvSpPr>
        <p:spPr>
          <a:xfrm>
            <a:off x="9014126" y="440538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Receive Invoice Tracker</a:t>
            </a:r>
          </a:p>
        </p:txBody>
      </p:sp>
      <p:sp>
        <p:nvSpPr>
          <p:cNvPr id="40" name="Flowchart: Terminator 39">
            <a:extLst>
              <a:ext uri="{FF2B5EF4-FFF2-40B4-BE49-F238E27FC236}">
                <a16:creationId xmlns:a16="http://schemas.microsoft.com/office/drawing/2014/main" id="{AACC958F-A315-AE1A-38B4-B334B22C6279}"/>
              </a:ext>
            </a:extLst>
          </p:cNvPr>
          <p:cNvSpPr/>
          <p:nvPr/>
        </p:nvSpPr>
        <p:spPr>
          <a:xfrm>
            <a:off x="10496206" y="4611239"/>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41" name="Straight Arrow Connector 40">
            <a:extLst>
              <a:ext uri="{FF2B5EF4-FFF2-40B4-BE49-F238E27FC236}">
                <a16:creationId xmlns:a16="http://schemas.microsoft.com/office/drawing/2014/main" id="{C22DAF7E-C05C-2221-FB5F-DF3A8257D50C}"/>
              </a:ext>
            </a:extLst>
          </p:cNvPr>
          <p:cNvCxnSpPr>
            <a:cxnSpLocks/>
            <a:stCxn id="39" idx="3"/>
            <a:endCxn id="40" idx="1"/>
          </p:cNvCxnSpPr>
          <p:nvPr/>
        </p:nvCxnSpPr>
        <p:spPr>
          <a:xfrm>
            <a:off x="10139029" y="4705219"/>
            <a:ext cx="35717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F70A5447-6177-C211-7B43-FFE8333B11F8}"/>
              </a:ext>
            </a:extLst>
          </p:cNvPr>
          <p:cNvCxnSpPr>
            <a:cxnSpLocks/>
            <a:stCxn id="22" idx="3"/>
            <a:endCxn id="31" idx="1"/>
          </p:cNvCxnSpPr>
          <p:nvPr/>
        </p:nvCxnSpPr>
        <p:spPr>
          <a:xfrm>
            <a:off x="4816262" y="2141822"/>
            <a:ext cx="407944" cy="1206583"/>
          </a:xfrm>
          <a:prstGeom prst="bentConnector3">
            <a:avLst>
              <a:gd name="adj1" fmla="val 50000"/>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208F9F3F-FD4F-59B9-3AB3-9FD5EF8388D5}"/>
              </a:ext>
            </a:extLst>
          </p:cNvPr>
          <p:cNvCxnSpPr>
            <a:cxnSpLocks/>
            <a:stCxn id="31" idx="0"/>
            <a:endCxn id="22" idx="0"/>
          </p:cNvCxnSpPr>
          <p:nvPr/>
        </p:nvCxnSpPr>
        <p:spPr>
          <a:xfrm rot="16200000" flipV="1">
            <a:off x="4363238" y="1550001"/>
            <a:ext cx="1220327" cy="1804297"/>
          </a:xfrm>
          <a:prstGeom prst="bentConnector3">
            <a:avLst>
              <a:gd name="adj1" fmla="val 114747"/>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941D8EAB-E9CB-6455-0904-1F74E33D2D7E}"/>
              </a:ext>
            </a:extLst>
          </p:cNvPr>
          <p:cNvCxnSpPr>
            <a:cxnSpLocks/>
            <a:stCxn id="31" idx="3"/>
            <a:endCxn id="35" idx="1"/>
          </p:cNvCxnSpPr>
          <p:nvPr/>
        </p:nvCxnSpPr>
        <p:spPr>
          <a:xfrm>
            <a:off x="6526891" y="3348405"/>
            <a:ext cx="592275"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54DA46CE-0153-F9C3-752D-88B59B894623}"/>
              </a:ext>
            </a:extLst>
          </p:cNvPr>
          <p:cNvCxnSpPr>
            <a:cxnSpLocks/>
            <a:stCxn id="35" idx="2"/>
            <a:endCxn id="31" idx="2"/>
          </p:cNvCxnSpPr>
          <p:nvPr/>
        </p:nvCxnSpPr>
        <p:spPr>
          <a:xfrm rot="5400000">
            <a:off x="6823029" y="2687016"/>
            <a:ext cx="12700" cy="1894960"/>
          </a:xfrm>
          <a:prstGeom prst="bentConnector3">
            <a:avLst>
              <a:gd name="adj1" fmla="val 1800000"/>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F7AB631D-809E-3EC4-41E6-7B6FB1ADC917}"/>
              </a:ext>
            </a:extLst>
          </p:cNvPr>
          <p:cNvCxnSpPr>
            <a:cxnSpLocks/>
            <a:stCxn id="35" idx="3"/>
            <a:endCxn id="38" idx="1"/>
          </p:cNvCxnSpPr>
          <p:nvPr/>
        </p:nvCxnSpPr>
        <p:spPr>
          <a:xfrm>
            <a:off x="8421851" y="3348405"/>
            <a:ext cx="592275"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D2EE777-3AE4-0EAB-12C3-A354D8C34F61}"/>
              </a:ext>
            </a:extLst>
          </p:cNvPr>
          <p:cNvCxnSpPr>
            <a:cxnSpLocks/>
            <a:stCxn id="38" idx="2"/>
            <a:endCxn id="39" idx="0"/>
          </p:cNvCxnSpPr>
          <p:nvPr/>
        </p:nvCxnSpPr>
        <p:spPr>
          <a:xfrm>
            <a:off x="9576578" y="3648241"/>
            <a:ext cx="0" cy="757142"/>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165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661-8ED2-97C2-CD4B-A7F353EA669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B822369-72F9-6C13-1A0C-545A1E5F6A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3B822369-72F9-6C13-1A0C-545A1E5F6A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06CB9F8-2AB3-BDFB-D8BA-61567751D38D}"/>
              </a:ext>
            </a:extLst>
          </p:cNvPr>
          <p:cNvSpPr>
            <a:spLocks noGrp="1"/>
          </p:cNvSpPr>
          <p:nvPr>
            <p:ph type="title"/>
          </p:nvPr>
        </p:nvSpPr>
        <p:spPr>
          <a:xfrm>
            <a:off x="488632" y="377363"/>
            <a:ext cx="9358101" cy="502766"/>
          </a:xfrm>
        </p:spPr>
        <p:txBody>
          <a:bodyPr vert="horz">
            <a:normAutofit fontScale="90000"/>
          </a:bodyPr>
          <a:lstStyle/>
          <a:p>
            <a:r>
              <a:rPr lang="en-US"/>
              <a:t>Finance &amp; Accounting Processes – Accounts Payable and Accounts Receivable</a:t>
            </a:r>
          </a:p>
        </p:txBody>
      </p:sp>
      <p:sp>
        <p:nvSpPr>
          <p:cNvPr id="195" name="Title 2">
            <a:extLst>
              <a:ext uri="{FF2B5EF4-FFF2-40B4-BE49-F238E27FC236}">
                <a16:creationId xmlns:a16="http://schemas.microsoft.com/office/drawing/2014/main" id="{92555C67-79AD-6590-9150-4488B58278F3}"/>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FAABD384-83C1-A075-15F1-0CEC38C17E1B}"/>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FAP_100_005 – Preparation of Transfer Letters for Manual and Payment Upload Request for E Banking for all payments</a:t>
            </a:r>
          </a:p>
        </p:txBody>
      </p:sp>
      <p:sp>
        <p:nvSpPr>
          <p:cNvPr id="14" name="Rectangle 13">
            <a:extLst>
              <a:ext uri="{FF2B5EF4-FFF2-40B4-BE49-F238E27FC236}">
                <a16:creationId xmlns:a16="http://schemas.microsoft.com/office/drawing/2014/main" id="{A63616B7-DF37-6D15-0C0D-7DB99BBC8C5E}"/>
              </a:ext>
            </a:extLst>
          </p:cNvPr>
          <p:cNvSpPr>
            <a:spLocks/>
          </p:cNvSpPr>
          <p:nvPr/>
        </p:nvSpPr>
        <p:spPr>
          <a:xfrm>
            <a:off x="157122" y="4069385"/>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95032ABE-52B7-7A97-208E-5D8F68D5FBC9}"/>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846260A4-7C1A-6555-3408-0E8B26EDB8F8}"/>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64A23142-9FF7-8663-6F40-55782CEF0875}"/>
              </a:ext>
            </a:extLst>
          </p:cNvPr>
          <p:cNvSpPr>
            <a:spLocks/>
          </p:cNvSpPr>
          <p:nvPr/>
        </p:nvSpPr>
        <p:spPr>
          <a:xfrm>
            <a:off x="157122" y="153663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7A3017EE-BAF8-2E00-9DD7-8F1616A2D5A5}"/>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4CDB69C8-22DA-14CB-A1C7-4552B1208197}"/>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Senior 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7" name="Rectangle 16">
            <a:extLst>
              <a:ext uri="{FF2B5EF4-FFF2-40B4-BE49-F238E27FC236}">
                <a16:creationId xmlns:a16="http://schemas.microsoft.com/office/drawing/2014/main" id="{4FA37535-E488-4B86-AD19-33C9BEC887FE}"/>
              </a:ext>
            </a:extLst>
          </p:cNvPr>
          <p:cNvSpPr>
            <a:spLocks/>
          </p:cNvSpPr>
          <p:nvPr/>
        </p:nvSpPr>
        <p:spPr>
          <a:xfrm>
            <a:off x="157122" y="5335761"/>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5" name="Rectangle 14">
            <a:extLst>
              <a:ext uri="{FF2B5EF4-FFF2-40B4-BE49-F238E27FC236}">
                <a16:creationId xmlns:a16="http://schemas.microsoft.com/office/drawing/2014/main" id="{AD06FF39-8616-6827-8D60-4E11FE524D80}"/>
              </a:ext>
            </a:extLst>
          </p:cNvPr>
          <p:cNvSpPr>
            <a:spLocks/>
          </p:cNvSpPr>
          <p:nvPr/>
        </p:nvSpPr>
        <p:spPr>
          <a:xfrm>
            <a:off x="594249" y="5335762"/>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82" name="Flowchart: Process 81">
            <a:extLst>
              <a:ext uri="{FF2B5EF4-FFF2-40B4-BE49-F238E27FC236}">
                <a16:creationId xmlns:a16="http://schemas.microsoft.com/office/drawing/2014/main" id="{2EDFFD86-2212-42F9-10E3-5D5CF19F1FBC}"/>
              </a:ext>
            </a:extLst>
          </p:cNvPr>
          <p:cNvSpPr/>
          <p:nvPr/>
        </p:nvSpPr>
        <p:spPr>
          <a:xfrm>
            <a:off x="1399095" y="572296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Provide all the supporting documents and approval to proceed payment</a:t>
            </a:r>
          </a:p>
        </p:txBody>
      </p:sp>
      <p:sp>
        <p:nvSpPr>
          <p:cNvPr id="85" name="Flowchart: Terminator 84">
            <a:extLst>
              <a:ext uri="{FF2B5EF4-FFF2-40B4-BE49-F238E27FC236}">
                <a16:creationId xmlns:a16="http://schemas.microsoft.com/office/drawing/2014/main" id="{421AD7B2-E934-4727-D4F2-7A77E29B24F3}"/>
              </a:ext>
            </a:extLst>
          </p:cNvPr>
          <p:cNvSpPr/>
          <p:nvPr/>
        </p:nvSpPr>
        <p:spPr>
          <a:xfrm>
            <a:off x="724332" y="5928824"/>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5FDB659A-712D-C778-A2CB-38AF6B66A7AC}"/>
              </a:ext>
            </a:extLst>
          </p:cNvPr>
          <p:cNvCxnSpPr>
            <a:cxnSpLocks/>
            <a:stCxn id="85" idx="3"/>
          </p:cNvCxnSpPr>
          <p:nvPr/>
        </p:nvCxnSpPr>
        <p:spPr>
          <a:xfrm flipV="1">
            <a:off x="1236361" y="6022803"/>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1" name="Flowchart: Process 90">
            <a:extLst>
              <a:ext uri="{FF2B5EF4-FFF2-40B4-BE49-F238E27FC236}">
                <a16:creationId xmlns:a16="http://schemas.microsoft.com/office/drawing/2014/main" id="{130629FB-DB70-A78A-0C1C-E0832A9A7D26}"/>
              </a:ext>
            </a:extLst>
          </p:cNvPr>
          <p:cNvSpPr/>
          <p:nvPr/>
        </p:nvSpPr>
        <p:spPr>
          <a:xfrm>
            <a:off x="1399094" y="1874207"/>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Ensure all Information is completed (Invoice, Agreement, PO, WHT Rate etc.) with client</a:t>
            </a:r>
          </a:p>
        </p:txBody>
      </p:sp>
      <p:cxnSp>
        <p:nvCxnSpPr>
          <p:cNvPr id="122" name="Straight Arrow Connector 121">
            <a:extLst>
              <a:ext uri="{FF2B5EF4-FFF2-40B4-BE49-F238E27FC236}">
                <a16:creationId xmlns:a16="http://schemas.microsoft.com/office/drawing/2014/main" id="{28EF1366-4DF6-6D4E-4D85-93098758933E}"/>
              </a:ext>
            </a:extLst>
          </p:cNvPr>
          <p:cNvCxnSpPr>
            <a:cxnSpLocks/>
            <a:stCxn id="82" idx="0"/>
            <a:endCxn id="91" idx="2"/>
          </p:cNvCxnSpPr>
          <p:nvPr/>
        </p:nvCxnSpPr>
        <p:spPr>
          <a:xfrm flipH="1" flipV="1">
            <a:off x="2144104" y="2473879"/>
            <a:ext cx="1" cy="3249089"/>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22" name="Flowchart: Decision 21">
            <a:extLst>
              <a:ext uri="{FF2B5EF4-FFF2-40B4-BE49-F238E27FC236}">
                <a16:creationId xmlns:a16="http://schemas.microsoft.com/office/drawing/2014/main" id="{5D75A2C7-089B-4BA2-F7C4-E989EF782711}"/>
              </a:ext>
            </a:extLst>
          </p:cNvPr>
          <p:cNvSpPr>
            <a:spLocks/>
          </p:cNvSpPr>
          <p:nvPr/>
        </p:nvSpPr>
        <p:spPr>
          <a:xfrm>
            <a:off x="3326241" y="1887951"/>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Manual Letter?</a:t>
            </a:r>
          </a:p>
        </p:txBody>
      </p:sp>
      <p:sp>
        <p:nvSpPr>
          <p:cNvPr id="24" name="TextBox 23">
            <a:extLst>
              <a:ext uri="{FF2B5EF4-FFF2-40B4-BE49-F238E27FC236}">
                <a16:creationId xmlns:a16="http://schemas.microsoft.com/office/drawing/2014/main" id="{44A45354-BC00-5F3A-6BFC-C64B6600605B}"/>
              </a:ext>
            </a:extLst>
          </p:cNvPr>
          <p:cNvSpPr txBox="1"/>
          <p:nvPr/>
        </p:nvSpPr>
        <p:spPr>
          <a:xfrm>
            <a:off x="4302847" y="190070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5" name="TextBox 24">
            <a:extLst>
              <a:ext uri="{FF2B5EF4-FFF2-40B4-BE49-F238E27FC236}">
                <a16:creationId xmlns:a16="http://schemas.microsoft.com/office/drawing/2014/main" id="{7638973F-21AF-6228-519E-D4A6753EADDD}"/>
              </a:ext>
            </a:extLst>
          </p:cNvPr>
          <p:cNvSpPr txBox="1"/>
          <p:nvPr/>
        </p:nvSpPr>
        <p:spPr>
          <a:xfrm>
            <a:off x="3600683" y="24528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8" name="Flowchart: Process 27">
            <a:extLst>
              <a:ext uri="{FF2B5EF4-FFF2-40B4-BE49-F238E27FC236}">
                <a16:creationId xmlns:a16="http://schemas.microsoft.com/office/drawing/2014/main" id="{77529EBB-BB0B-E968-B7C2-C8294C2D2BCF}"/>
              </a:ext>
            </a:extLst>
          </p:cNvPr>
          <p:cNvSpPr/>
          <p:nvPr/>
        </p:nvSpPr>
        <p:spPr>
          <a:xfrm>
            <a:off x="5066053" y="1866873"/>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Prepare Transfer Letter</a:t>
            </a:r>
          </a:p>
        </p:txBody>
      </p:sp>
      <p:sp>
        <p:nvSpPr>
          <p:cNvPr id="29" name="Flowchart: Decision 28">
            <a:extLst>
              <a:ext uri="{FF2B5EF4-FFF2-40B4-BE49-F238E27FC236}">
                <a16:creationId xmlns:a16="http://schemas.microsoft.com/office/drawing/2014/main" id="{9A7E9095-342B-C768-283D-DBF3E3373352}"/>
              </a:ext>
            </a:extLst>
          </p:cNvPr>
          <p:cNvSpPr>
            <a:spLocks/>
          </p:cNvSpPr>
          <p:nvPr/>
        </p:nvSpPr>
        <p:spPr>
          <a:xfrm>
            <a:off x="6318474" y="441912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30" name="TextBox 29">
            <a:extLst>
              <a:ext uri="{FF2B5EF4-FFF2-40B4-BE49-F238E27FC236}">
                <a16:creationId xmlns:a16="http://schemas.microsoft.com/office/drawing/2014/main" id="{9A7DAAFD-F134-6AFD-B3E5-B9E6592E9CEC}"/>
              </a:ext>
            </a:extLst>
          </p:cNvPr>
          <p:cNvSpPr txBox="1"/>
          <p:nvPr/>
        </p:nvSpPr>
        <p:spPr>
          <a:xfrm>
            <a:off x="6613838" y="421817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31" name="TextBox 30">
            <a:extLst>
              <a:ext uri="{FF2B5EF4-FFF2-40B4-BE49-F238E27FC236}">
                <a16:creationId xmlns:a16="http://schemas.microsoft.com/office/drawing/2014/main" id="{9BB7A543-96ED-DAD9-8699-449870911172}"/>
              </a:ext>
            </a:extLst>
          </p:cNvPr>
          <p:cNvSpPr txBox="1"/>
          <p:nvPr/>
        </p:nvSpPr>
        <p:spPr>
          <a:xfrm>
            <a:off x="7324578" y="440448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32" name="Flowchart: Process 31">
            <a:extLst>
              <a:ext uri="{FF2B5EF4-FFF2-40B4-BE49-F238E27FC236}">
                <a16:creationId xmlns:a16="http://schemas.microsoft.com/office/drawing/2014/main" id="{FF67ADED-B397-CCF4-F9E5-EF738357E4F9}"/>
              </a:ext>
            </a:extLst>
          </p:cNvPr>
          <p:cNvSpPr/>
          <p:nvPr/>
        </p:nvSpPr>
        <p:spPr>
          <a:xfrm>
            <a:off x="9812831" y="5671760"/>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Forward to PIF SSC Team or Bank for processing</a:t>
            </a:r>
          </a:p>
        </p:txBody>
      </p:sp>
      <p:sp>
        <p:nvSpPr>
          <p:cNvPr id="33" name="Flowchart: Terminator 32">
            <a:extLst>
              <a:ext uri="{FF2B5EF4-FFF2-40B4-BE49-F238E27FC236}">
                <a16:creationId xmlns:a16="http://schemas.microsoft.com/office/drawing/2014/main" id="{CED8F364-5952-6D6A-896C-CBA0CE01A76B}"/>
              </a:ext>
            </a:extLst>
          </p:cNvPr>
          <p:cNvSpPr/>
          <p:nvPr/>
        </p:nvSpPr>
        <p:spPr>
          <a:xfrm>
            <a:off x="11294911" y="5877616"/>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34" name="Straight Arrow Connector 33">
            <a:extLst>
              <a:ext uri="{FF2B5EF4-FFF2-40B4-BE49-F238E27FC236}">
                <a16:creationId xmlns:a16="http://schemas.microsoft.com/office/drawing/2014/main" id="{BFE183D9-851C-6DEF-A98B-C36E6433F73E}"/>
              </a:ext>
            </a:extLst>
          </p:cNvPr>
          <p:cNvCxnSpPr>
            <a:cxnSpLocks/>
            <a:stCxn id="22" idx="3"/>
            <a:endCxn id="28" idx="1"/>
          </p:cNvCxnSpPr>
          <p:nvPr/>
        </p:nvCxnSpPr>
        <p:spPr>
          <a:xfrm flipV="1">
            <a:off x="4628926" y="2166709"/>
            <a:ext cx="437127" cy="7334"/>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AE67235-C547-2EBE-4E20-27A4B64422FF}"/>
              </a:ext>
            </a:extLst>
          </p:cNvPr>
          <p:cNvCxnSpPr>
            <a:cxnSpLocks/>
            <a:stCxn id="62" idx="3"/>
          </p:cNvCxnSpPr>
          <p:nvPr/>
        </p:nvCxnSpPr>
        <p:spPr>
          <a:xfrm flipV="1">
            <a:off x="9165479" y="5971596"/>
            <a:ext cx="647352"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F00AE8BE-42D4-2DFB-C907-D4702752C7EA}"/>
              </a:ext>
            </a:extLst>
          </p:cNvPr>
          <p:cNvCxnSpPr>
            <a:cxnSpLocks/>
          </p:cNvCxnSpPr>
          <p:nvPr/>
        </p:nvCxnSpPr>
        <p:spPr>
          <a:xfrm>
            <a:off x="10937734" y="5971596"/>
            <a:ext cx="35717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5E8317A-4165-C169-86CE-4A679FE175AD}"/>
              </a:ext>
            </a:extLst>
          </p:cNvPr>
          <p:cNvCxnSpPr>
            <a:cxnSpLocks/>
            <a:stCxn id="29" idx="0"/>
            <a:endCxn id="28" idx="0"/>
          </p:cNvCxnSpPr>
          <p:nvPr/>
        </p:nvCxnSpPr>
        <p:spPr>
          <a:xfrm rot="16200000" flipV="1">
            <a:off x="5023034" y="2472345"/>
            <a:ext cx="2552255" cy="1341312"/>
          </a:xfrm>
          <a:prstGeom prst="bentConnector3">
            <a:avLst>
              <a:gd name="adj1" fmla="val 108957"/>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40" name="Flowchart: Process 39">
            <a:extLst>
              <a:ext uri="{FF2B5EF4-FFF2-40B4-BE49-F238E27FC236}">
                <a16:creationId xmlns:a16="http://schemas.microsoft.com/office/drawing/2014/main" id="{214CD2BF-B153-E387-8AFA-A6FB179B666F}"/>
              </a:ext>
            </a:extLst>
          </p:cNvPr>
          <p:cNvSpPr/>
          <p:nvPr/>
        </p:nvSpPr>
        <p:spPr>
          <a:xfrm>
            <a:off x="3415131" y="4405384"/>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E banking upload template shared from Accountant for processing</a:t>
            </a:r>
          </a:p>
        </p:txBody>
      </p:sp>
      <p:cxnSp>
        <p:nvCxnSpPr>
          <p:cNvPr id="44" name="Straight Arrow Connector 43">
            <a:extLst>
              <a:ext uri="{FF2B5EF4-FFF2-40B4-BE49-F238E27FC236}">
                <a16:creationId xmlns:a16="http://schemas.microsoft.com/office/drawing/2014/main" id="{CFB1A6C7-C4F1-FB54-0D34-BC66340EEBD6}"/>
              </a:ext>
            </a:extLst>
          </p:cNvPr>
          <p:cNvCxnSpPr>
            <a:cxnSpLocks/>
            <a:stCxn id="91" idx="3"/>
            <a:endCxn id="22" idx="1"/>
          </p:cNvCxnSpPr>
          <p:nvPr/>
        </p:nvCxnSpPr>
        <p:spPr>
          <a:xfrm>
            <a:off x="2889114" y="2174043"/>
            <a:ext cx="43712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6B238B6E-3458-639B-999B-5864395D0DD3}"/>
              </a:ext>
            </a:extLst>
          </p:cNvPr>
          <p:cNvCxnSpPr>
            <a:cxnSpLocks/>
            <a:stCxn id="28" idx="2"/>
            <a:endCxn id="29" idx="1"/>
          </p:cNvCxnSpPr>
          <p:nvPr/>
        </p:nvCxnSpPr>
        <p:spPr>
          <a:xfrm rot="16200000" flipH="1">
            <a:off x="4854152" y="3240897"/>
            <a:ext cx="2238675" cy="68996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56" name="Flowchart: Process 55">
            <a:extLst>
              <a:ext uri="{FF2B5EF4-FFF2-40B4-BE49-F238E27FC236}">
                <a16:creationId xmlns:a16="http://schemas.microsoft.com/office/drawing/2014/main" id="{E40391AF-5242-BB0F-8D05-05765C5BA43D}"/>
              </a:ext>
            </a:extLst>
          </p:cNvPr>
          <p:cNvSpPr/>
          <p:nvPr/>
        </p:nvSpPr>
        <p:spPr>
          <a:xfrm>
            <a:off x="3415131" y="3213417"/>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cxnSp>
        <p:nvCxnSpPr>
          <p:cNvPr id="58" name="Straight Arrow Connector 57">
            <a:extLst>
              <a:ext uri="{FF2B5EF4-FFF2-40B4-BE49-F238E27FC236}">
                <a16:creationId xmlns:a16="http://schemas.microsoft.com/office/drawing/2014/main" id="{44D9362A-7A36-3BD0-2AFF-590C24E28157}"/>
              </a:ext>
            </a:extLst>
          </p:cNvPr>
          <p:cNvCxnSpPr>
            <a:cxnSpLocks/>
            <a:stCxn id="56" idx="2"/>
            <a:endCxn id="40" idx="0"/>
          </p:cNvCxnSpPr>
          <p:nvPr/>
        </p:nvCxnSpPr>
        <p:spPr>
          <a:xfrm>
            <a:off x="3977583" y="3813089"/>
            <a:ext cx="0" cy="592295"/>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62" name="Flowchart: Decision 61">
            <a:extLst>
              <a:ext uri="{FF2B5EF4-FFF2-40B4-BE49-F238E27FC236}">
                <a16:creationId xmlns:a16="http://schemas.microsoft.com/office/drawing/2014/main" id="{D2203AAE-1965-C32D-6926-DA8C17B4373E}"/>
              </a:ext>
            </a:extLst>
          </p:cNvPr>
          <p:cNvSpPr>
            <a:spLocks/>
          </p:cNvSpPr>
          <p:nvPr/>
        </p:nvSpPr>
        <p:spPr>
          <a:xfrm>
            <a:off x="7862794" y="5685505"/>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Approved?</a:t>
            </a:r>
          </a:p>
        </p:txBody>
      </p:sp>
      <p:cxnSp>
        <p:nvCxnSpPr>
          <p:cNvPr id="64" name="Connector: Elbow 63">
            <a:extLst>
              <a:ext uri="{FF2B5EF4-FFF2-40B4-BE49-F238E27FC236}">
                <a16:creationId xmlns:a16="http://schemas.microsoft.com/office/drawing/2014/main" id="{C8B2020C-8743-D72F-76A8-F164A204E464}"/>
              </a:ext>
            </a:extLst>
          </p:cNvPr>
          <p:cNvCxnSpPr>
            <a:cxnSpLocks/>
            <a:stCxn id="29" idx="3"/>
            <a:endCxn id="62" idx="0"/>
          </p:cNvCxnSpPr>
          <p:nvPr/>
        </p:nvCxnSpPr>
        <p:spPr>
          <a:xfrm>
            <a:off x="7621159" y="4705220"/>
            <a:ext cx="892978" cy="980285"/>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4011776E-7F4F-3F2A-EA96-272F56953A4E}"/>
              </a:ext>
            </a:extLst>
          </p:cNvPr>
          <p:cNvSpPr txBox="1"/>
          <p:nvPr/>
        </p:nvSpPr>
        <p:spPr>
          <a:xfrm>
            <a:off x="8514136" y="6232503"/>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cxnSp>
        <p:nvCxnSpPr>
          <p:cNvPr id="68" name="Connector: Elbow 67">
            <a:extLst>
              <a:ext uri="{FF2B5EF4-FFF2-40B4-BE49-F238E27FC236}">
                <a16:creationId xmlns:a16="http://schemas.microsoft.com/office/drawing/2014/main" id="{36BEBF63-82D6-916D-7D19-611F35C54C5C}"/>
              </a:ext>
            </a:extLst>
          </p:cNvPr>
          <p:cNvCxnSpPr>
            <a:cxnSpLocks/>
            <a:stCxn id="62" idx="2"/>
            <a:endCxn id="29" idx="2"/>
          </p:cNvCxnSpPr>
          <p:nvPr/>
        </p:nvCxnSpPr>
        <p:spPr>
          <a:xfrm rot="5400000" flipH="1">
            <a:off x="7108788" y="4852340"/>
            <a:ext cx="1266377" cy="1544320"/>
          </a:xfrm>
          <a:prstGeom prst="bentConnector3">
            <a:avLst>
              <a:gd name="adj1" fmla="val -18051"/>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5B4A14A6-7AB1-8257-00FD-851AAB242DE5}"/>
              </a:ext>
            </a:extLst>
          </p:cNvPr>
          <p:cNvSpPr txBox="1"/>
          <p:nvPr/>
        </p:nvSpPr>
        <p:spPr>
          <a:xfrm>
            <a:off x="8991734" y="570744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cxnSp>
        <p:nvCxnSpPr>
          <p:cNvPr id="73" name="Straight Arrow Connector 72">
            <a:extLst>
              <a:ext uri="{FF2B5EF4-FFF2-40B4-BE49-F238E27FC236}">
                <a16:creationId xmlns:a16="http://schemas.microsoft.com/office/drawing/2014/main" id="{F95AAE54-792C-3F69-CEB1-922D0389167E}"/>
              </a:ext>
            </a:extLst>
          </p:cNvPr>
          <p:cNvCxnSpPr>
            <a:cxnSpLocks/>
            <a:stCxn id="22" idx="2"/>
            <a:endCxn id="56" idx="0"/>
          </p:cNvCxnSpPr>
          <p:nvPr/>
        </p:nvCxnSpPr>
        <p:spPr>
          <a:xfrm flipH="1">
            <a:off x="3977583" y="2460134"/>
            <a:ext cx="1" cy="753283"/>
          </a:xfrm>
          <a:prstGeom prst="straightConnector1">
            <a:avLst/>
          </a:prstGeom>
          <a:ln w="9525">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6300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AA22-ACFA-6907-3A51-8FFAE499274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9C524D9-BD30-1C50-2797-41155385E20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E9C524D9-BD30-1C50-2797-41155385E20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40E0D3-23BF-058B-8260-A682FCA761B3}"/>
              </a:ext>
            </a:extLst>
          </p:cNvPr>
          <p:cNvSpPr>
            <a:spLocks noGrp="1"/>
          </p:cNvSpPr>
          <p:nvPr>
            <p:ph type="title"/>
          </p:nvPr>
        </p:nvSpPr>
        <p:spPr>
          <a:xfrm>
            <a:off x="488632" y="377363"/>
            <a:ext cx="9358101" cy="502766"/>
          </a:xfrm>
        </p:spPr>
        <p:txBody>
          <a:bodyPr vert="horz">
            <a:normAutofit fontScale="90000"/>
          </a:bodyPr>
          <a:lstStyle/>
          <a:p>
            <a:r>
              <a:rPr lang="en-US"/>
              <a:t>Finance &amp; Accounting Processes – Period End Closing and Financial Reporting</a:t>
            </a:r>
          </a:p>
        </p:txBody>
      </p:sp>
      <p:sp>
        <p:nvSpPr>
          <p:cNvPr id="195" name="Title 2">
            <a:extLst>
              <a:ext uri="{FF2B5EF4-FFF2-40B4-BE49-F238E27FC236}">
                <a16:creationId xmlns:a16="http://schemas.microsoft.com/office/drawing/2014/main" id="{A926536B-8259-11E2-7018-029F781AE814}"/>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48969AC5-FB5A-F7A6-AA7E-36D2C0145904}"/>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FAP_100_006 – Preparation of BRS, Fixed Asset Register, AP, AR, Accruals, Payroll Recon. and related Period End Schedules</a:t>
            </a:r>
          </a:p>
        </p:txBody>
      </p:sp>
      <p:sp>
        <p:nvSpPr>
          <p:cNvPr id="17" name="Rectangle 16">
            <a:extLst>
              <a:ext uri="{FF2B5EF4-FFF2-40B4-BE49-F238E27FC236}">
                <a16:creationId xmlns:a16="http://schemas.microsoft.com/office/drawing/2014/main" id="{6EA81AA7-503A-5FED-46FF-9C1BB71C6399}"/>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08E755D1-3D62-4BDC-ECB3-9F209CC0ACE0}"/>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D29B4431-1FD9-618B-37B9-73E3929231D2}"/>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2BFF4F4D-18C8-F4D2-1EBA-3A033477BAAB}"/>
              </a:ext>
            </a:extLst>
          </p:cNvPr>
          <p:cNvSpPr>
            <a:spLocks/>
          </p:cNvSpPr>
          <p:nvPr/>
        </p:nvSpPr>
        <p:spPr>
          <a:xfrm>
            <a:off x="157122" y="153663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(Tasama)</a:t>
            </a:r>
          </a:p>
        </p:txBody>
      </p:sp>
      <p:sp>
        <p:nvSpPr>
          <p:cNvPr id="11" name="Rectangle 10">
            <a:extLst>
              <a:ext uri="{FF2B5EF4-FFF2-40B4-BE49-F238E27FC236}">
                <a16:creationId xmlns:a16="http://schemas.microsoft.com/office/drawing/2014/main" id="{0FD6AECA-D9B5-0BB7-10F9-A62726CEFBEC}"/>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0096F464-0633-E05B-F899-432F550A7CB7}"/>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82" name="Flowchart: Process 81">
            <a:extLst>
              <a:ext uri="{FF2B5EF4-FFF2-40B4-BE49-F238E27FC236}">
                <a16:creationId xmlns:a16="http://schemas.microsoft.com/office/drawing/2014/main" id="{4453CA5D-6D69-43AE-9026-FB39E950F729}"/>
              </a:ext>
            </a:extLst>
          </p:cNvPr>
          <p:cNvSpPr>
            <a:spLocks/>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Prepare all Schedules (including BRS, FA Register, Prepayments, AP, AR etc.)</a:t>
            </a:r>
          </a:p>
        </p:txBody>
      </p:sp>
      <p:sp>
        <p:nvSpPr>
          <p:cNvPr id="85" name="Flowchart: Terminator 84">
            <a:extLst>
              <a:ext uri="{FF2B5EF4-FFF2-40B4-BE49-F238E27FC236}">
                <a16:creationId xmlns:a16="http://schemas.microsoft.com/office/drawing/2014/main" id="{D8CD1D5F-DA96-51A2-7C17-430AB97F4B6A}"/>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0F8D65E2-1A90-F052-B8D5-9C798239359D}"/>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9" name="Flowchart: Process 98">
            <a:extLst>
              <a:ext uri="{FF2B5EF4-FFF2-40B4-BE49-F238E27FC236}">
                <a16:creationId xmlns:a16="http://schemas.microsoft.com/office/drawing/2014/main" id="{2B9C4155-E5A5-D03D-9CF4-6C6D2A7B7397}"/>
              </a:ext>
            </a:extLst>
          </p:cNvPr>
          <p:cNvSpPr/>
          <p:nvPr/>
        </p:nvSpPr>
        <p:spPr>
          <a:xfrm>
            <a:off x="8941343" y="3139008"/>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Management Accounts and share with client</a:t>
            </a:r>
          </a:p>
        </p:txBody>
      </p:sp>
      <p:sp>
        <p:nvSpPr>
          <p:cNvPr id="100" name="Flowchart: Decision 99">
            <a:extLst>
              <a:ext uri="{FF2B5EF4-FFF2-40B4-BE49-F238E27FC236}">
                <a16:creationId xmlns:a16="http://schemas.microsoft.com/office/drawing/2014/main" id="{B5598CB1-193F-AC92-366E-CDB49394E2AB}"/>
              </a:ext>
            </a:extLst>
          </p:cNvPr>
          <p:cNvSpPr>
            <a:spLocks/>
          </p:cNvSpPr>
          <p:nvPr/>
        </p:nvSpPr>
        <p:spPr>
          <a:xfrm>
            <a:off x="3491941" y="1855731"/>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 line with the company policy?</a:t>
            </a:r>
          </a:p>
        </p:txBody>
      </p:sp>
      <p:sp>
        <p:nvSpPr>
          <p:cNvPr id="102" name="TextBox 101">
            <a:extLst>
              <a:ext uri="{FF2B5EF4-FFF2-40B4-BE49-F238E27FC236}">
                <a16:creationId xmlns:a16="http://schemas.microsoft.com/office/drawing/2014/main" id="{69490FFE-9DF2-1E4D-8067-1343622E343B}"/>
              </a:ext>
            </a:extLst>
          </p:cNvPr>
          <p:cNvSpPr txBox="1"/>
          <p:nvPr/>
        </p:nvSpPr>
        <p:spPr>
          <a:xfrm>
            <a:off x="4468547" y="188988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01" name="TextBox 100">
            <a:extLst>
              <a:ext uri="{FF2B5EF4-FFF2-40B4-BE49-F238E27FC236}">
                <a16:creationId xmlns:a16="http://schemas.microsoft.com/office/drawing/2014/main" id="{748197ED-BFA7-8D8F-57ED-2E1C4E9F210A}"/>
              </a:ext>
            </a:extLst>
          </p:cNvPr>
          <p:cNvSpPr txBox="1"/>
          <p:nvPr/>
        </p:nvSpPr>
        <p:spPr>
          <a:xfrm>
            <a:off x="3766383" y="244201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5" name="Flowchart: Process 4">
            <a:extLst>
              <a:ext uri="{FF2B5EF4-FFF2-40B4-BE49-F238E27FC236}">
                <a16:creationId xmlns:a16="http://schemas.microsoft.com/office/drawing/2014/main" id="{BD15B0B2-9D1C-07DD-8994-9D3ECD897B9B}"/>
              </a:ext>
            </a:extLst>
          </p:cNvPr>
          <p:cNvSpPr>
            <a:spLocks/>
          </p:cNvSpPr>
          <p:nvPr/>
        </p:nvSpPr>
        <p:spPr>
          <a:xfrm>
            <a:off x="3398274" y="314341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issue and share update with Accountant</a:t>
            </a:r>
          </a:p>
        </p:txBody>
      </p:sp>
      <p:sp>
        <p:nvSpPr>
          <p:cNvPr id="19" name="Flowchart: Decision 18">
            <a:extLst>
              <a:ext uri="{FF2B5EF4-FFF2-40B4-BE49-F238E27FC236}">
                <a16:creationId xmlns:a16="http://schemas.microsoft.com/office/drawing/2014/main" id="{7DEB88DD-D2A3-A109-79C6-E36EA6CE3B05}"/>
              </a:ext>
            </a:extLst>
          </p:cNvPr>
          <p:cNvSpPr>
            <a:spLocks/>
          </p:cNvSpPr>
          <p:nvPr/>
        </p:nvSpPr>
        <p:spPr>
          <a:xfrm>
            <a:off x="6925665" y="315450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20" name="TextBox 19">
            <a:extLst>
              <a:ext uri="{FF2B5EF4-FFF2-40B4-BE49-F238E27FC236}">
                <a16:creationId xmlns:a16="http://schemas.microsoft.com/office/drawing/2014/main" id="{D5A84D50-6E62-A2DA-C71B-743571C49AA7}"/>
              </a:ext>
            </a:extLst>
          </p:cNvPr>
          <p:cNvSpPr txBox="1"/>
          <p:nvPr/>
        </p:nvSpPr>
        <p:spPr>
          <a:xfrm>
            <a:off x="7652932" y="296632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1" name="TextBox 20">
            <a:extLst>
              <a:ext uri="{FF2B5EF4-FFF2-40B4-BE49-F238E27FC236}">
                <a16:creationId xmlns:a16="http://schemas.microsoft.com/office/drawing/2014/main" id="{5C079065-2A4C-A7AB-FC45-3AD488946B85}"/>
              </a:ext>
            </a:extLst>
          </p:cNvPr>
          <p:cNvSpPr txBox="1"/>
          <p:nvPr/>
        </p:nvSpPr>
        <p:spPr>
          <a:xfrm>
            <a:off x="8157230" y="345147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4" name="Flowchart: Terminator 23">
            <a:extLst>
              <a:ext uri="{FF2B5EF4-FFF2-40B4-BE49-F238E27FC236}">
                <a16:creationId xmlns:a16="http://schemas.microsoft.com/office/drawing/2014/main" id="{8B070CDC-7965-3747-E576-57979F5ADC01}"/>
              </a:ext>
            </a:extLst>
          </p:cNvPr>
          <p:cNvSpPr/>
          <p:nvPr/>
        </p:nvSpPr>
        <p:spPr>
          <a:xfrm>
            <a:off x="10743834" y="4591667"/>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5" name="Straight Arrow Connector 24">
            <a:extLst>
              <a:ext uri="{FF2B5EF4-FFF2-40B4-BE49-F238E27FC236}">
                <a16:creationId xmlns:a16="http://schemas.microsoft.com/office/drawing/2014/main" id="{DC990C71-3178-7378-44DB-6CEEA71AE2E2}"/>
              </a:ext>
            </a:extLst>
          </p:cNvPr>
          <p:cNvCxnSpPr>
            <a:cxnSpLocks/>
            <a:stCxn id="82" idx="3"/>
            <a:endCxn id="100" idx="1"/>
          </p:cNvCxnSpPr>
          <p:nvPr/>
        </p:nvCxnSpPr>
        <p:spPr>
          <a:xfrm>
            <a:off x="2889115" y="2141822"/>
            <a:ext cx="60282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D725B88-C6A2-1921-573B-670783BF76D2}"/>
              </a:ext>
            </a:extLst>
          </p:cNvPr>
          <p:cNvCxnSpPr>
            <a:cxnSpLocks/>
            <a:stCxn id="100" idx="2"/>
            <a:endCxn id="5" idx="0"/>
          </p:cNvCxnSpPr>
          <p:nvPr/>
        </p:nvCxnSpPr>
        <p:spPr>
          <a:xfrm>
            <a:off x="4143284" y="2427914"/>
            <a:ext cx="0" cy="715502"/>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8769D90-9B76-ED00-894F-12DBE5FF4A2D}"/>
              </a:ext>
            </a:extLst>
          </p:cNvPr>
          <p:cNvCxnSpPr>
            <a:cxnSpLocks/>
            <a:stCxn id="100" idx="3"/>
            <a:endCxn id="29" idx="1"/>
          </p:cNvCxnSpPr>
          <p:nvPr/>
        </p:nvCxnSpPr>
        <p:spPr>
          <a:xfrm flipV="1">
            <a:off x="4794626" y="2141822"/>
            <a:ext cx="610030"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5CA37D70-871D-8A35-9275-39E4E1AC0721}"/>
              </a:ext>
            </a:extLst>
          </p:cNvPr>
          <p:cNvCxnSpPr>
            <a:cxnSpLocks/>
            <a:stCxn id="7" idx="3"/>
          </p:cNvCxnSpPr>
          <p:nvPr/>
        </p:nvCxnSpPr>
        <p:spPr>
          <a:xfrm flipV="1">
            <a:off x="10155138" y="4685646"/>
            <a:ext cx="58869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755DB74F-117E-FE37-65C8-42DCAEDA1B50}"/>
              </a:ext>
            </a:extLst>
          </p:cNvPr>
          <p:cNvCxnSpPr>
            <a:cxnSpLocks/>
            <a:stCxn id="5" idx="1"/>
            <a:endCxn id="82" idx="2"/>
          </p:cNvCxnSpPr>
          <p:nvPr/>
        </p:nvCxnSpPr>
        <p:spPr>
          <a:xfrm rot="10800000">
            <a:off x="2144106" y="2441658"/>
            <a:ext cx="1254169" cy="1001594"/>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7" name="Flowchart: Decision 6">
            <a:extLst>
              <a:ext uri="{FF2B5EF4-FFF2-40B4-BE49-F238E27FC236}">
                <a16:creationId xmlns:a16="http://schemas.microsoft.com/office/drawing/2014/main" id="{DAACB38C-91E3-E840-B00E-1E5276B13D59}"/>
              </a:ext>
            </a:extLst>
          </p:cNvPr>
          <p:cNvSpPr>
            <a:spLocks/>
          </p:cNvSpPr>
          <p:nvPr/>
        </p:nvSpPr>
        <p:spPr>
          <a:xfrm>
            <a:off x="8852453" y="4399555"/>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Approved?</a:t>
            </a:r>
          </a:p>
        </p:txBody>
      </p:sp>
      <p:sp>
        <p:nvSpPr>
          <p:cNvPr id="8" name="TextBox 7">
            <a:extLst>
              <a:ext uri="{FF2B5EF4-FFF2-40B4-BE49-F238E27FC236}">
                <a16:creationId xmlns:a16="http://schemas.microsoft.com/office/drawing/2014/main" id="{7B151604-7C30-2B47-CC91-6F500246B1CF}"/>
              </a:ext>
            </a:extLst>
          </p:cNvPr>
          <p:cNvSpPr txBox="1"/>
          <p:nvPr/>
        </p:nvSpPr>
        <p:spPr>
          <a:xfrm>
            <a:off x="10019084"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3" name="TextBox 12">
            <a:extLst>
              <a:ext uri="{FF2B5EF4-FFF2-40B4-BE49-F238E27FC236}">
                <a16:creationId xmlns:a16="http://schemas.microsoft.com/office/drawing/2014/main" id="{EF3B3526-E7C9-A2B5-91AD-36445E122A7E}"/>
              </a:ext>
            </a:extLst>
          </p:cNvPr>
          <p:cNvSpPr txBox="1"/>
          <p:nvPr/>
        </p:nvSpPr>
        <p:spPr>
          <a:xfrm>
            <a:off x="8671466"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9" name="Flowchart: Process 28">
            <a:extLst>
              <a:ext uri="{FF2B5EF4-FFF2-40B4-BE49-F238E27FC236}">
                <a16:creationId xmlns:a16="http://schemas.microsoft.com/office/drawing/2014/main" id="{4E528A7C-B205-ED34-D99D-EB82BDA7F587}"/>
              </a:ext>
            </a:extLst>
          </p:cNvPr>
          <p:cNvSpPr>
            <a:spLocks/>
          </p:cNvSpPr>
          <p:nvPr/>
        </p:nvSpPr>
        <p:spPr>
          <a:xfrm>
            <a:off x="5404656"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Finalize and share for review</a:t>
            </a:r>
          </a:p>
        </p:txBody>
      </p:sp>
      <p:cxnSp>
        <p:nvCxnSpPr>
          <p:cNvPr id="32" name="Connector: Elbow 31">
            <a:extLst>
              <a:ext uri="{FF2B5EF4-FFF2-40B4-BE49-F238E27FC236}">
                <a16:creationId xmlns:a16="http://schemas.microsoft.com/office/drawing/2014/main" id="{B7E9523D-1F25-BC3C-5812-7D5F07DD0626}"/>
              </a:ext>
            </a:extLst>
          </p:cNvPr>
          <p:cNvCxnSpPr>
            <a:cxnSpLocks/>
            <a:stCxn id="29" idx="2"/>
            <a:endCxn id="19" idx="1"/>
          </p:cNvCxnSpPr>
          <p:nvPr/>
        </p:nvCxnSpPr>
        <p:spPr>
          <a:xfrm rot="16200000" flipH="1">
            <a:off x="6038194" y="2553129"/>
            <a:ext cx="998942" cy="77599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EE31F5BC-DFF6-7480-AF47-3CC65C3CEA33}"/>
              </a:ext>
            </a:extLst>
          </p:cNvPr>
          <p:cNvCxnSpPr>
            <a:cxnSpLocks/>
            <a:stCxn id="19" idx="0"/>
            <a:endCxn id="29" idx="0"/>
          </p:cNvCxnSpPr>
          <p:nvPr/>
        </p:nvCxnSpPr>
        <p:spPr>
          <a:xfrm rot="16200000" flipV="1">
            <a:off x="6207076" y="1784576"/>
            <a:ext cx="1312522" cy="1427342"/>
          </a:xfrm>
          <a:prstGeom prst="bentConnector3">
            <a:avLst>
              <a:gd name="adj1" fmla="val 112773"/>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012271EB-5D89-696D-D582-565B72A0E3B3}"/>
              </a:ext>
            </a:extLst>
          </p:cNvPr>
          <p:cNvCxnSpPr>
            <a:cxnSpLocks/>
            <a:stCxn id="19" idx="3"/>
            <a:endCxn id="99" idx="1"/>
          </p:cNvCxnSpPr>
          <p:nvPr/>
        </p:nvCxnSpPr>
        <p:spPr>
          <a:xfrm flipV="1">
            <a:off x="8228350" y="3438844"/>
            <a:ext cx="712993" cy="1756"/>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1F5635DD-348B-5E26-7898-FE73EC2C78FC}"/>
              </a:ext>
            </a:extLst>
          </p:cNvPr>
          <p:cNvCxnSpPr>
            <a:cxnSpLocks/>
            <a:stCxn id="99" idx="2"/>
            <a:endCxn id="7" idx="0"/>
          </p:cNvCxnSpPr>
          <p:nvPr/>
        </p:nvCxnSpPr>
        <p:spPr>
          <a:xfrm>
            <a:off x="9503795" y="3738680"/>
            <a:ext cx="1" cy="660875"/>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44862735-EEE5-96A7-F185-A1EFBCB5C99C}"/>
              </a:ext>
            </a:extLst>
          </p:cNvPr>
          <p:cNvCxnSpPr>
            <a:cxnSpLocks/>
            <a:stCxn id="7" idx="1"/>
            <a:endCxn id="19" idx="2"/>
          </p:cNvCxnSpPr>
          <p:nvPr/>
        </p:nvCxnSpPr>
        <p:spPr>
          <a:xfrm rot="10800000">
            <a:off x="7577009" y="3726691"/>
            <a:ext cx="1275445" cy="958956"/>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5936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F23FC-A139-A8EB-A74C-3498B261F4D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89F516C-BB8E-7E72-A92C-4737DD73B3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489F516C-BB8E-7E72-A92C-4737DD73B3F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52CD395-C28F-6B93-7F1E-50433F949175}"/>
              </a:ext>
            </a:extLst>
          </p:cNvPr>
          <p:cNvSpPr>
            <a:spLocks noGrp="1"/>
          </p:cNvSpPr>
          <p:nvPr>
            <p:ph type="title"/>
          </p:nvPr>
        </p:nvSpPr>
        <p:spPr>
          <a:xfrm>
            <a:off x="488632" y="377363"/>
            <a:ext cx="9358101" cy="502766"/>
          </a:xfrm>
        </p:spPr>
        <p:txBody>
          <a:bodyPr vert="horz">
            <a:normAutofit fontScale="90000"/>
          </a:bodyPr>
          <a:lstStyle/>
          <a:p>
            <a:r>
              <a:rPr lang="en-US"/>
              <a:t>Finance &amp; Accounting Processes – Period End Closing and Financial Reporting</a:t>
            </a:r>
          </a:p>
        </p:txBody>
      </p:sp>
      <p:sp>
        <p:nvSpPr>
          <p:cNvPr id="195" name="Title 2">
            <a:extLst>
              <a:ext uri="{FF2B5EF4-FFF2-40B4-BE49-F238E27FC236}">
                <a16:creationId xmlns:a16="http://schemas.microsoft.com/office/drawing/2014/main" id="{36A78CD8-CBF7-A69E-136D-E583AF67576C}"/>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AC9C1A0E-8739-C8B7-4E57-1DEE7CD88095}"/>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FAP_100_008 – Preparation of Management Accounts with all relevant Schedules</a:t>
            </a:r>
          </a:p>
        </p:txBody>
      </p:sp>
      <p:sp>
        <p:nvSpPr>
          <p:cNvPr id="17" name="Rectangle 16">
            <a:extLst>
              <a:ext uri="{FF2B5EF4-FFF2-40B4-BE49-F238E27FC236}">
                <a16:creationId xmlns:a16="http://schemas.microsoft.com/office/drawing/2014/main" id="{594C0693-B5F4-7E59-9465-6236E7DB90D6}"/>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73B00DD7-D882-476B-7FD3-B259D9C2A807}"/>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94FDA43E-A4FF-3A53-4A08-3D68EC0FEA00}"/>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B72AE684-D04A-141E-12BF-725E7B1FD048}"/>
              </a:ext>
            </a:extLst>
          </p:cNvPr>
          <p:cNvSpPr>
            <a:spLocks/>
          </p:cNvSpPr>
          <p:nvPr/>
        </p:nvSpPr>
        <p:spPr>
          <a:xfrm>
            <a:off x="157122" y="153663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5E02D6CA-E2B3-93C5-560E-8A3BE3DC9759}"/>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FC2034A1-4CEF-3CA3-9609-791243B9F679}"/>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82" name="Flowchart: Process 81">
            <a:extLst>
              <a:ext uri="{FF2B5EF4-FFF2-40B4-BE49-F238E27FC236}">
                <a16:creationId xmlns:a16="http://schemas.microsoft.com/office/drawing/2014/main" id="{FFB0B594-B141-70B1-FEDD-8F43D9CFB3DA}"/>
              </a:ext>
            </a:extLst>
          </p:cNvPr>
          <p:cNvSpPr>
            <a:spLocks/>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Prepare Management Accounts for period end</a:t>
            </a:r>
          </a:p>
        </p:txBody>
      </p:sp>
      <p:sp>
        <p:nvSpPr>
          <p:cNvPr id="85" name="Flowchart: Terminator 84">
            <a:extLst>
              <a:ext uri="{FF2B5EF4-FFF2-40B4-BE49-F238E27FC236}">
                <a16:creationId xmlns:a16="http://schemas.microsoft.com/office/drawing/2014/main" id="{2CD144EC-12B4-C9D0-D1CE-1C2B670FE314}"/>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A1DBF7C7-1F05-B639-6AC9-81E63FF288F6}"/>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99" name="Flowchart: Process 98">
            <a:extLst>
              <a:ext uri="{FF2B5EF4-FFF2-40B4-BE49-F238E27FC236}">
                <a16:creationId xmlns:a16="http://schemas.microsoft.com/office/drawing/2014/main" id="{DD3AD933-0878-55C6-7061-46B7D8CCDD66}"/>
              </a:ext>
            </a:extLst>
          </p:cNvPr>
          <p:cNvSpPr/>
          <p:nvPr/>
        </p:nvSpPr>
        <p:spPr>
          <a:xfrm>
            <a:off x="8941343" y="3139008"/>
            <a:ext cx="1124903"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Management Accounts and share with client</a:t>
            </a:r>
          </a:p>
        </p:txBody>
      </p:sp>
      <p:sp>
        <p:nvSpPr>
          <p:cNvPr id="100" name="Flowchart: Decision 99">
            <a:extLst>
              <a:ext uri="{FF2B5EF4-FFF2-40B4-BE49-F238E27FC236}">
                <a16:creationId xmlns:a16="http://schemas.microsoft.com/office/drawing/2014/main" id="{80E14232-B856-D275-14A1-AD796A5CFB8C}"/>
              </a:ext>
            </a:extLst>
          </p:cNvPr>
          <p:cNvSpPr>
            <a:spLocks/>
          </p:cNvSpPr>
          <p:nvPr/>
        </p:nvSpPr>
        <p:spPr>
          <a:xfrm>
            <a:off x="3491941" y="1855731"/>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 line with the company policy?</a:t>
            </a:r>
          </a:p>
        </p:txBody>
      </p:sp>
      <p:sp>
        <p:nvSpPr>
          <p:cNvPr id="102" name="TextBox 101">
            <a:extLst>
              <a:ext uri="{FF2B5EF4-FFF2-40B4-BE49-F238E27FC236}">
                <a16:creationId xmlns:a16="http://schemas.microsoft.com/office/drawing/2014/main" id="{3DDD0A73-E3A2-F9B5-0754-20CA7D855867}"/>
              </a:ext>
            </a:extLst>
          </p:cNvPr>
          <p:cNvSpPr txBox="1"/>
          <p:nvPr/>
        </p:nvSpPr>
        <p:spPr>
          <a:xfrm>
            <a:off x="4468547" y="188988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01" name="TextBox 100">
            <a:extLst>
              <a:ext uri="{FF2B5EF4-FFF2-40B4-BE49-F238E27FC236}">
                <a16:creationId xmlns:a16="http://schemas.microsoft.com/office/drawing/2014/main" id="{95209555-B3F9-4233-1200-002E1C4B9996}"/>
              </a:ext>
            </a:extLst>
          </p:cNvPr>
          <p:cNvSpPr txBox="1"/>
          <p:nvPr/>
        </p:nvSpPr>
        <p:spPr>
          <a:xfrm>
            <a:off x="3766383" y="244201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5" name="Flowchart: Process 4">
            <a:extLst>
              <a:ext uri="{FF2B5EF4-FFF2-40B4-BE49-F238E27FC236}">
                <a16:creationId xmlns:a16="http://schemas.microsoft.com/office/drawing/2014/main" id="{0056B3B9-AE56-6FCA-46CD-798E015CC12E}"/>
              </a:ext>
            </a:extLst>
          </p:cNvPr>
          <p:cNvSpPr>
            <a:spLocks/>
          </p:cNvSpPr>
          <p:nvPr/>
        </p:nvSpPr>
        <p:spPr>
          <a:xfrm>
            <a:off x="3398274" y="314341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issue and share update with Accountant</a:t>
            </a:r>
          </a:p>
        </p:txBody>
      </p:sp>
      <p:sp>
        <p:nvSpPr>
          <p:cNvPr id="19" name="Flowchart: Decision 18">
            <a:extLst>
              <a:ext uri="{FF2B5EF4-FFF2-40B4-BE49-F238E27FC236}">
                <a16:creationId xmlns:a16="http://schemas.microsoft.com/office/drawing/2014/main" id="{FFF7F350-B3A8-208E-759C-C7010F9CB5C4}"/>
              </a:ext>
            </a:extLst>
          </p:cNvPr>
          <p:cNvSpPr>
            <a:spLocks/>
          </p:cNvSpPr>
          <p:nvPr/>
        </p:nvSpPr>
        <p:spPr>
          <a:xfrm>
            <a:off x="6925665" y="315450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20" name="TextBox 19">
            <a:extLst>
              <a:ext uri="{FF2B5EF4-FFF2-40B4-BE49-F238E27FC236}">
                <a16:creationId xmlns:a16="http://schemas.microsoft.com/office/drawing/2014/main" id="{4FBD0104-5593-A190-4384-9752FB4BE506}"/>
              </a:ext>
            </a:extLst>
          </p:cNvPr>
          <p:cNvSpPr txBox="1"/>
          <p:nvPr/>
        </p:nvSpPr>
        <p:spPr>
          <a:xfrm>
            <a:off x="7652932" y="296632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1" name="TextBox 20">
            <a:extLst>
              <a:ext uri="{FF2B5EF4-FFF2-40B4-BE49-F238E27FC236}">
                <a16:creationId xmlns:a16="http://schemas.microsoft.com/office/drawing/2014/main" id="{E74842B0-A80F-7CFC-1180-67FB7D3EA173}"/>
              </a:ext>
            </a:extLst>
          </p:cNvPr>
          <p:cNvSpPr txBox="1"/>
          <p:nvPr/>
        </p:nvSpPr>
        <p:spPr>
          <a:xfrm>
            <a:off x="8157230" y="345147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4" name="Flowchart: Terminator 23">
            <a:extLst>
              <a:ext uri="{FF2B5EF4-FFF2-40B4-BE49-F238E27FC236}">
                <a16:creationId xmlns:a16="http://schemas.microsoft.com/office/drawing/2014/main" id="{185FC19E-CC41-B2E3-3904-E032C6894C2C}"/>
              </a:ext>
            </a:extLst>
          </p:cNvPr>
          <p:cNvSpPr/>
          <p:nvPr/>
        </p:nvSpPr>
        <p:spPr>
          <a:xfrm>
            <a:off x="10743834" y="4591667"/>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5" name="Straight Arrow Connector 24">
            <a:extLst>
              <a:ext uri="{FF2B5EF4-FFF2-40B4-BE49-F238E27FC236}">
                <a16:creationId xmlns:a16="http://schemas.microsoft.com/office/drawing/2014/main" id="{27AD35B3-F171-9FFE-FEF2-05B9F2D75D7D}"/>
              </a:ext>
            </a:extLst>
          </p:cNvPr>
          <p:cNvCxnSpPr>
            <a:cxnSpLocks/>
            <a:stCxn id="82" idx="3"/>
            <a:endCxn id="100" idx="1"/>
          </p:cNvCxnSpPr>
          <p:nvPr/>
        </p:nvCxnSpPr>
        <p:spPr>
          <a:xfrm>
            <a:off x="2889115" y="2141822"/>
            <a:ext cx="60282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B9F490D-3BF9-0988-30AA-FB6C6AB369D7}"/>
              </a:ext>
            </a:extLst>
          </p:cNvPr>
          <p:cNvCxnSpPr>
            <a:cxnSpLocks/>
            <a:stCxn id="100" idx="2"/>
            <a:endCxn id="5" idx="0"/>
          </p:cNvCxnSpPr>
          <p:nvPr/>
        </p:nvCxnSpPr>
        <p:spPr>
          <a:xfrm>
            <a:off x="4143284" y="2427914"/>
            <a:ext cx="0" cy="715502"/>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D655E16D-2F04-064E-21D0-34ECFA760188}"/>
              </a:ext>
            </a:extLst>
          </p:cNvPr>
          <p:cNvCxnSpPr>
            <a:cxnSpLocks/>
            <a:stCxn id="100" idx="3"/>
            <a:endCxn id="29" idx="1"/>
          </p:cNvCxnSpPr>
          <p:nvPr/>
        </p:nvCxnSpPr>
        <p:spPr>
          <a:xfrm flipV="1">
            <a:off x="4794626" y="2141822"/>
            <a:ext cx="610030"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AC8EA762-A847-EC43-1229-26EEA950F017}"/>
              </a:ext>
            </a:extLst>
          </p:cNvPr>
          <p:cNvCxnSpPr>
            <a:cxnSpLocks/>
            <a:stCxn id="7" idx="3"/>
          </p:cNvCxnSpPr>
          <p:nvPr/>
        </p:nvCxnSpPr>
        <p:spPr>
          <a:xfrm flipV="1">
            <a:off x="10155138" y="4685646"/>
            <a:ext cx="58869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B6B4EE64-A5CF-9ADB-1713-FFB51EDEEF0D}"/>
              </a:ext>
            </a:extLst>
          </p:cNvPr>
          <p:cNvCxnSpPr>
            <a:cxnSpLocks/>
            <a:stCxn id="5" idx="1"/>
            <a:endCxn id="82" idx="2"/>
          </p:cNvCxnSpPr>
          <p:nvPr/>
        </p:nvCxnSpPr>
        <p:spPr>
          <a:xfrm rot="10800000">
            <a:off x="2144106" y="2441658"/>
            <a:ext cx="1254169" cy="1001594"/>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7" name="Flowchart: Decision 6">
            <a:extLst>
              <a:ext uri="{FF2B5EF4-FFF2-40B4-BE49-F238E27FC236}">
                <a16:creationId xmlns:a16="http://schemas.microsoft.com/office/drawing/2014/main" id="{F5366665-C002-43A4-40A9-A6C8C6715488}"/>
              </a:ext>
            </a:extLst>
          </p:cNvPr>
          <p:cNvSpPr>
            <a:spLocks/>
          </p:cNvSpPr>
          <p:nvPr/>
        </p:nvSpPr>
        <p:spPr>
          <a:xfrm>
            <a:off x="8852453" y="4399555"/>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sp>
        <p:nvSpPr>
          <p:cNvPr id="8" name="TextBox 7">
            <a:extLst>
              <a:ext uri="{FF2B5EF4-FFF2-40B4-BE49-F238E27FC236}">
                <a16:creationId xmlns:a16="http://schemas.microsoft.com/office/drawing/2014/main" id="{B309EF8B-043F-C6F1-B7E8-EF3B6B2FE8CC}"/>
              </a:ext>
            </a:extLst>
          </p:cNvPr>
          <p:cNvSpPr txBox="1"/>
          <p:nvPr/>
        </p:nvSpPr>
        <p:spPr>
          <a:xfrm>
            <a:off x="10019084"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3" name="TextBox 12">
            <a:extLst>
              <a:ext uri="{FF2B5EF4-FFF2-40B4-BE49-F238E27FC236}">
                <a16:creationId xmlns:a16="http://schemas.microsoft.com/office/drawing/2014/main" id="{11870ED5-CF59-A72C-819B-9A8CA06021F6}"/>
              </a:ext>
            </a:extLst>
          </p:cNvPr>
          <p:cNvSpPr txBox="1"/>
          <p:nvPr/>
        </p:nvSpPr>
        <p:spPr>
          <a:xfrm>
            <a:off x="8671466"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9" name="Flowchart: Process 28">
            <a:extLst>
              <a:ext uri="{FF2B5EF4-FFF2-40B4-BE49-F238E27FC236}">
                <a16:creationId xmlns:a16="http://schemas.microsoft.com/office/drawing/2014/main" id="{630B76F8-3FEB-CBA4-B091-ED570C62BC34}"/>
              </a:ext>
            </a:extLst>
          </p:cNvPr>
          <p:cNvSpPr>
            <a:spLocks/>
          </p:cNvSpPr>
          <p:nvPr/>
        </p:nvSpPr>
        <p:spPr>
          <a:xfrm>
            <a:off x="5404656"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Finalize and share for review</a:t>
            </a:r>
          </a:p>
        </p:txBody>
      </p:sp>
      <p:cxnSp>
        <p:nvCxnSpPr>
          <p:cNvPr id="32" name="Connector: Elbow 31">
            <a:extLst>
              <a:ext uri="{FF2B5EF4-FFF2-40B4-BE49-F238E27FC236}">
                <a16:creationId xmlns:a16="http://schemas.microsoft.com/office/drawing/2014/main" id="{5225ED9E-8CCD-D042-1141-2F9837CE7864}"/>
              </a:ext>
            </a:extLst>
          </p:cNvPr>
          <p:cNvCxnSpPr>
            <a:cxnSpLocks/>
            <a:stCxn id="29" idx="2"/>
            <a:endCxn id="19" idx="1"/>
          </p:cNvCxnSpPr>
          <p:nvPr/>
        </p:nvCxnSpPr>
        <p:spPr>
          <a:xfrm rot="16200000" flipH="1">
            <a:off x="6038194" y="2553129"/>
            <a:ext cx="998942" cy="77599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C02181BE-B5AE-E9DD-CD5C-A5215424733C}"/>
              </a:ext>
            </a:extLst>
          </p:cNvPr>
          <p:cNvCxnSpPr>
            <a:cxnSpLocks/>
            <a:stCxn id="19" idx="0"/>
            <a:endCxn id="29" idx="0"/>
          </p:cNvCxnSpPr>
          <p:nvPr/>
        </p:nvCxnSpPr>
        <p:spPr>
          <a:xfrm rot="16200000" flipV="1">
            <a:off x="6207076" y="1784576"/>
            <a:ext cx="1312522" cy="1427342"/>
          </a:xfrm>
          <a:prstGeom prst="bentConnector3">
            <a:avLst>
              <a:gd name="adj1" fmla="val 112773"/>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C684C643-6393-27E8-E9B1-5810CDD9AFC3}"/>
              </a:ext>
            </a:extLst>
          </p:cNvPr>
          <p:cNvCxnSpPr>
            <a:cxnSpLocks/>
            <a:stCxn id="19" idx="3"/>
            <a:endCxn id="99" idx="1"/>
          </p:cNvCxnSpPr>
          <p:nvPr/>
        </p:nvCxnSpPr>
        <p:spPr>
          <a:xfrm flipV="1">
            <a:off x="8228350" y="3438844"/>
            <a:ext cx="712993" cy="1756"/>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E568B2D7-CFA5-2E6A-B955-1A0696017629}"/>
              </a:ext>
            </a:extLst>
          </p:cNvPr>
          <p:cNvCxnSpPr>
            <a:cxnSpLocks/>
            <a:stCxn id="99" idx="2"/>
            <a:endCxn id="7" idx="0"/>
          </p:cNvCxnSpPr>
          <p:nvPr/>
        </p:nvCxnSpPr>
        <p:spPr>
          <a:xfrm>
            <a:off x="9503795" y="3738680"/>
            <a:ext cx="1" cy="660875"/>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9ACF4E8E-163E-0080-8745-87241A86EDDD}"/>
              </a:ext>
            </a:extLst>
          </p:cNvPr>
          <p:cNvCxnSpPr>
            <a:cxnSpLocks/>
            <a:stCxn id="7" idx="1"/>
            <a:endCxn id="19" idx="2"/>
          </p:cNvCxnSpPr>
          <p:nvPr/>
        </p:nvCxnSpPr>
        <p:spPr>
          <a:xfrm rot="10800000">
            <a:off x="7577009" y="3726691"/>
            <a:ext cx="1275445" cy="958956"/>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678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9515-0E55-83FE-D346-D3DAF8DED24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255A89-C091-5C24-D5D4-F79C15CA98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DC255A89-C091-5C24-D5D4-F79C15CA98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6B7817A-018A-B5C1-657C-0CA1003114A1}"/>
              </a:ext>
            </a:extLst>
          </p:cNvPr>
          <p:cNvSpPr>
            <a:spLocks noGrp="1"/>
          </p:cNvSpPr>
          <p:nvPr>
            <p:ph type="title"/>
          </p:nvPr>
        </p:nvSpPr>
        <p:spPr>
          <a:xfrm>
            <a:off x="488632" y="377363"/>
            <a:ext cx="9358101" cy="502766"/>
          </a:xfrm>
        </p:spPr>
        <p:txBody>
          <a:bodyPr vert="horz">
            <a:normAutofit fontScale="90000"/>
          </a:bodyPr>
          <a:lstStyle/>
          <a:p>
            <a:r>
              <a:rPr lang="en-US"/>
              <a:t>Finance &amp; Accounting Processes – Period End Closing and Financial Reporting</a:t>
            </a:r>
          </a:p>
        </p:txBody>
      </p:sp>
      <p:sp>
        <p:nvSpPr>
          <p:cNvPr id="195" name="Title 2">
            <a:extLst>
              <a:ext uri="{FF2B5EF4-FFF2-40B4-BE49-F238E27FC236}">
                <a16:creationId xmlns:a16="http://schemas.microsoft.com/office/drawing/2014/main" id="{5B3CD800-4FA9-1FEF-EB6D-CAC35E98F2E3}"/>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55CB1A3A-8EF1-30C1-555A-FE4719A8E0BA}"/>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FAP_100_009 – Monthly/ Annual Financial Statements Preparation</a:t>
            </a:r>
          </a:p>
        </p:txBody>
      </p:sp>
      <p:sp>
        <p:nvSpPr>
          <p:cNvPr id="17" name="Rectangle 16">
            <a:extLst>
              <a:ext uri="{FF2B5EF4-FFF2-40B4-BE49-F238E27FC236}">
                <a16:creationId xmlns:a16="http://schemas.microsoft.com/office/drawing/2014/main" id="{0BC2E2D0-2CDE-CE64-A187-176581E2B55D}"/>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0" name="Rectangle 9">
            <a:extLst>
              <a:ext uri="{FF2B5EF4-FFF2-40B4-BE49-F238E27FC236}">
                <a16:creationId xmlns:a16="http://schemas.microsoft.com/office/drawing/2014/main" id="{756FAA11-7A10-4817-DE6B-8AE1094B9453}"/>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92BEFE16-4D34-8328-4D13-63D039C3D8D9}"/>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2" name="Rectangle 11">
            <a:extLst>
              <a:ext uri="{FF2B5EF4-FFF2-40B4-BE49-F238E27FC236}">
                <a16:creationId xmlns:a16="http://schemas.microsoft.com/office/drawing/2014/main" id="{3D13C679-A87F-C276-6A29-6B2A4B48B02E}"/>
              </a:ext>
            </a:extLst>
          </p:cNvPr>
          <p:cNvSpPr>
            <a:spLocks/>
          </p:cNvSpPr>
          <p:nvPr/>
        </p:nvSpPr>
        <p:spPr>
          <a:xfrm>
            <a:off x="157122" y="153663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7FDEF221-8F67-49CD-70D5-95F13E36E345}"/>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A43B3BFE-9164-BC51-018C-06E7B3BEB814}"/>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82" name="Flowchart: Process 81">
            <a:extLst>
              <a:ext uri="{FF2B5EF4-FFF2-40B4-BE49-F238E27FC236}">
                <a16:creationId xmlns:a16="http://schemas.microsoft.com/office/drawing/2014/main" id="{EE3984F3-856A-4854-75C2-794E8E45A68C}"/>
              </a:ext>
            </a:extLst>
          </p:cNvPr>
          <p:cNvSpPr>
            <a:spLocks/>
          </p:cNvSpPr>
          <p:nvPr/>
        </p:nvSpPr>
        <p:spPr>
          <a:xfrm>
            <a:off x="1399095"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Prepare Financial Statements for period end</a:t>
            </a:r>
          </a:p>
        </p:txBody>
      </p:sp>
      <p:sp>
        <p:nvSpPr>
          <p:cNvPr id="85" name="Flowchart: Terminator 84">
            <a:extLst>
              <a:ext uri="{FF2B5EF4-FFF2-40B4-BE49-F238E27FC236}">
                <a16:creationId xmlns:a16="http://schemas.microsoft.com/office/drawing/2014/main" id="{F5A8E857-4BE3-8005-9907-647937985849}"/>
              </a:ext>
            </a:extLst>
          </p:cNvPr>
          <p:cNvSpPr/>
          <p:nvPr/>
        </p:nvSpPr>
        <p:spPr>
          <a:xfrm>
            <a:off x="724332" y="2047842"/>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cxnSp>
        <p:nvCxnSpPr>
          <p:cNvPr id="86" name="Straight Arrow Connector 85">
            <a:extLst>
              <a:ext uri="{FF2B5EF4-FFF2-40B4-BE49-F238E27FC236}">
                <a16:creationId xmlns:a16="http://schemas.microsoft.com/office/drawing/2014/main" id="{4DEFAAC7-FDAC-1EA9-C7DB-B13E8B7B2CF1}"/>
              </a:ext>
            </a:extLst>
          </p:cNvPr>
          <p:cNvCxnSpPr>
            <a:cxnSpLocks/>
            <a:stCxn id="85" idx="3"/>
          </p:cNvCxnSpPr>
          <p:nvPr/>
        </p:nvCxnSpPr>
        <p:spPr>
          <a:xfrm flipV="1">
            <a:off x="1236361" y="2141821"/>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100" name="Flowchart: Decision 99">
            <a:extLst>
              <a:ext uri="{FF2B5EF4-FFF2-40B4-BE49-F238E27FC236}">
                <a16:creationId xmlns:a16="http://schemas.microsoft.com/office/drawing/2014/main" id="{E888D102-DDDA-BCA9-0939-D286726839DA}"/>
              </a:ext>
            </a:extLst>
          </p:cNvPr>
          <p:cNvSpPr>
            <a:spLocks/>
          </p:cNvSpPr>
          <p:nvPr/>
        </p:nvSpPr>
        <p:spPr>
          <a:xfrm>
            <a:off x="3491941" y="1855731"/>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Any Issues?</a:t>
            </a:r>
          </a:p>
        </p:txBody>
      </p:sp>
      <p:sp>
        <p:nvSpPr>
          <p:cNvPr id="102" name="TextBox 101">
            <a:extLst>
              <a:ext uri="{FF2B5EF4-FFF2-40B4-BE49-F238E27FC236}">
                <a16:creationId xmlns:a16="http://schemas.microsoft.com/office/drawing/2014/main" id="{A0B9FB59-0EC6-6A20-6D02-DFF9382AF62F}"/>
              </a:ext>
            </a:extLst>
          </p:cNvPr>
          <p:cNvSpPr txBox="1"/>
          <p:nvPr/>
        </p:nvSpPr>
        <p:spPr>
          <a:xfrm>
            <a:off x="4468547" y="1889886"/>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01" name="TextBox 100">
            <a:extLst>
              <a:ext uri="{FF2B5EF4-FFF2-40B4-BE49-F238E27FC236}">
                <a16:creationId xmlns:a16="http://schemas.microsoft.com/office/drawing/2014/main" id="{20D33C4E-862B-71F6-3816-8ED7EADFE448}"/>
              </a:ext>
            </a:extLst>
          </p:cNvPr>
          <p:cNvSpPr txBox="1"/>
          <p:nvPr/>
        </p:nvSpPr>
        <p:spPr>
          <a:xfrm>
            <a:off x="3766383" y="244201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5" name="Flowchart: Process 4">
            <a:extLst>
              <a:ext uri="{FF2B5EF4-FFF2-40B4-BE49-F238E27FC236}">
                <a16:creationId xmlns:a16="http://schemas.microsoft.com/office/drawing/2014/main" id="{BDD4AF7E-3D92-E46E-4C3A-3D56FF3CB673}"/>
              </a:ext>
            </a:extLst>
          </p:cNvPr>
          <p:cNvSpPr>
            <a:spLocks/>
          </p:cNvSpPr>
          <p:nvPr/>
        </p:nvSpPr>
        <p:spPr>
          <a:xfrm>
            <a:off x="3398274" y="314341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Communicate with client, resolve the issue and share update with Accountant</a:t>
            </a:r>
          </a:p>
        </p:txBody>
      </p:sp>
      <p:sp>
        <p:nvSpPr>
          <p:cNvPr id="19" name="Flowchart: Decision 18">
            <a:extLst>
              <a:ext uri="{FF2B5EF4-FFF2-40B4-BE49-F238E27FC236}">
                <a16:creationId xmlns:a16="http://schemas.microsoft.com/office/drawing/2014/main" id="{92C07F15-A4CD-E8DE-6CF7-B47642B45763}"/>
              </a:ext>
            </a:extLst>
          </p:cNvPr>
          <p:cNvSpPr>
            <a:spLocks/>
          </p:cNvSpPr>
          <p:nvPr/>
        </p:nvSpPr>
        <p:spPr>
          <a:xfrm>
            <a:off x="6925665" y="3154508"/>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Adjustment Required?</a:t>
            </a:r>
          </a:p>
        </p:txBody>
      </p:sp>
      <p:sp>
        <p:nvSpPr>
          <p:cNvPr id="20" name="TextBox 19">
            <a:extLst>
              <a:ext uri="{FF2B5EF4-FFF2-40B4-BE49-F238E27FC236}">
                <a16:creationId xmlns:a16="http://schemas.microsoft.com/office/drawing/2014/main" id="{7A02F24A-83C5-D844-AE16-0D64103E539A}"/>
              </a:ext>
            </a:extLst>
          </p:cNvPr>
          <p:cNvSpPr txBox="1"/>
          <p:nvPr/>
        </p:nvSpPr>
        <p:spPr>
          <a:xfrm>
            <a:off x="7652932" y="296632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21" name="TextBox 20">
            <a:extLst>
              <a:ext uri="{FF2B5EF4-FFF2-40B4-BE49-F238E27FC236}">
                <a16:creationId xmlns:a16="http://schemas.microsoft.com/office/drawing/2014/main" id="{0F594D37-CD9A-B463-D8A8-9A983E69933B}"/>
              </a:ext>
            </a:extLst>
          </p:cNvPr>
          <p:cNvSpPr txBox="1"/>
          <p:nvPr/>
        </p:nvSpPr>
        <p:spPr>
          <a:xfrm>
            <a:off x="8157230" y="345147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4" name="Flowchart: Terminator 23">
            <a:extLst>
              <a:ext uri="{FF2B5EF4-FFF2-40B4-BE49-F238E27FC236}">
                <a16:creationId xmlns:a16="http://schemas.microsoft.com/office/drawing/2014/main" id="{F1F190C9-A720-6BC2-E4F6-F5AAD54E4392}"/>
              </a:ext>
            </a:extLst>
          </p:cNvPr>
          <p:cNvSpPr/>
          <p:nvPr/>
        </p:nvSpPr>
        <p:spPr>
          <a:xfrm>
            <a:off x="10743834" y="4591667"/>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5" name="Straight Arrow Connector 24">
            <a:extLst>
              <a:ext uri="{FF2B5EF4-FFF2-40B4-BE49-F238E27FC236}">
                <a16:creationId xmlns:a16="http://schemas.microsoft.com/office/drawing/2014/main" id="{229752BD-231E-08F9-CB2C-ABADA3DB79E7}"/>
              </a:ext>
            </a:extLst>
          </p:cNvPr>
          <p:cNvCxnSpPr>
            <a:cxnSpLocks/>
            <a:stCxn id="82" idx="3"/>
            <a:endCxn id="100" idx="1"/>
          </p:cNvCxnSpPr>
          <p:nvPr/>
        </p:nvCxnSpPr>
        <p:spPr>
          <a:xfrm>
            <a:off x="2889115" y="2141822"/>
            <a:ext cx="60282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970EF16-AC85-4730-1F29-1F36348C6F56}"/>
              </a:ext>
            </a:extLst>
          </p:cNvPr>
          <p:cNvCxnSpPr>
            <a:cxnSpLocks/>
            <a:stCxn id="100" idx="2"/>
            <a:endCxn id="5" idx="0"/>
          </p:cNvCxnSpPr>
          <p:nvPr/>
        </p:nvCxnSpPr>
        <p:spPr>
          <a:xfrm>
            <a:off x="4143284" y="2427914"/>
            <a:ext cx="0" cy="715502"/>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8327A45-EBD2-5A42-D901-F3BE83BA37DC}"/>
              </a:ext>
            </a:extLst>
          </p:cNvPr>
          <p:cNvCxnSpPr>
            <a:cxnSpLocks/>
            <a:stCxn id="100" idx="3"/>
            <a:endCxn id="29" idx="1"/>
          </p:cNvCxnSpPr>
          <p:nvPr/>
        </p:nvCxnSpPr>
        <p:spPr>
          <a:xfrm flipV="1">
            <a:off x="4794626" y="2141822"/>
            <a:ext cx="610030"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1004BE7-4C9F-328E-EFC9-9868D5FB73D0}"/>
              </a:ext>
            </a:extLst>
          </p:cNvPr>
          <p:cNvCxnSpPr>
            <a:cxnSpLocks/>
            <a:stCxn id="7" idx="3"/>
          </p:cNvCxnSpPr>
          <p:nvPr/>
        </p:nvCxnSpPr>
        <p:spPr>
          <a:xfrm flipV="1">
            <a:off x="10155138" y="4685646"/>
            <a:ext cx="588696"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C8C9C176-835A-C591-CFA7-49481FD7370B}"/>
              </a:ext>
            </a:extLst>
          </p:cNvPr>
          <p:cNvCxnSpPr>
            <a:cxnSpLocks/>
            <a:stCxn id="5" idx="1"/>
            <a:endCxn id="82" idx="2"/>
          </p:cNvCxnSpPr>
          <p:nvPr/>
        </p:nvCxnSpPr>
        <p:spPr>
          <a:xfrm rot="10800000">
            <a:off x="2144106" y="2441658"/>
            <a:ext cx="1254169" cy="1001594"/>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7" name="Flowchart: Decision 6">
            <a:extLst>
              <a:ext uri="{FF2B5EF4-FFF2-40B4-BE49-F238E27FC236}">
                <a16:creationId xmlns:a16="http://schemas.microsoft.com/office/drawing/2014/main" id="{677A3E28-01B8-B424-0A4B-714BA8E5AD14}"/>
              </a:ext>
            </a:extLst>
          </p:cNvPr>
          <p:cNvSpPr>
            <a:spLocks/>
          </p:cNvSpPr>
          <p:nvPr/>
        </p:nvSpPr>
        <p:spPr>
          <a:xfrm>
            <a:off x="8852453" y="4399555"/>
            <a:ext cx="1302685" cy="572183"/>
          </a:xfrm>
          <a:prstGeom prst="flowChartDecision">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sp>
        <p:nvSpPr>
          <p:cNvPr id="8" name="TextBox 7">
            <a:extLst>
              <a:ext uri="{FF2B5EF4-FFF2-40B4-BE49-F238E27FC236}">
                <a16:creationId xmlns:a16="http://schemas.microsoft.com/office/drawing/2014/main" id="{68F5AC01-B1DD-ABD2-6A25-0BCB818D6E7E}"/>
              </a:ext>
            </a:extLst>
          </p:cNvPr>
          <p:cNvSpPr txBox="1"/>
          <p:nvPr/>
        </p:nvSpPr>
        <p:spPr>
          <a:xfrm>
            <a:off x="10019084"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Yes</a:t>
            </a:r>
          </a:p>
        </p:txBody>
      </p:sp>
      <p:sp>
        <p:nvSpPr>
          <p:cNvPr id="13" name="TextBox 12">
            <a:extLst>
              <a:ext uri="{FF2B5EF4-FFF2-40B4-BE49-F238E27FC236}">
                <a16:creationId xmlns:a16="http://schemas.microsoft.com/office/drawing/2014/main" id="{0227316E-BFBC-DE3C-CAC6-141B2EE1AC24}"/>
              </a:ext>
            </a:extLst>
          </p:cNvPr>
          <p:cNvSpPr txBox="1"/>
          <p:nvPr/>
        </p:nvSpPr>
        <p:spPr>
          <a:xfrm>
            <a:off x="8671466" y="4418231"/>
            <a:ext cx="415380" cy="200055"/>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0069E"/>
                </a:solidFill>
                <a:effectLst/>
                <a:uLnTx/>
                <a:uFillTx/>
                <a:latin typeface="Montserrat"/>
                <a:ea typeface="+mn-ea"/>
                <a:cs typeface="Montserrat-Arabic"/>
              </a:rPr>
              <a:t>No</a:t>
            </a:r>
          </a:p>
        </p:txBody>
      </p:sp>
      <p:sp>
        <p:nvSpPr>
          <p:cNvPr id="29" name="Flowchart: Process 28">
            <a:extLst>
              <a:ext uri="{FF2B5EF4-FFF2-40B4-BE49-F238E27FC236}">
                <a16:creationId xmlns:a16="http://schemas.microsoft.com/office/drawing/2014/main" id="{EF235F82-84A4-75D1-9DC7-4CE123C5BD3A}"/>
              </a:ext>
            </a:extLst>
          </p:cNvPr>
          <p:cNvSpPr>
            <a:spLocks/>
          </p:cNvSpPr>
          <p:nvPr/>
        </p:nvSpPr>
        <p:spPr>
          <a:xfrm>
            <a:off x="5404656" y="184198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Finalize and share for review</a:t>
            </a:r>
          </a:p>
        </p:txBody>
      </p:sp>
      <p:cxnSp>
        <p:nvCxnSpPr>
          <p:cNvPr id="32" name="Connector: Elbow 31">
            <a:extLst>
              <a:ext uri="{FF2B5EF4-FFF2-40B4-BE49-F238E27FC236}">
                <a16:creationId xmlns:a16="http://schemas.microsoft.com/office/drawing/2014/main" id="{B6156D1D-3AEE-C436-3056-C1384C8F8554}"/>
              </a:ext>
            </a:extLst>
          </p:cNvPr>
          <p:cNvCxnSpPr>
            <a:cxnSpLocks/>
            <a:stCxn id="29" idx="2"/>
            <a:endCxn id="19" idx="1"/>
          </p:cNvCxnSpPr>
          <p:nvPr/>
        </p:nvCxnSpPr>
        <p:spPr>
          <a:xfrm rot="16200000" flipH="1">
            <a:off x="6038194" y="2553129"/>
            <a:ext cx="998942" cy="77599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5575988F-2761-4C9C-B4F7-55EBF93AFBF1}"/>
              </a:ext>
            </a:extLst>
          </p:cNvPr>
          <p:cNvCxnSpPr>
            <a:cxnSpLocks/>
            <a:stCxn id="19" idx="0"/>
            <a:endCxn id="29" idx="0"/>
          </p:cNvCxnSpPr>
          <p:nvPr/>
        </p:nvCxnSpPr>
        <p:spPr>
          <a:xfrm rot="16200000" flipV="1">
            <a:off x="6207076" y="1784576"/>
            <a:ext cx="1312522" cy="1427342"/>
          </a:xfrm>
          <a:prstGeom prst="bentConnector3">
            <a:avLst>
              <a:gd name="adj1" fmla="val 112773"/>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E76367F8-F19A-0834-01C9-8F46E8604150}"/>
              </a:ext>
            </a:extLst>
          </p:cNvPr>
          <p:cNvCxnSpPr>
            <a:cxnSpLocks/>
            <a:stCxn id="7" idx="1"/>
            <a:endCxn id="19" idx="2"/>
          </p:cNvCxnSpPr>
          <p:nvPr/>
        </p:nvCxnSpPr>
        <p:spPr>
          <a:xfrm rot="10800000">
            <a:off x="7577009" y="3726691"/>
            <a:ext cx="1275445" cy="958956"/>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0B4BE2E5-6944-9B2B-52F6-70D5BE15E5A5}"/>
              </a:ext>
            </a:extLst>
          </p:cNvPr>
          <p:cNvCxnSpPr>
            <a:cxnSpLocks/>
            <a:stCxn id="19" idx="3"/>
            <a:endCxn id="7" idx="0"/>
          </p:cNvCxnSpPr>
          <p:nvPr/>
        </p:nvCxnSpPr>
        <p:spPr>
          <a:xfrm>
            <a:off x="8228350" y="3440600"/>
            <a:ext cx="1275446" cy="958955"/>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2400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2584F-049B-448E-F32B-5CCA6F56ABF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82E4565-7F4E-1763-D709-4A6210D3C5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C82E4565-7F4E-1763-D709-4A6210D3C5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2E5DC24-F818-9FB6-A946-1BF2F76460DE}"/>
              </a:ext>
            </a:extLst>
          </p:cNvPr>
          <p:cNvSpPr>
            <a:spLocks noGrp="1"/>
          </p:cNvSpPr>
          <p:nvPr>
            <p:ph type="title"/>
          </p:nvPr>
        </p:nvSpPr>
        <p:spPr>
          <a:xfrm>
            <a:off x="488632" y="377363"/>
            <a:ext cx="9358101" cy="502766"/>
          </a:xfrm>
        </p:spPr>
        <p:txBody>
          <a:bodyPr vert="horz">
            <a:normAutofit/>
          </a:bodyPr>
          <a:lstStyle/>
          <a:p>
            <a:r>
              <a:rPr lang="en-US"/>
              <a:t>Finance &amp; Accounting Processes – ZATCA</a:t>
            </a:r>
          </a:p>
        </p:txBody>
      </p:sp>
      <p:sp>
        <p:nvSpPr>
          <p:cNvPr id="195" name="Title 2">
            <a:extLst>
              <a:ext uri="{FF2B5EF4-FFF2-40B4-BE49-F238E27FC236}">
                <a16:creationId xmlns:a16="http://schemas.microsoft.com/office/drawing/2014/main" id="{5E369BE2-8BD9-B7BB-B200-10AAD06F31EB}"/>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E9EE0C94-B0F7-5CD2-C161-EF0CAE79529D}"/>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FAP_100_010 –VAT and WHT Support on Period End Returns and Accounting Related Support</a:t>
            </a:r>
          </a:p>
        </p:txBody>
      </p:sp>
      <p:sp>
        <p:nvSpPr>
          <p:cNvPr id="12" name="Rectangle 11">
            <a:extLst>
              <a:ext uri="{FF2B5EF4-FFF2-40B4-BE49-F238E27FC236}">
                <a16:creationId xmlns:a16="http://schemas.microsoft.com/office/drawing/2014/main" id="{FEE28404-3A8B-B43F-A315-A20D69257D50}"/>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Tax Advisors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(3</a:t>
            </a:r>
            <a:r>
              <a:rPr kumimoji="0" lang="en-US" sz="900" b="1" i="0" u="none" strike="noStrike" kern="1200" cap="none" spc="0" normalizeH="0" baseline="30000" noProof="0">
                <a:ln>
                  <a:noFill/>
                </a:ln>
                <a:solidFill>
                  <a:srgbClr val="000000"/>
                </a:solidFill>
                <a:effectLst/>
                <a:uLnTx/>
                <a:uFillTx/>
                <a:latin typeface="Montserrat"/>
                <a:ea typeface="+mn-ea"/>
                <a:cs typeface="Frutiger LT Arabic 45 Light" panose="020B0403030504020204" pitchFamily="34" charset="-78"/>
              </a:rPr>
              <a:t>rd</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 party)</a:t>
            </a:r>
          </a:p>
        </p:txBody>
      </p:sp>
      <p:sp>
        <p:nvSpPr>
          <p:cNvPr id="10" name="Rectangle 9">
            <a:extLst>
              <a:ext uri="{FF2B5EF4-FFF2-40B4-BE49-F238E27FC236}">
                <a16:creationId xmlns:a16="http://schemas.microsoft.com/office/drawing/2014/main" id="{E277CADE-3F7A-0865-CE86-FAFD0A5F300E}"/>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081ABC03-EA8A-6B3E-58C0-923751035FD7}"/>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C7E593DD-D29F-9BA4-E3C4-DD74A723D7C3}"/>
              </a:ext>
            </a:extLst>
          </p:cNvPr>
          <p:cNvSpPr>
            <a:spLocks/>
          </p:cNvSpPr>
          <p:nvPr/>
        </p:nvSpPr>
        <p:spPr>
          <a:xfrm>
            <a:off x="157122" y="1536635"/>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Senior 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056BE97D-4140-B00A-7795-6BE7E66B2C0C}"/>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4" name="Rectangle 13">
            <a:extLst>
              <a:ext uri="{FF2B5EF4-FFF2-40B4-BE49-F238E27FC236}">
                <a16:creationId xmlns:a16="http://schemas.microsoft.com/office/drawing/2014/main" id="{5CB64B9E-D9F7-CBF1-1881-7B0BCC087C0D}"/>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7" name="Rectangle 16">
            <a:extLst>
              <a:ext uri="{FF2B5EF4-FFF2-40B4-BE49-F238E27FC236}">
                <a16:creationId xmlns:a16="http://schemas.microsoft.com/office/drawing/2014/main" id="{BB5582B3-DC45-221D-9130-768E69C86F00}"/>
              </a:ext>
            </a:extLst>
          </p:cNvPr>
          <p:cNvSpPr>
            <a:spLocks/>
          </p:cNvSpPr>
          <p:nvPr/>
        </p:nvSpPr>
        <p:spPr>
          <a:xfrm>
            <a:off x="157122" y="5335761"/>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5" name="Rectangle 14">
            <a:extLst>
              <a:ext uri="{FF2B5EF4-FFF2-40B4-BE49-F238E27FC236}">
                <a16:creationId xmlns:a16="http://schemas.microsoft.com/office/drawing/2014/main" id="{FB3664E1-2B26-9549-04D4-590465560BF8}"/>
              </a:ext>
            </a:extLst>
          </p:cNvPr>
          <p:cNvSpPr>
            <a:spLocks/>
          </p:cNvSpPr>
          <p:nvPr/>
        </p:nvSpPr>
        <p:spPr>
          <a:xfrm>
            <a:off x="594249" y="5335762"/>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85" name="Flowchart: Terminator 84">
            <a:extLst>
              <a:ext uri="{FF2B5EF4-FFF2-40B4-BE49-F238E27FC236}">
                <a16:creationId xmlns:a16="http://schemas.microsoft.com/office/drawing/2014/main" id="{57DC260B-ADC8-CD8B-0B87-8C72CB74EE19}"/>
              </a:ext>
            </a:extLst>
          </p:cNvPr>
          <p:cNvSpPr/>
          <p:nvPr/>
        </p:nvSpPr>
        <p:spPr>
          <a:xfrm>
            <a:off x="724332" y="2080245"/>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sp>
        <p:nvSpPr>
          <p:cNvPr id="5" name="Flowchart: Process 4">
            <a:extLst>
              <a:ext uri="{FF2B5EF4-FFF2-40B4-BE49-F238E27FC236}">
                <a16:creationId xmlns:a16="http://schemas.microsoft.com/office/drawing/2014/main" id="{F0087701-9524-960A-6062-DE827FCF5326}"/>
              </a:ext>
            </a:extLst>
          </p:cNvPr>
          <p:cNvSpPr>
            <a:spLocks/>
          </p:cNvSpPr>
          <p:nvPr/>
        </p:nvSpPr>
        <p:spPr>
          <a:xfrm>
            <a:off x="1399095" y="187438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Due Period</a:t>
            </a:r>
          </a:p>
        </p:txBody>
      </p:sp>
      <p:cxnSp>
        <p:nvCxnSpPr>
          <p:cNvPr id="7" name="Straight Arrow Connector 6">
            <a:extLst>
              <a:ext uri="{FF2B5EF4-FFF2-40B4-BE49-F238E27FC236}">
                <a16:creationId xmlns:a16="http://schemas.microsoft.com/office/drawing/2014/main" id="{EAB26AC2-F87F-9A31-67A2-5F852B6A6EF0}"/>
              </a:ext>
            </a:extLst>
          </p:cNvPr>
          <p:cNvCxnSpPr>
            <a:cxnSpLocks/>
          </p:cNvCxnSpPr>
          <p:nvPr/>
        </p:nvCxnSpPr>
        <p:spPr>
          <a:xfrm flipV="1">
            <a:off x="1236361" y="2174224"/>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8" name="Flowchart: Process 7">
            <a:extLst>
              <a:ext uri="{FF2B5EF4-FFF2-40B4-BE49-F238E27FC236}">
                <a16:creationId xmlns:a16="http://schemas.microsoft.com/office/drawing/2014/main" id="{55655AF9-94D1-7484-7BE6-47DACAD56FDF}"/>
              </a:ext>
            </a:extLst>
          </p:cNvPr>
          <p:cNvSpPr>
            <a:spLocks/>
          </p:cNvSpPr>
          <p:nvPr/>
        </p:nvSpPr>
        <p:spPr>
          <a:xfrm>
            <a:off x="3326242" y="187438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Generate VAT/WHT Return SOA</a:t>
            </a:r>
          </a:p>
        </p:txBody>
      </p:sp>
      <p:sp>
        <p:nvSpPr>
          <p:cNvPr id="13" name="Flowchart: Process 12">
            <a:extLst>
              <a:ext uri="{FF2B5EF4-FFF2-40B4-BE49-F238E27FC236}">
                <a16:creationId xmlns:a16="http://schemas.microsoft.com/office/drawing/2014/main" id="{5309ECB6-4232-515D-B952-6EBBC9C2048C}"/>
              </a:ext>
            </a:extLst>
          </p:cNvPr>
          <p:cNvSpPr>
            <a:spLocks/>
          </p:cNvSpPr>
          <p:nvPr/>
        </p:nvSpPr>
        <p:spPr>
          <a:xfrm>
            <a:off x="5191203" y="3140763"/>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Perform review of VAT/WHT Information and share it with Tax Advisors</a:t>
            </a:r>
          </a:p>
        </p:txBody>
      </p:sp>
      <p:sp>
        <p:nvSpPr>
          <p:cNvPr id="16" name="Flowchart: Process 15">
            <a:extLst>
              <a:ext uri="{FF2B5EF4-FFF2-40B4-BE49-F238E27FC236}">
                <a16:creationId xmlns:a16="http://schemas.microsoft.com/office/drawing/2014/main" id="{EA4DFBD8-74CA-8C79-99B3-2B32A5016A0C}"/>
              </a:ext>
            </a:extLst>
          </p:cNvPr>
          <p:cNvSpPr>
            <a:spLocks/>
          </p:cNvSpPr>
          <p:nvPr/>
        </p:nvSpPr>
        <p:spPr>
          <a:xfrm>
            <a:off x="7056164" y="4405384"/>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Upload Data on ZATCA Portal and obtain approval from client</a:t>
            </a:r>
          </a:p>
        </p:txBody>
      </p:sp>
      <p:sp>
        <p:nvSpPr>
          <p:cNvPr id="18" name="Flowchart: Process 17">
            <a:extLst>
              <a:ext uri="{FF2B5EF4-FFF2-40B4-BE49-F238E27FC236}">
                <a16:creationId xmlns:a16="http://schemas.microsoft.com/office/drawing/2014/main" id="{794462DD-0654-019D-03BA-D92C62D89CF7}"/>
              </a:ext>
            </a:extLst>
          </p:cNvPr>
          <p:cNvSpPr>
            <a:spLocks/>
          </p:cNvSpPr>
          <p:nvPr/>
        </p:nvSpPr>
        <p:spPr>
          <a:xfrm>
            <a:off x="8921126" y="4402731"/>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Invoice is Generated and shared with client for payment processing</a:t>
            </a:r>
          </a:p>
        </p:txBody>
      </p:sp>
      <p:sp>
        <p:nvSpPr>
          <p:cNvPr id="19" name="Flowchart: Process 18">
            <a:extLst>
              <a:ext uri="{FF2B5EF4-FFF2-40B4-BE49-F238E27FC236}">
                <a16:creationId xmlns:a16="http://schemas.microsoft.com/office/drawing/2014/main" id="{46555655-B0CA-6D8D-4EAF-40D90FC29E5D}"/>
              </a:ext>
            </a:extLst>
          </p:cNvPr>
          <p:cNvSpPr>
            <a:spLocks/>
          </p:cNvSpPr>
          <p:nvPr/>
        </p:nvSpPr>
        <p:spPr>
          <a:xfrm>
            <a:off x="7988645" y="5671760"/>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sp>
        <p:nvSpPr>
          <p:cNvPr id="20" name="Flowchart: Document 19">
            <a:extLst>
              <a:ext uri="{FF2B5EF4-FFF2-40B4-BE49-F238E27FC236}">
                <a16:creationId xmlns:a16="http://schemas.microsoft.com/office/drawing/2014/main" id="{B7D5BCA9-A560-1078-FAF4-97B1934107E9}"/>
              </a:ext>
            </a:extLst>
          </p:cNvPr>
          <p:cNvSpPr/>
          <p:nvPr/>
        </p:nvSpPr>
        <p:spPr>
          <a:xfrm>
            <a:off x="10089925" y="1874388"/>
            <a:ext cx="946172" cy="599672"/>
          </a:xfrm>
          <a:prstGeom prst="flowChartDocumen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Payment Process FAP_100_004</a:t>
            </a:r>
          </a:p>
        </p:txBody>
      </p:sp>
      <p:sp>
        <p:nvSpPr>
          <p:cNvPr id="21" name="Flowchart: Terminator 20">
            <a:extLst>
              <a:ext uri="{FF2B5EF4-FFF2-40B4-BE49-F238E27FC236}">
                <a16:creationId xmlns:a16="http://schemas.microsoft.com/office/drawing/2014/main" id="{7AEAB27E-0F1F-644A-506D-47860D0705A0}"/>
              </a:ext>
            </a:extLst>
          </p:cNvPr>
          <p:cNvSpPr/>
          <p:nvPr/>
        </p:nvSpPr>
        <p:spPr>
          <a:xfrm>
            <a:off x="11381601" y="2080244"/>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3" name="Straight Arrow Connector 22">
            <a:extLst>
              <a:ext uri="{FF2B5EF4-FFF2-40B4-BE49-F238E27FC236}">
                <a16:creationId xmlns:a16="http://schemas.microsoft.com/office/drawing/2014/main" id="{FD024CBA-CF43-F263-B846-C68DCBE8F6C0}"/>
              </a:ext>
            </a:extLst>
          </p:cNvPr>
          <p:cNvCxnSpPr>
            <a:cxnSpLocks/>
            <a:stCxn id="20" idx="3"/>
            <a:endCxn id="21" idx="1"/>
          </p:cNvCxnSpPr>
          <p:nvPr/>
        </p:nvCxnSpPr>
        <p:spPr>
          <a:xfrm>
            <a:off x="11036097" y="2174224"/>
            <a:ext cx="345504"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68FD97E3-0DED-4B95-C5C0-38D116D16BB9}"/>
              </a:ext>
            </a:extLst>
          </p:cNvPr>
          <p:cNvCxnSpPr>
            <a:cxnSpLocks/>
            <a:stCxn id="8" idx="3"/>
            <a:endCxn id="13" idx="0"/>
          </p:cNvCxnSpPr>
          <p:nvPr/>
        </p:nvCxnSpPr>
        <p:spPr>
          <a:xfrm>
            <a:off x="4816262" y="2174224"/>
            <a:ext cx="1119951" cy="96653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E25A506B-64B2-5C1D-2AAD-95F7430DA9E3}"/>
              </a:ext>
            </a:extLst>
          </p:cNvPr>
          <p:cNvCxnSpPr>
            <a:cxnSpLocks/>
            <a:stCxn id="13" idx="2"/>
            <a:endCxn id="16" idx="0"/>
          </p:cNvCxnSpPr>
          <p:nvPr/>
        </p:nvCxnSpPr>
        <p:spPr>
          <a:xfrm rot="16200000" flipH="1">
            <a:off x="6536219" y="3140428"/>
            <a:ext cx="664949" cy="1864961"/>
          </a:xfrm>
          <a:prstGeom prst="bentConnector3">
            <a:avLst>
              <a:gd name="adj1" fmla="val 3098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227F9504-BF6F-B5DB-2B06-3996DC759DF4}"/>
              </a:ext>
            </a:extLst>
          </p:cNvPr>
          <p:cNvCxnSpPr>
            <a:cxnSpLocks/>
            <a:stCxn id="16" idx="2"/>
            <a:endCxn id="19" idx="1"/>
          </p:cNvCxnSpPr>
          <p:nvPr/>
        </p:nvCxnSpPr>
        <p:spPr>
          <a:xfrm rot="16200000" flipH="1">
            <a:off x="7411639" y="5394590"/>
            <a:ext cx="966540" cy="187471"/>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238BF921-B396-6C3B-FB40-E2FBBB37BAF5}"/>
              </a:ext>
            </a:extLst>
          </p:cNvPr>
          <p:cNvCxnSpPr>
            <a:cxnSpLocks/>
            <a:stCxn id="19" idx="3"/>
            <a:endCxn id="18" idx="2"/>
          </p:cNvCxnSpPr>
          <p:nvPr/>
        </p:nvCxnSpPr>
        <p:spPr>
          <a:xfrm flipV="1">
            <a:off x="9478665" y="5002403"/>
            <a:ext cx="187471" cy="969193"/>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40AC2FCB-1FA4-83B7-7F41-6496F9CA2191}"/>
              </a:ext>
            </a:extLst>
          </p:cNvPr>
          <p:cNvCxnSpPr>
            <a:cxnSpLocks/>
            <a:stCxn id="18" idx="0"/>
            <a:endCxn id="20" idx="1"/>
          </p:cNvCxnSpPr>
          <p:nvPr/>
        </p:nvCxnSpPr>
        <p:spPr>
          <a:xfrm rot="5400000" flipH="1" flipV="1">
            <a:off x="8763777" y="3076584"/>
            <a:ext cx="2228507" cy="42378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542E5478-6DE4-BE46-DF43-D9D624CC5EED}"/>
              </a:ext>
            </a:extLst>
          </p:cNvPr>
          <p:cNvCxnSpPr>
            <a:cxnSpLocks/>
            <a:stCxn id="5" idx="3"/>
            <a:endCxn id="8" idx="1"/>
          </p:cNvCxnSpPr>
          <p:nvPr/>
        </p:nvCxnSpPr>
        <p:spPr>
          <a:xfrm>
            <a:off x="2889115" y="2174224"/>
            <a:ext cx="43712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8397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3C88-F1F1-DA62-C08C-C32557034D9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2726C34-4469-BB56-610A-75FB2B8F64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think-cell data - do not delete" hidden="1">
                        <a:extLst>
                          <a:ext uri="{FF2B5EF4-FFF2-40B4-BE49-F238E27FC236}">
                            <a16:creationId xmlns:a16="http://schemas.microsoft.com/office/drawing/2014/main" id="{D2726C34-4469-BB56-610A-75FB2B8F64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05614F-4523-16F8-459A-62FA12BA9C37}"/>
              </a:ext>
            </a:extLst>
          </p:cNvPr>
          <p:cNvSpPr>
            <a:spLocks noGrp="1"/>
          </p:cNvSpPr>
          <p:nvPr>
            <p:ph type="title"/>
          </p:nvPr>
        </p:nvSpPr>
        <p:spPr>
          <a:xfrm>
            <a:off x="488632" y="377363"/>
            <a:ext cx="9358101" cy="502766"/>
          </a:xfrm>
        </p:spPr>
        <p:txBody>
          <a:bodyPr vert="horz">
            <a:normAutofit/>
          </a:bodyPr>
          <a:lstStyle/>
          <a:p>
            <a:r>
              <a:rPr lang="en-US"/>
              <a:t>Finance &amp; Accounting Processes – ZATCA</a:t>
            </a:r>
          </a:p>
        </p:txBody>
      </p:sp>
      <p:sp>
        <p:nvSpPr>
          <p:cNvPr id="195" name="Title 2">
            <a:extLst>
              <a:ext uri="{FF2B5EF4-FFF2-40B4-BE49-F238E27FC236}">
                <a16:creationId xmlns:a16="http://schemas.microsoft.com/office/drawing/2014/main" id="{6D07C3FE-1F08-9724-E5E7-2DD12FC1BE68}"/>
              </a:ext>
            </a:extLst>
          </p:cNvPr>
          <p:cNvSpPr txBox="1">
            <a:spLocks/>
          </p:cNvSpPr>
          <p:nvPr/>
        </p:nvSpPr>
        <p:spPr>
          <a:xfrm>
            <a:off x="1022032" y="836455"/>
            <a:ext cx="10331767" cy="5027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ontserrat SemiBold"/>
              <a:ea typeface="+mj-ea"/>
            </a:endParaRPr>
          </a:p>
        </p:txBody>
      </p:sp>
      <p:sp>
        <p:nvSpPr>
          <p:cNvPr id="4" name="Rectangle 3">
            <a:extLst>
              <a:ext uri="{FF2B5EF4-FFF2-40B4-BE49-F238E27FC236}">
                <a16:creationId xmlns:a16="http://schemas.microsoft.com/office/drawing/2014/main" id="{EFF3BBFB-D935-8552-C648-6E4E3F54F42C}"/>
              </a:ext>
            </a:extLst>
          </p:cNvPr>
          <p:cNvSpPr/>
          <p:nvPr/>
        </p:nvSpPr>
        <p:spPr>
          <a:xfrm>
            <a:off x="157122" y="1135032"/>
            <a:ext cx="11877755" cy="408377"/>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FAP_100_011 – ZAKAT Support on Period End Returns and Accounting Related Support</a:t>
            </a:r>
          </a:p>
        </p:txBody>
      </p:sp>
      <p:sp>
        <p:nvSpPr>
          <p:cNvPr id="12" name="Rectangle 11">
            <a:extLst>
              <a:ext uri="{FF2B5EF4-FFF2-40B4-BE49-F238E27FC236}">
                <a16:creationId xmlns:a16="http://schemas.microsoft.com/office/drawing/2014/main" id="{CB8B0489-4702-BC1C-C5A6-A361FF8D2E6C}"/>
              </a:ext>
            </a:extLst>
          </p:cNvPr>
          <p:cNvSpPr>
            <a:spLocks/>
          </p:cNvSpPr>
          <p:nvPr/>
        </p:nvSpPr>
        <p:spPr>
          <a:xfrm>
            <a:off x="157122" y="4069385"/>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Tax Advisors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(3</a:t>
            </a:r>
            <a:r>
              <a:rPr kumimoji="0" lang="en-US" sz="900" b="1" i="0" u="none" strike="noStrike" kern="1200" cap="none" spc="0" normalizeH="0" baseline="30000" noProof="0">
                <a:ln>
                  <a:noFill/>
                </a:ln>
                <a:solidFill>
                  <a:srgbClr val="000000"/>
                </a:solidFill>
                <a:effectLst/>
                <a:uLnTx/>
                <a:uFillTx/>
                <a:latin typeface="Montserrat"/>
                <a:ea typeface="+mn-ea"/>
                <a:cs typeface="Frutiger LT Arabic 45 Light" panose="020B0403030504020204" pitchFamily="34" charset="-78"/>
              </a:rPr>
              <a:t>rd</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 party)</a:t>
            </a:r>
          </a:p>
        </p:txBody>
      </p:sp>
      <p:sp>
        <p:nvSpPr>
          <p:cNvPr id="10" name="Rectangle 9">
            <a:extLst>
              <a:ext uri="{FF2B5EF4-FFF2-40B4-BE49-F238E27FC236}">
                <a16:creationId xmlns:a16="http://schemas.microsoft.com/office/drawing/2014/main" id="{F1241710-042B-0EEE-192B-F497135491BA}"/>
              </a:ext>
            </a:extLst>
          </p:cNvPr>
          <p:cNvSpPr>
            <a:spLocks/>
          </p:cNvSpPr>
          <p:nvPr/>
        </p:nvSpPr>
        <p:spPr>
          <a:xfrm>
            <a:off x="594249" y="4069386"/>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6" name="Rectangle 5">
            <a:extLst>
              <a:ext uri="{FF2B5EF4-FFF2-40B4-BE49-F238E27FC236}">
                <a16:creationId xmlns:a16="http://schemas.microsoft.com/office/drawing/2014/main" id="{D10D7738-9B35-ED77-8218-D7CA8E9FC82C}"/>
              </a:ext>
            </a:extLst>
          </p:cNvPr>
          <p:cNvSpPr/>
          <p:nvPr/>
        </p:nvSpPr>
        <p:spPr>
          <a:xfrm>
            <a:off x="594249" y="1541044"/>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9" name="Rectangle 8">
            <a:extLst>
              <a:ext uri="{FF2B5EF4-FFF2-40B4-BE49-F238E27FC236}">
                <a16:creationId xmlns:a16="http://schemas.microsoft.com/office/drawing/2014/main" id="{631B8C39-160D-110C-97B3-7087460EFF25}"/>
              </a:ext>
            </a:extLst>
          </p:cNvPr>
          <p:cNvSpPr>
            <a:spLocks/>
          </p:cNvSpPr>
          <p:nvPr/>
        </p:nvSpPr>
        <p:spPr>
          <a:xfrm>
            <a:off x="157122" y="1536635"/>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Senior Accountant</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1" name="Rectangle 10">
            <a:extLst>
              <a:ext uri="{FF2B5EF4-FFF2-40B4-BE49-F238E27FC236}">
                <a16:creationId xmlns:a16="http://schemas.microsoft.com/office/drawing/2014/main" id="{D8595521-AC47-DA42-0A5F-827283606BEE}"/>
              </a:ext>
            </a:extLst>
          </p:cNvPr>
          <p:cNvSpPr/>
          <p:nvPr/>
        </p:nvSpPr>
        <p:spPr>
          <a:xfrm>
            <a:off x="594249" y="2807419"/>
            <a:ext cx="11440628" cy="1266361"/>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14" name="Rectangle 13">
            <a:extLst>
              <a:ext uri="{FF2B5EF4-FFF2-40B4-BE49-F238E27FC236}">
                <a16:creationId xmlns:a16="http://schemas.microsoft.com/office/drawing/2014/main" id="{AC1BA731-7A21-0AB1-57E4-6809DAE4FBD2}"/>
              </a:ext>
            </a:extLst>
          </p:cNvPr>
          <p:cNvSpPr>
            <a:spLocks/>
          </p:cNvSpPr>
          <p:nvPr/>
        </p:nvSpPr>
        <p:spPr>
          <a:xfrm>
            <a:off x="157122" y="2803010"/>
            <a:ext cx="437127"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Accounting Manager (</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Tasama</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7" name="Rectangle 16">
            <a:extLst>
              <a:ext uri="{FF2B5EF4-FFF2-40B4-BE49-F238E27FC236}">
                <a16:creationId xmlns:a16="http://schemas.microsoft.com/office/drawing/2014/main" id="{511E6E2D-BC1F-8A82-A31D-B62A96C1E81D}"/>
              </a:ext>
            </a:extLst>
          </p:cNvPr>
          <p:cNvSpPr>
            <a:spLocks/>
          </p:cNvSpPr>
          <p:nvPr/>
        </p:nvSpPr>
        <p:spPr>
          <a:xfrm>
            <a:off x="157122" y="5335761"/>
            <a:ext cx="437127" cy="1271669"/>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vert270" lIns="27432" tIns="13716" rIns="27432" bIns="13716"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Finance Manager</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r>
              <a:rPr kumimoji="0" lang="en-US" sz="900" b="1" i="0" u="none" strike="noStrike" kern="1200" cap="none" spc="0" normalizeH="0" baseline="0" noProof="0" err="1">
                <a:ln>
                  <a:noFill/>
                </a:ln>
                <a:solidFill>
                  <a:srgbClr val="000000"/>
                </a:solidFill>
                <a:effectLst/>
                <a:uLnTx/>
                <a:uFillTx/>
                <a:latin typeface="Montserrat"/>
                <a:ea typeface="+mn-ea"/>
                <a:cs typeface="Frutiger LT Arabic 45 Light" panose="020B0403030504020204" pitchFamily="34" charset="-78"/>
              </a:rPr>
              <a:t>NewCo</a:t>
            </a:r>
            <a:r>
              <a:rPr kumimoji="0" lang="en-US" sz="9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rPr>
              <a:t>)</a:t>
            </a:r>
          </a:p>
        </p:txBody>
      </p:sp>
      <p:sp>
        <p:nvSpPr>
          <p:cNvPr id="15" name="Rectangle 14">
            <a:extLst>
              <a:ext uri="{FF2B5EF4-FFF2-40B4-BE49-F238E27FC236}">
                <a16:creationId xmlns:a16="http://schemas.microsoft.com/office/drawing/2014/main" id="{7E69B999-977F-3E9B-17A2-3AD0A5CA84D5}"/>
              </a:ext>
            </a:extLst>
          </p:cNvPr>
          <p:cNvSpPr>
            <a:spLocks/>
          </p:cNvSpPr>
          <p:nvPr/>
        </p:nvSpPr>
        <p:spPr>
          <a:xfrm>
            <a:off x="594249" y="5335762"/>
            <a:ext cx="11440628" cy="1271668"/>
          </a:xfrm>
          <a:prstGeom prst="rect">
            <a:avLst/>
          </a:prstGeom>
          <a:solidFill>
            <a:schemeClr val="bg1"/>
          </a:solidFill>
          <a:ln w="571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27432" tIns="13716" rIns="27432" bIns="13716"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000000"/>
              </a:solidFill>
              <a:effectLst/>
              <a:uLnTx/>
              <a:uFillTx/>
              <a:latin typeface="Montserrat"/>
              <a:ea typeface="+mn-ea"/>
              <a:cs typeface="Frutiger LT Arabic 45 Light" panose="020B0403030504020204" pitchFamily="34" charset="-78"/>
            </a:endParaRPr>
          </a:p>
        </p:txBody>
      </p:sp>
      <p:sp>
        <p:nvSpPr>
          <p:cNvPr id="85" name="Flowchart: Terminator 84">
            <a:extLst>
              <a:ext uri="{FF2B5EF4-FFF2-40B4-BE49-F238E27FC236}">
                <a16:creationId xmlns:a16="http://schemas.microsoft.com/office/drawing/2014/main" id="{6906E3DC-1EF6-BA96-2E67-6ADBC40AAF79}"/>
              </a:ext>
            </a:extLst>
          </p:cNvPr>
          <p:cNvSpPr/>
          <p:nvPr/>
        </p:nvSpPr>
        <p:spPr>
          <a:xfrm>
            <a:off x="724332" y="2080245"/>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Start</a:t>
            </a:r>
          </a:p>
        </p:txBody>
      </p:sp>
      <p:sp>
        <p:nvSpPr>
          <p:cNvPr id="5" name="Flowchart: Process 4">
            <a:extLst>
              <a:ext uri="{FF2B5EF4-FFF2-40B4-BE49-F238E27FC236}">
                <a16:creationId xmlns:a16="http://schemas.microsoft.com/office/drawing/2014/main" id="{5A6A3E79-46BC-8CED-E94E-BC336BAE10E1}"/>
              </a:ext>
            </a:extLst>
          </p:cNvPr>
          <p:cNvSpPr>
            <a:spLocks/>
          </p:cNvSpPr>
          <p:nvPr/>
        </p:nvSpPr>
        <p:spPr>
          <a:xfrm>
            <a:off x="1399095" y="187438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Due Period</a:t>
            </a:r>
          </a:p>
        </p:txBody>
      </p:sp>
      <p:cxnSp>
        <p:nvCxnSpPr>
          <p:cNvPr id="7" name="Straight Arrow Connector 6">
            <a:extLst>
              <a:ext uri="{FF2B5EF4-FFF2-40B4-BE49-F238E27FC236}">
                <a16:creationId xmlns:a16="http://schemas.microsoft.com/office/drawing/2014/main" id="{9801055F-100E-6485-19E0-76984E5CE909}"/>
              </a:ext>
            </a:extLst>
          </p:cNvPr>
          <p:cNvCxnSpPr>
            <a:cxnSpLocks/>
          </p:cNvCxnSpPr>
          <p:nvPr/>
        </p:nvCxnSpPr>
        <p:spPr>
          <a:xfrm flipV="1">
            <a:off x="1236361" y="2174224"/>
            <a:ext cx="162734"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8" name="Flowchart: Process 7">
            <a:extLst>
              <a:ext uri="{FF2B5EF4-FFF2-40B4-BE49-F238E27FC236}">
                <a16:creationId xmlns:a16="http://schemas.microsoft.com/office/drawing/2014/main" id="{CF030785-2AF6-D8DF-FE37-4A6F893C68D5}"/>
              </a:ext>
            </a:extLst>
          </p:cNvPr>
          <p:cNvSpPr>
            <a:spLocks/>
          </p:cNvSpPr>
          <p:nvPr/>
        </p:nvSpPr>
        <p:spPr>
          <a:xfrm>
            <a:off x="3326242" y="1874388"/>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Provide Information needed to complete the ZAKAT Template with tax advisors</a:t>
            </a:r>
          </a:p>
        </p:txBody>
      </p:sp>
      <p:sp>
        <p:nvSpPr>
          <p:cNvPr id="13" name="Flowchart: Process 12">
            <a:extLst>
              <a:ext uri="{FF2B5EF4-FFF2-40B4-BE49-F238E27FC236}">
                <a16:creationId xmlns:a16="http://schemas.microsoft.com/office/drawing/2014/main" id="{D9D1EEE4-BFD7-D498-E88F-BE95848E6D7F}"/>
              </a:ext>
            </a:extLst>
          </p:cNvPr>
          <p:cNvSpPr>
            <a:spLocks/>
          </p:cNvSpPr>
          <p:nvPr/>
        </p:nvSpPr>
        <p:spPr>
          <a:xfrm>
            <a:off x="5191203" y="3140763"/>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Perform review of Zakat return and share it with Client</a:t>
            </a:r>
          </a:p>
        </p:txBody>
      </p:sp>
      <p:sp>
        <p:nvSpPr>
          <p:cNvPr id="16" name="Flowchart: Process 15">
            <a:extLst>
              <a:ext uri="{FF2B5EF4-FFF2-40B4-BE49-F238E27FC236}">
                <a16:creationId xmlns:a16="http://schemas.microsoft.com/office/drawing/2014/main" id="{3C325228-9036-449B-4322-54C9BC54283C}"/>
              </a:ext>
            </a:extLst>
          </p:cNvPr>
          <p:cNvSpPr>
            <a:spLocks/>
          </p:cNvSpPr>
          <p:nvPr/>
        </p:nvSpPr>
        <p:spPr>
          <a:xfrm>
            <a:off x="7056164" y="4405384"/>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Upload Data on ZATCA Portal and submit</a:t>
            </a:r>
          </a:p>
        </p:txBody>
      </p:sp>
      <p:sp>
        <p:nvSpPr>
          <p:cNvPr id="18" name="Flowchart: Process 17">
            <a:extLst>
              <a:ext uri="{FF2B5EF4-FFF2-40B4-BE49-F238E27FC236}">
                <a16:creationId xmlns:a16="http://schemas.microsoft.com/office/drawing/2014/main" id="{AEA49E9A-E27B-806D-5CCA-9E738C11AB16}"/>
              </a:ext>
            </a:extLst>
          </p:cNvPr>
          <p:cNvSpPr>
            <a:spLocks/>
          </p:cNvSpPr>
          <p:nvPr/>
        </p:nvSpPr>
        <p:spPr>
          <a:xfrm>
            <a:off x="8921126" y="4402731"/>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Invoice is Generated and shared with client for payment processing</a:t>
            </a:r>
          </a:p>
        </p:txBody>
      </p:sp>
      <p:sp>
        <p:nvSpPr>
          <p:cNvPr id="19" name="Flowchart: Process 18">
            <a:extLst>
              <a:ext uri="{FF2B5EF4-FFF2-40B4-BE49-F238E27FC236}">
                <a16:creationId xmlns:a16="http://schemas.microsoft.com/office/drawing/2014/main" id="{0EF3656F-8D2B-90B3-8D96-88EB4F00D59B}"/>
              </a:ext>
            </a:extLst>
          </p:cNvPr>
          <p:cNvSpPr>
            <a:spLocks/>
          </p:cNvSpPr>
          <p:nvPr/>
        </p:nvSpPr>
        <p:spPr>
          <a:xfrm>
            <a:off x="7988645" y="5671760"/>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Review and Approve</a:t>
            </a:r>
          </a:p>
        </p:txBody>
      </p:sp>
      <p:sp>
        <p:nvSpPr>
          <p:cNvPr id="20" name="Flowchart: Document 19">
            <a:extLst>
              <a:ext uri="{FF2B5EF4-FFF2-40B4-BE49-F238E27FC236}">
                <a16:creationId xmlns:a16="http://schemas.microsoft.com/office/drawing/2014/main" id="{4BAE7824-5D35-1FCD-9839-77DC42B4BCEE}"/>
              </a:ext>
            </a:extLst>
          </p:cNvPr>
          <p:cNvSpPr/>
          <p:nvPr/>
        </p:nvSpPr>
        <p:spPr>
          <a:xfrm>
            <a:off x="10089925" y="1874388"/>
            <a:ext cx="946172" cy="599672"/>
          </a:xfrm>
          <a:prstGeom prst="flowChartDocumen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Payment Process FAP_100_004</a:t>
            </a:r>
          </a:p>
        </p:txBody>
      </p:sp>
      <p:sp>
        <p:nvSpPr>
          <p:cNvPr id="21" name="Flowchart: Terminator 20">
            <a:extLst>
              <a:ext uri="{FF2B5EF4-FFF2-40B4-BE49-F238E27FC236}">
                <a16:creationId xmlns:a16="http://schemas.microsoft.com/office/drawing/2014/main" id="{86A7E4C8-8109-5BCD-BD44-8C5B106E713A}"/>
              </a:ext>
            </a:extLst>
          </p:cNvPr>
          <p:cNvSpPr/>
          <p:nvPr/>
        </p:nvSpPr>
        <p:spPr>
          <a:xfrm>
            <a:off x="11381601" y="2080244"/>
            <a:ext cx="512029" cy="187960"/>
          </a:xfrm>
          <a:prstGeom prst="flowChartTerminator">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EFFFE"/>
                </a:solidFill>
                <a:effectLst/>
                <a:uLnTx/>
                <a:uFillTx/>
                <a:latin typeface="Montserrat"/>
                <a:ea typeface="+mn-ea"/>
                <a:cs typeface="Montserrat-Arabic"/>
              </a:rPr>
              <a:t>End</a:t>
            </a:r>
          </a:p>
        </p:txBody>
      </p:sp>
      <p:cxnSp>
        <p:nvCxnSpPr>
          <p:cNvPr id="23" name="Straight Arrow Connector 22">
            <a:extLst>
              <a:ext uri="{FF2B5EF4-FFF2-40B4-BE49-F238E27FC236}">
                <a16:creationId xmlns:a16="http://schemas.microsoft.com/office/drawing/2014/main" id="{84368A85-A836-2778-0CBA-C53882C60DF4}"/>
              </a:ext>
            </a:extLst>
          </p:cNvPr>
          <p:cNvCxnSpPr>
            <a:cxnSpLocks/>
            <a:stCxn id="20" idx="3"/>
            <a:endCxn id="21" idx="1"/>
          </p:cNvCxnSpPr>
          <p:nvPr/>
        </p:nvCxnSpPr>
        <p:spPr>
          <a:xfrm>
            <a:off x="11036097" y="2174224"/>
            <a:ext cx="345504"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C208EE6A-9659-BE89-9FF5-38E8CB90F489}"/>
              </a:ext>
            </a:extLst>
          </p:cNvPr>
          <p:cNvCxnSpPr>
            <a:cxnSpLocks/>
            <a:stCxn id="8" idx="3"/>
            <a:endCxn id="13" idx="0"/>
          </p:cNvCxnSpPr>
          <p:nvPr/>
        </p:nvCxnSpPr>
        <p:spPr>
          <a:xfrm>
            <a:off x="4816262" y="2174224"/>
            <a:ext cx="1119951" cy="96653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EA463392-F92E-2453-1830-CA008DB73E39}"/>
              </a:ext>
            </a:extLst>
          </p:cNvPr>
          <p:cNvCxnSpPr>
            <a:cxnSpLocks/>
            <a:stCxn id="13" idx="2"/>
            <a:endCxn id="19" idx="1"/>
          </p:cNvCxnSpPr>
          <p:nvPr/>
        </p:nvCxnSpPr>
        <p:spPr>
          <a:xfrm rot="16200000" flipH="1">
            <a:off x="5846849" y="3829799"/>
            <a:ext cx="2231161" cy="2052432"/>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B947B13E-EAE4-8627-41B6-C47E8A353B15}"/>
              </a:ext>
            </a:extLst>
          </p:cNvPr>
          <p:cNvCxnSpPr>
            <a:cxnSpLocks/>
            <a:stCxn id="19" idx="0"/>
            <a:endCxn id="16" idx="2"/>
          </p:cNvCxnSpPr>
          <p:nvPr/>
        </p:nvCxnSpPr>
        <p:spPr>
          <a:xfrm rot="16200000" flipV="1">
            <a:off x="7934063" y="4872167"/>
            <a:ext cx="666704" cy="932481"/>
          </a:xfrm>
          <a:prstGeom prst="bentConnector3">
            <a:avLst>
              <a:gd name="adj1" fmla="val 6459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7BDE8A00-4553-3FE1-1A06-33F352C04198}"/>
              </a:ext>
            </a:extLst>
          </p:cNvPr>
          <p:cNvCxnSpPr>
            <a:cxnSpLocks/>
            <a:stCxn id="18" idx="0"/>
            <a:endCxn id="20" idx="1"/>
          </p:cNvCxnSpPr>
          <p:nvPr/>
        </p:nvCxnSpPr>
        <p:spPr>
          <a:xfrm rot="5400000" flipH="1" flipV="1">
            <a:off x="8763777" y="3076584"/>
            <a:ext cx="2228507" cy="42378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C956FE48-EB45-4982-5D65-06B2ABA86BCB}"/>
              </a:ext>
            </a:extLst>
          </p:cNvPr>
          <p:cNvCxnSpPr>
            <a:cxnSpLocks/>
            <a:stCxn id="5" idx="3"/>
            <a:endCxn id="8" idx="1"/>
          </p:cNvCxnSpPr>
          <p:nvPr/>
        </p:nvCxnSpPr>
        <p:spPr>
          <a:xfrm>
            <a:off x="2889115" y="2174224"/>
            <a:ext cx="437127"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B130FB7B-C443-E514-70AE-E1A75976050A}"/>
              </a:ext>
            </a:extLst>
          </p:cNvPr>
          <p:cNvCxnSpPr>
            <a:cxnSpLocks/>
            <a:stCxn id="16" idx="3"/>
            <a:endCxn id="18" idx="1"/>
          </p:cNvCxnSpPr>
          <p:nvPr/>
        </p:nvCxnSpPr>
        <p:spPr>
          <a:xfrm flipV="1">
            <a:off x="8546184" y="4702567"/>
            <a:ext cx="374942" cy="2653"/>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33" name="Flowchart: Process 32">
            <a:extLst>
              <a:ext uri="{FF2B5EF4-FFF2-40B4-BE49-F238E27FC236}">
                <a16:creationId xmlns:a16="http://schemas.microsoft.com/office/drawing/2014/main" id="{1C15A8D5-3C38-5757-8A2A-5536DAB0047B}"/>
              </a:ext>
            </a:extLst>
          </p:cNvPr>
          <p:cNvSpPr>
            <a:spLocks/>
          </p:cNvSpPr>
          <p:nvPr/>
        </p:nvSpPr>
        <p:spPr>
          <a:xfrm>
            <a:off x="3326242" y="4401846"/>
            <a:ext cx="1490020" cy="599672"/>
          </a:xfrm>
          <a:prstGeom prst="flowChartProcess">
            <a:avLst/>
          </a:prstGeom>
          <a:solidFill>
            <a:schemeClr val="tx2"/>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Montserrat"/>
                <a:ea typeface="+mn-ea"/>
                <a:cs typeface="Montserrat-Arabic"/>
              </a:rPr>
              <a:t>Providing the information requirements needed to complete the return</a:t>
            </a:r>
          </a:p>
        </p:txBody>
      </p:sp>
      <p:cxnSp>
        <p:nvCxnSpPr>
          <p:cNvPr id="35" name="Straight Arrow Connector 34">
            <a:extLst>
              <a:ext uri="{FF2B5EF4-FFF2-40B4-BE49-F238E27FC236}">
                <a16:creationId xmlns:a16="http://schemas.microsoft.com/office/drawing/2014/main" id="{53A319E8-6DBB-E823-1122-4BA1F59CB627}"/>
              </a:ext>
            </a:extLst>
          </p:cNvPr>
          <p:cNvCxnSpPr>
            <a:cxnSpLocks/>
            <a:stCxn id="33" idx="0"/>
            <a:endCxn id="8" idx="2"/>
          </p:cNvCxnSpPr>
          <p:nvPr/>
        </p:nvCxnSpPr>
        <p:spPr>
          <a:xfrm flipV="1">
            <a:off x="4071252" y="2474060"/>
            <a:ext cx="0" cy="1927786"/>
          </a:xfrm>
          <a:prstGeom prst="straightConnector1">
            <a:avLst/>
          </a:prstGeom>
          <a:ln w="9525">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5338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416B2D-86A6-61CF-29A8-E7272C10BDDF}"/>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34AC918C-A713-64A4-6703-91E3E84762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think-cell data - do not delete" hidden="1">
                        <a:extLst>
                          <a:ext uri="{FF2B5EF4-FFF2-40B4-BE49-F238E27FC236}">
                            <a16:creationId xmlns:a16="http://schemas.microsoft.com/office/drawing/2014/main" id="{34AC918C-A713-64A4-6703-91E3E84762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4" name="Picture 53">
            <a:extLst>
              <a:ext uri="{FF2B5EF4-FFF2-40B4-BE49-F238E27FC236}">
                <a16:creationId xmlns:a16="http://schemas.microsoft.com/office/drawing/2014/main" id="{4F812752-87F8-EB23-F9A8-886ED5FA515D}"/>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0" y="2311089"/>
            <a:ext cx="12192000" cy="657551"/>
          </a:xfrm>
          <a:prstGeom prst="rect">
            <a:avLst/>
          </a:prstGeom>
          <a:solidFill>
            <a:srgbClr val="FFFFFF"/>
          </a:solidFill>
          <a:ln>
            <a:noFill/>
          </a:ln>
        </p:spPr>
      </p:pic>
      <p:sp>
        <p:nvSpPr>
          <p:cNvPr id="2" name="Title 1">
            <a:extLst>
              <a:ext uri="{FF2B5EF4-FFF2-40B4-BE49-F238E27FC236}">
                <a16:creationId xmlns:a16="http://schemas.microsoft.com/office/drawing/2014/main" id="{89000605-3358-A203-86A3-52E402E37D10}"/>
              </a:ext>
            </a:extLst>
          </p:cNvPr>
          <p:cNvSpPr>
            <a:spLocks noGrp="1"/>
          </p:cNvSpPr>
          <p:nvPr>
            <p:ph type="title"/>
          </p:nvPr>
        </p:nvSpPr>
        <p:spPr/>
        <p:txBody>
          <a:bodyPr vert="horz"/>
          <a:lstStyle/>
          <a:p>
            <a:r>
              <a:rPr lang="en-US"/>
              <a:t>Finance Baseline Overview</a:t>
            </a:r>
            <a:endParaRPr lang="en-AE"/>
          </a:p>
        </p:txBody>
      </p:sp>
      <p:sp>
        <p:nvSpPr>
          <p:cNvPr id="3" name="Slide Number Placeholder 2">
            <a:extLst>
              <a:ext uri="{FF2B5EF4-FFF2-40B4-BE49-F238E27FC236}">
                <a16:creationId xmlns:a16="http://schemas.microsoft.com/office/drawing/2014/main" id="{B3584A26-1798-E7D8-D57B-6C23E86D0C2D}"/>
              </a:ext>
            </a:extLst>
          </p:cNvPr>
          <p:cNvSpPr>
            <a:spLocks noGrp="1"/>
          </p:cNvSpPr>
          <p:nvPr>
            <p:ph type="sldNum" sz="quarter" idx="12"/>
          </p:nvPr>
        </p:nvSpPr>
        <p:spPr/>
        <p:txBody>
          <a:bodyPr/>
          <a:lstStyle/>
          <a:p>
            <a:fld id="{0B5D68DA-F15D-0F40-9055-781099452C22}" type="slidenum">
              <a:rPr lang="en-SA" smtClean="0"/>
              <a:t>20</a:t>
            </a:fld>
            <a:endParaRPr lang="en-SA"/>
          </a:p>
        </p:txBody>
      </p:sp>
      <p:sp>
        <p:nvSpPr>
          <p:cNvPr id="46" name="TextBox 45">
            <a:extLst>
              <a:ext uri="{FF2B5EF4-FFF2-40B4-BE49-F238E27FC236}">
                <a16:creationId xmlns:a16="http://schemas.microsoft.com/office/drawing/2014/main" id="{E49784BC-18FA-DF10-16BB-3F102383DCF7}"/>
              </a:ext>
            </a:extLst>
          </p:cNvPr>
          <p:cNvSpPr txBox="1"/>
          <p:nvPr/>
        </p:nvSpPr>
        <p:spPr>
          <a:xfrm>
            <a:off x="318000" y="1042233"/>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600">
                <a:solidFill>
                  <a:schemeClr val="tx1"/>
                </a:solidFill>
              </a:rPr>
              <a:t>Two Processes in Scope</a:t>
            </a:r>
          </a:p>
        </p:txBody>
      </p:sp>
      <p:cxnSp>
        <p:nvCxnSpPr>
          <p:cNvPr id="47" name="Straight Connector 46">
            <a:extLst>
              <a:ext uri="{FF2B5EF4-FFF2-40B4-BE49-F238E27FC236}">
                <a16:creationId xmlns:a16="http://schemas.microsoft.com/office/drawing/2014/main" id="{AFF89032-551C-9C92-3023-56E5A5BF4E74}"/>
              </a:ext>
            </a:extLst>
          </p:cNvPr>
          <p:cNvCxnSpPr>
            <a:cxnSpLocks/>
          </p:cNvCxnSpPr>
          <p:nvPr/>
        </p:nvCxnSpPr>
        <p:spPr>
          <a:xfrm flipH="1">
            <a:off x="449421" y="1478609"/>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99048491-15FE-2DAA-B8A5-B68176BBA896}"/>
              </a:ext>
            </a:extLst>
          </p:cNvPr>
          <p:cNvSpPr/>
          <p:nvPr/>
        </p:nvSpPr>
        <p:spPr>
          <a:xfrm>
            <a:off x="2360608" y="2140765"/>
            <a:ext cx="3119677" cy="959536"/>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bg2"/>
                </a:solidFill>
              </a:rPr>
              <a:t>Manual Process</a:t>
            </a:r>
          </a:p>
          <a:p>
            <a:pPr algn="ctr"/>
            <a:r>
              <a:rPr lang="en-US" sz="1200">
                <a:solidFill>
                  <a:schemeClr val="bg2"/>
                </a:solidFill>
              </a:rPr>
              <a:t>Invoice handling and payments through emails, spreadsheets, and manual uploads</a:t>
            </a:r>
            <a:endParaRPr lang="en-AE" sz="1050">
              <a:solidFill>
                <a:schemeClr val="bg2"/>
              </a:solidFill>
            </a:endParaRPr>
          </a:p>
        </p:txBody>
      </p:sp>
      <p:sp>
        <p:nvSpPr>
          <p:cNvPr id="56" name="Rectangle: Rounded Corners 55">
            <a:extLst>
              <a:ext uri="{FF2B5EF4-FFF2-40B4-BE49-F238E27FC236}">
                <a16:creationId xmlns:a16="http://schemas.microsoft.com/office/drawing/2014/main" id="{541E42FD-5187-2C3C-636B-BCC8F9DB257D}"/>
              </a:ext>
            </a:extLst>
          </p:cNvPr>
          <p:cNvSpPr/>
          <p:nvPr/>
        </p:nvSpPr>
        <p:spPr>
          <a:xfrm>
            <a:off x="7837728" y="2140765"/>
            <a:ext cx="3119677" cy="959536"/>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bg2"/>
                </a:solidFill>
              </a:rPr>
              <a:t>ERP Process</a:t>
            </a:r>
          </a:p>
          <a:p>
            <a:pPr algn="ctr"/>
            <a:r>
              <a:rPr lang="en-US" sz="1200">
                <a:solidFill>
                  <a:schemeClr val="bg2"/>
                </a:solidFill>
              </a:rPr>
              <a:t>Streamlined workflow with automated approvals, system posting, and integrated reconciliation</a:t>
            </a:r>
            <a:endParaRPr lang="en-AE" sz="1050">
              <a:solidFill>
                <a:schemeClr val="bg2"/>
              </a:solidFill>
            </a:endParaRPr>
          </a:p>
        </p:txBody>
      </p:sp>
      <p:sp>
        <p:nvSpPr>
          <p:cNvPr id="5" name="Arrow: Down 4">
            <a:extLst>
              <a:ext uri="{FF2B5EF4-FFF2-40B4-BE49-F238E27FC236}">
                <a16:creationId xmlns:a16="http://schemas.microsoft.com/office/drawing/2014/main" id="{E14A38CA-7C2D-2542-885B-00F8044300BF}"/>
              </a:ext>
            </a:extLst>
          </p:cNvPr>
          <p:cNvSpPr/>
          <p:nvPr/>
        </p:nvSpPr>
        <p:spPr>
          <a:xfrm>
            <a:off x="3678130" y="3204192"/>
            <a:ext cx="484632" cy="193225"/>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8" name="Arrow: Down 7">
            <a:extLst>
              <a:ext uri="{FF2B5EF4-FFF2-40B4-BE49-F238E27FC236}">
                <a16:creationId xmlns:a16="http://schemas.microsoft.com/office/drawing/2014/main" id="{2BBA119D-E0F3-53E6-92B4-4DC1309BAC9D}"/>
              </a:ext>
            </a:extLst>
          </p:cNvPr>
          <p:cNvSpPr/>
          <p:nvPr/>
        </p:nvSpPr>
        <p:spPr>
          <a:xfrm>
            <a:off x="9155250" y="3204192"/>
            <a:ext cx="484632" cy="193225"/>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Rectangle: Rounded Corners 10">
            <a:extLst>
              <a:ext uri="{FF2B5EF4-FFF2-40B4-BE49-F238E27FC236}">
                <a16:creationId xmlns:a16="http://schemas.microsoft.com/office/drawing/2014/main" id="{A94853E3-F2CA-6442-9387-8FDE37556247}"/>
              </a:ext>
            </a:extLst>
          </p:cNvPr>
          <p:cNvSpPr/>
          <p:nvPr/>
        </p:nvSpPr>
        <p:spPr>
          <a:xfrm>
            <a:off x="2502411" y="3529040"/>
            <a:ext cx="1175719" cy="55191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solidFill>
                  <a:schemeClr val="bg2"/>
                </a:solidFill>
              </a:rPr>
              <a:t>~13 steps</a:t>
            </a:r>
            <a:endParaRPr lang="en-AE" sz="1050">
              <a:solidFill>
                <a:schemeClr val="bg2"/>
              </a:solidFill>
            </a:endParaRPr>
          </a:p>
        </p:txBody>
      </p:sp>
      <p:sp>
        <p:nvSpPr>
          <p:cNvPr id="13" name="Rectangle: Rounded Corners 12">
            <a:extLst>
              <a:ext uri="{FF2B5EF4-FFF2-40B4-BE49-F238E27FC236}">
                <a16:creationId xmlns:a16="http://schemas.microsoft.com/office/drawing/2014/main" id="{197E987E-4022-DA92-1127-061E02C3B781}"/>
              </a:ext>
            </a:extLst>
          </p:cNvPr>
          <p:cNvSpPr/>
          <p:nvPr/>
        </p:nvSpPr>
        <p:spPr>
          <a:xfrm>
            <a:off x="4162762" y="3529040"/>
            <a:ext cx="1175719" cy="55191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solidFill>
                  <a:schemeClr val="bg2"/>
                </a:solidFill>
              </a:rPr>
              <a:t>60–90 mins per invoice</a:t>
            </a:r>
            <a:endParaRPr lang="en-AE" sz="1050">
              <a:solidFill>
                <a:schemeClr val="bg2"/>
              </a:solidFill>
            </a:endParaRPr>
          </a:p>
        </p:txBody>
      </p:sp>
      <p:sp>
        <p:nvSpPr>
          <p:cNvPr id="15" name="Rectangle: Rounded Corners 14">
            <a:extLst>
              <a:ext uri="{FF2B5EF4-FFF2-40B4-BE49-F238E27FC236}">
                <a16:creationId xmlns:a16="http://schemas.microsoft.com/office/drawing/2014/main" id="{3F29B194-614D-2705-29AA-31DA6627F17E}"/>
              </a:ext>
            </a:extLst>
          </p:cNvPr>
          <p:cNvSpPr/>
          <p:nvPr/>
        </p:nvSpPr>
        <p:spPr>
          <a:xfrm>
            <a:off x="7979531" y="3529040"/>
            <a:ext cx="1175719" cy="55191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solidFill>
                  <a:schemeClr val="bg2"/>
                </a:solidFill>
              </a:rPr>
              <a:t>~15 steps</a:t>
            </a:r>
            <a:endParaRPr lang="en-AE" sz="1050">
              <a:solidFill>
                <a:schemeClr val="bg2"/>
              </a:solidFill>
            </a:endParaRPr>
          </a:p>
        </p:txBody>
      </p:sp>
      <p:sp>
        <p:nvSpPr>
          <p:cNvPr id="16" name="Rectangle: Rounded Corners 15">
            <a:extLst>
              <a:ext uri="{FF2B5EF4-FFF2-40B4-BE49-F238E27FC236}">
                <a16:creationId xmlns:a16="http://schemas.microsoft.com/office/drawing/2014/main" id="{105DB624-731F-B30D-1D6F-C33D704D65E6}"/>
              </a:ext>
            </a:extLst>
          </p:cNvPr>
          <p:cNvSpPr/>
          <p:nvPr/>
        </p:nvSpPr>
        <p:spPr>
          <a:xfrm>
            <a:off x="9639882" y="3529040"/>
            <a:ext cx="1175719" cy="55191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solidFill>
                  <a:schemeClr val="bg2"/>
                </a:solidFill>
              </a:rPr>
              <a:t>~40–50% faster due to automation</a:t>
            </a:r>
            <a:endParaRPr lang="en-AE" sz="1050">
              <a:solidFill>
                <a:schemeClr val="bg2"/>
              </a:solidFill>
            </a:endParaRPr>
          </a:p>
        </p:txBody>
      </p:sp>
      <mc:AlternateContent xmlns:mc="http://schemas.openxmlformats.org/markup-compatibility/2006">
        <mc:Choice xmlns:pslz="http://schemas.microsoft.com/office/powerpoint/2016/slidezoom" Requires="pslz">
          <p:graphicFrame>
            <p:nvGraphicFramePr>
              <p:cNvPr id="19" name="Slide Zoom 18">
                <a:extLst>
                  <a:ext uri="{FF2B5EF4-FFF2-40B4-BE49-F238E27FC236}">
                    <a16:creationId xmlns:a16="http://schemas.microsoft.com/office/drawing/2014/main" id="{C26574AF-245A-3858-88A5-A02A954FCEDD}"/>
                  </a:ext>
                </a:extLst>
              </p:cNvPr>
              <p:cNvGraphicFramePr>
                <a:graphicFrameLocks/>
              </p:cNvGraphicFramePr>
              <p:nvPr/>
            </p:nvGraphicFramePr>
            <p:xfrm>
              <a:off x="2879534" y="5185324"/>
              <a:ext cx="2081825" cy="1171026"/>
            </p:xfrm>
            <a:graphic>
              <a:graphicData uri="http://schemas.microsoft.com/office/powerpoint/2016/slidezoom">
                <pslz:sldZm>
                  <pslz:sldZmObj sldId="2147482120" cId="279073996">
                    <pslz:zmPr id="{B162753B-D858-46EF-992A-7C58316B9FAD}" returnToParent="0" transitionDur="1000">
                      <p166:blipFill xmlns:p166="http://schemas.microsoft.com/office/powerpoint/2016/6/main">
                        <a:blip r:embed="rId7"/>
                        <a:stretch>
                          <a:fillRect/>
                        </a:stretch>
                      </p166:blipFill>
                      <p166:spPr xmlns:p166="http://schemas.microsoft.com/office/powerpoint/2016/6/main">
                        <a:xfrm>
                          <a:off x="0" y="0"/>
                          <a:ext cx="2081825" cy="1171026"/>
                        </a:xfrm>
                        <a:prstGeom prst="rect">
                          <a:avLst/>
                        </a:prstGeom>
                        <a:ln w="3175">
                          <a:solidFill>
                            <a:prstClr val="ltGray"/>
                          </a:solidFill>
                        </a:ln>
                        <a:effectLst>
                          <a:outerShdw blurRad="50800" dist="38100" algn="l" rotWithShape="0">
                            <a:prstClr val="black">
                              <a:alpha val="40000"/>
                            </a:prstClr>
                          </a:outerShdw>
                        </a:effectLst>
                      </p166:spPr>
                    </pslz:zmPr>
                  </pslz:sldZmObj>
                </pslz:sldZm>
              </a:graphicData>
            </a:graphic>
          </p:graphicFrame>
        </mc:Choice>
        <mc:Fallback>
          <p:pic>
            <p:nvPicPr>
              <p:cNvPr id="19" name="Slide Zoom 18">
                <a:extLst>
                  <a:ext uri="{FF2B5EF4-FFF2-40B4-BE49-F238E27FC236}">
                    <a16:creationId xmlns:a16="http://schemas.microsoft.com/office/drawing/2014/main" id="{C26574AF-245A-3858-88A5-A02A954FCEDD}"/>
                  </a:ext>
                </a:extLst>
              </p:cNvPr>
              <p:cNvPicPr>
                <a:picLocks noGrp="1" noRot="1" noChangeAspect="1" noMove="1" noResize="1" noEditPoints="1" noAdjustHandles="1" noChangeArrowheads="1" noChangeShapeType="1"/>
              </p:cNvPicPr>
              <p:nvPr/>
            </p:nvPicPr>
            <p:blipFill>
              <a:blip r:embed="rId7"/>
              <a:stretch>
                <a:fillRect/>
              </a:stretch>
            </p:blipFill>
            <p:spPr>
              <a:xfrm>
                <a:off x="2879534" y="5185324"/>
                <a:ext cx="2081825" cy="1171026"/>
              </a:xfrm>
              <a:prstGeom prst="rect">
                <a:avLst/>
              </a:prstGeom>
              <a:ln w="3175">
                <a:solidFill>
                  <a:prstClr val="ltGray"/>
                </a:solidFill>
              </a:ln>
              <a:effectLst>
                <a:outerShdw blurRad="50800" dist="38100" algn="l" rotWithShape="0">
                  <a:prstClr val="black">
                    <a:alpha val="40000"/>
                  </a:prstClr>
                </a:outerShdw>
              </a:effectLst>
            </p:spPr>
          </p:pic>
        </mc:Fallback>
      </mc:AlternateContent>
      <mc:AlternateContent xmlns:mc="http://schemas.openxmlformats.org/markup-compatibility/2006">
        <mc:Choice xmlns:pslz="http://schemas.microsoft.com/office/powerpoint/2016/slidezoom" Requires="pslz">
          <p:graphicFrame>
            <p:nvGraphicFramePr>
              <p:cNvPr id="21" name="Slide Zoom 20">
                <a:extLst>
                  <a:ext uri="{FF2B5EF4-FFF2-40B4-BE49-F238E27FC236}">
                    <a16:creationId xmlns:a16="http://schemas.microsoft.com/office/drawing/2014/main" id="{0C6BF16B-91CF-B6FA-A3B9-2DAA296591CC}"/>
                  </a:ext>
                </a:extLst>
              </p:cNvPr>
              <p:cNvGraphicFramePr>
                <a:graphicFrameLocks/>
              </p:cNvGraphicFramePr>
              <p:nvPr/>
            </p:nvGraphicFramePr>
            <p:xfrm>
              <a:off x="8356654" y="5185324"/>
              <a:ext cx="2081825" cy="1171026"/>
            </p:xfrm>
            <a:graphic>
              <a:graphicData uri="http://schemas.microsoft.com/office/powerpoint/2016/slidezoom">
                <pslz:sldZm>
                  <pslz:sldZmObj sldId="2147482129" cId="3380452360">
                    <pslz:zmPr id="{36D4E79C-1939-4719-9DE9-378CEADF0885}" returnToParent="0" transitionDur="1000">
                      <p166:blipFill xmlns:p166="http://schemas.microsoft.com/office/powerpoint/2016/6/main">
                        <a:blip r:embed="rId8"/>
                        <a:stretch>
                          <a:fillRect/>
                        </a:stretch>
                      </p166:blipFill>
                      <p166:spPr xmlns:p166="http://schemas.microsoft.com/office/powerpoint/2016/6/main">
                        <a:xfrm>
                          <a:off x="0" y="0"/>
                          <a:ext cx="2081825" cy="1171026"/>
                        </a:xfrm>
                        <a:prstGeom prst="rect">
                          <a:avLst/>
                        </a:prstGeom>
                        <a:ln w="3175">
                          <a:solidFill>
                            <a:prstClr val="ltGray"/>
                          </a:solidFill>
                        </a:ln>
                        <a:effectLst>
                          <a:outerShdw blurRad="50800" dist="38100" algn="l" rotWithShape="0">
                            <a:prstClr val="black">
                              <a:alpha val="40000"/>
                            </a:prstClr>
                          </a:outerShdw>
                        </a:effectLst>
                      </p166:spPr>
                    </pslz:zmPr>
                  </pslz:sldZmObj>
                </pslz:sldZm>
              </a:graphicData>
            </a:graphic>
          </p:graphicFrame>
        </mc:Choice>
        <mc:Fallback>
          <p:pic>
            <p:nvPicPr>
              <p:cNvPr id="21" name="Slide Zoom 20">
                <a:extLst>
                  <a:ext uri="{FF2B5EF4-FFF2-40B4-BE49-F238E27FC236}">
                    <a16:creationId xmlns:a16="http://schemas.microsoft.com/office/drawing/2014/main" id="{0C6BF16B-91CF-B6FA-A3B9-2DAA296591CC}"/>
                  </a:ext>
                </a:extLst>
              </p:cNvPr>
              <p:cNvPicPr>
                <a:picLocks noGrp="1" noRot="1" noChangeAspect="1" noMove="1" noResize="1" noEditPoints="1" noAdjustHandles="1" noChangeArrowheads="1" noChangeShapeType="1"/>
              </p:cNvPicPr>
              <p:nvPr/>
            </p:nvPicPr>
            <p:blipFill>
              <a:blip r:embed="rId8"/>
              <a:stretch>
                <a:fillRect/>
              </a:stretch>
            </p:blipFill>
            <p:spPr>
              <a:xfrm>
                <a:off x="8356654" y="5185324"/>
                <a:ext cx="2081825" cy="1171026"/>
              </a:xfrm>
              <a:prstGeom prst="rect">
                <a:avLst/>
              </a:prstGeom>
              <a:ln w="3175">
                <a:solidFill>
                  <a:prstClr val="ltGray"/>
                </a:solidFill>
              </a:ln>
              <a:effectLst>
                <a:outerShdw blurRad="50800" dist="38100" algn="l" rotWithShape="0">
                  <a:prstClr val="black">
                    <a:alpha val="40000"/>
                  </a:prstClr>
                </a:outerShdw>
              </a:effectLst>
            </p:spPr>
          </p:pic>
        </mc:Fallback>
      </mc:AlternateContent>
      <p:sp>
        <p:nvSpPr>
          <p:cNvPr id="22" name="Rectangle: Rounded Corners 21">
            <a:extLst>
              <a:ext uri="{FF2B5EF4-FFF2-40B4-BE49-F238E27FC236}">
                <a16:creationId xmlns:a16="http://schemas.microsoft.com/office/drawing/2014/main" id="{D92029F6-A8F7-F4C2-16FD-21930ABF0BEF}"/>
              </a:ext>
            </a:extLst>
          </p:cNvPr>
          <p:cNvSpPr/>
          <p:nvPr/>
        </p:nvSpPr>
        <p:spPr>
          <a:xfrm>
            <a:off x="2502411" y="4276381"/>
            <a:ext cx="2836070"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
            </a:pPr>
            <a:r>
              <a:rPr lang="en-US" sz="1050">
                <a:solidFill>
                  <a:schemeClr val="bg2"/>
                </a:solidFill>
              </a:rPr>
              <a:t>High manual effort &amp; error-prone</a:t>
            </a:r>
          </a:p>
          <a:p>
            <a:pPr marL="171450" indent="-171450">
              <a:buFont typeface="Wingdings" panose="05000000000000000000" pitchFamily="2" charset="2"/>
              <a:buChar char="§"/>
            </a:pPr>
            <a:r>
              <a:rPr lang="en-US" sz="1050">
                <a:solidFill>
                  <a:schemeClr val="bg2"/>
                </a:solidFill>
              </a:rPr>
              <a:t>Multiple approvals outside the system</a:t>
            </a:r>
          </a:p>
          <a:p>
            <a:pPr marL="171450" indent="-171450">
              <a:buFont typeface="Wingdings" panose="05000000000000000000" pitchFamily="2" charset="2"/>
              <a:buChar char="§"/>
            </a:pPr>
            <a:r>
              <a:rPr lang="en-US" sz="1050">
                <a:solidFill>
                  <a:schemeClr val="bg2"/>
                </a:solidFill>
              </a:rPr>
              <a:t>Limited visibility &amp; tracking</a:t>
            </a:r>
            <a:endParaRPr lang="en-AE" sz="1050">
              <a:solidFill>
                <a:schemeClr val="bg2"/>
              </a:solidFill>
            </a:endParaRPr>
          </a:p>
        </p:txBody>
      </p:sp>
      <p:sp>
        <p:nvSpPr>
          <p:cNvPr id="24" name="Rectangle: Rounded Corners 23">
            <a:extLst>
              <a:ext uri="{FF2B5EF4-FFF2-40B4-BE49-F238E27FC236}">
                <a16:creationId xmlns:a16="http://schemas.microsoft.com/office/drawing/2014/main" id="{522DC953-4F8A-F64C-3488-A9289D3AFC09}"/>
              </a:ext>
            </a:extLst>
          </p:cNvPr>
          <p:cNvSpPr/>
          <p:nvPr/>
        </p:nvSpPr>
        <p:spPr>
          <a:xfrm>
            <a:off x="7979531" y="4276381"/>
            <a:ext cx="2836070"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
            </a:pPr>
            <a:r>
              <a:rPr lang="en-US" sz="1050">
                <a:solidFill>
                  <a:schemeClr val="bg2"/>
                </a:solidFill>
              </a:rPr>
              <a:t>Faster cycle time with auto-posting</a:t>
            </a:r>
          </a:p>
          <a:p>
            <a:pPr marL="171450" indent="-171450">
              <a:buFont typeface="Wingdings" panose="05000000000000000000" pitchFamily="2" charset="2"/>
              <a:buChar char="§"/>
            </a:pPr>
            <a:r>
              <a:rPr lang="en-US" sz="1050">
                <a:solidFill>
                  <a:schemeClr val="bg2"/>
                </a:solidFill>
              </a:rPr>
              <a:t>Built-in controls &amp; approvals</a:t>
            </a:r>
          </a:p>
          <a:p>
            <a:pPr marL="171450" indent="-171450">
              <a:buFont typeface="Wingdings" panose="05000000000000000000" pitchFamily="2" charset="2"/>
              <a:buChar char="§"/>
            </a:pPr>
            <a:r>
              <a:rPr lang="en-US" sz="1050">
                <a:solidFill>
                  <a:schemeClr val="bg2"/>
                </a:solidFill>
              </a:rPr>
              <a:t>End-to-end visibility &amp; reconciliation</a:t>
            </a:r>
            <a:endParaRPr lang="en-AE" sz="1050">
              <a:solidFill>
                <a:schemeClr val="bg2"/>
              </a:solidFill>
            </a:endParaRPr>
          </a:p>
        </p:txBody>
      </p:sp>
      <p:sp>
        <p:nvSpPr>
          <p:cNvPr id="25" name="Rectangle 24">
            <a:extLst>
              <a:ext uri="{FF2B5EF4-FFF2-40B4-BE49-F238E27FC236}">
                <a16:creationId xmlns:a16="http://schemas.microsoft.com/office/drawing/2014/main" id="{CF809233-1ABB-9C31-552A-F47CC2A2E8ED}"/>
              </a:ext>
            </a:extLst>
          </p:cNvPr>
          <p:cNvSpPr/>
          <p:nvPr/>
        </p:nvSpPr>
        <p:spPr>
          <a:xfrm>
            <a:off x="929825" y="4446358"/>
            <a:ext cx="1397000" cy="394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b="1">
                <a:solidFill>
                  <a:schemeClr val="accent6"/>
                </a:solidFill>
                <a:latin typeface="Ink Free" panose="03080402000500000000" pitchFamily="66" charset="0"/>
              </a:rPr>
              <a:t>Key Pain Points</a:t>
            </a:r>
            <a:endParaRPr lang="en-AE" sz="1400" b="1">
              <a:solidFill>
                <a:schemeClr val="accent6"/>
              </a:solidFill>
              <a:latin typeface="Ink Free" panose="03080402000500000000" pitchFamily="66" charset="0"/>
            </a:endParaRPr>
          </a:p>
        </p:txBody>
      </p:sp>
      <p:sp>
        <p:nvSpPr>
          <p:cNvPr id="27" name="Rectangle 26">
            <a:extLst>
              <a:ext uri="{FF2B5EF4-FFF2-40B4-BE49-F238E27FC236}">
                <a16:creationId xmlns:a16="http://schemas.microsoft.com/office/drawing/2014/main" id="{B79797AF-F97D-36F7-1609-55B5AB98CAE9}"/>
              </a:ext>
            </a:extLst>
          </p:cNvPr>
          <p:cNvSpPr/>
          <p:nvPr/>
        </p:nvSpPr>
        <p:spPr>
          <a:xfrm>
            <a:off x="6406945" y="4446358"/>
            <a:ext cx="1397000" cy="394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b="1">
                <a:solidFill>
                  <a:schemeClr val="accent6"/>
                </a:solidFill>
                <a:latin typeface="Ink Free" panose="03080402000500000000" pitchFamily="66" charset="0"/>
              </a:rPr>
              <a:t>Benefits</a:t>
            </a:r>
            <a:endParaRPr lang="en-AE" sz="1400" b="1">
              <a:solidFill>
                <a:schemeClr val="accent6"/>
              </a:solidFill>
              <a:latin typeface="Ink Free" panose="03080402000500000000" pitchFamily="66" charset="0"/>
            </a:endParaRPr>
          </a:p>
        </p:txBody>
      </p:sp>
      <p:sp>
        <p:nvSpPr>
          <p:cNvPr id="28" name="Rectangle 27">
            <a:extLst>
              <a:ext uri="{FF2B5EF4-FFF2-40B4-BE49-F238E27FC236}">
                <a16:creationId xmlns:a16="http://schemas.microsoft.com/office/drawing/2014/main" id="{A6F3B24F-DAD7-AEDE-932A-B19EBEBA5F55}"/>
              </a:ext>
            </a:extLst>
          </p:cNvPr>
          <p:cNvSpPr/>
          <p:nvPr/>
        </p:nvSpPr>
        <p:spPr>
          <a:xfrm>
            <a:off x="929825" y="3607607"/>
            <a:ext cx="1397000" cy="394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b="1">
                <a:solidFill>
                  <a:schemeClr val="accent6"/>
                </a:solidFill>
                <a:latin typeface="Ink Free" panose="03080402000500000000" pitchFamily="66" charset="0"/>
              </a:rPr>
              <a:t>Key Metrics</a:t>
            </a:r>
            <a:endParaRPr lang="en-AE" sz="1400" b="1">
              <a:solidFill>
                <a:schemeClr val="accent6"/>
              </a:solidFill>
              <a:latin typeface="Ink Free" panose="03080402000500000000" pitchFamily="66" charset="0"/>
            </a:endParaRPr>
          </a:p>
        </p:txBody>
      </p:sp>
      <p:sp>
        <p:nvSpPr>
          <p:cNvPr id="40" name="Rectangle 39">
            <a:extLst>
              <a:ext uri="{FF2B5EF4-FFF2-40B4-BE49-F238E27FC236}">
                <a16:creationId xmlns:a16="http://schemas.microsoft.com/office/drawing/2014/main" id="{28CB693B-09D6-51DE-AE49-E7D79DBA1159}"/>
              </a:ext>
            </a:extLst>
          </p:cNvPr>
          <p:cNvSpPr/>
          <p:nvPr/>
        </p:nvSpPr>
        <p:spPr>
          <a:xfrm>
            <a:off x="6406945" y="3607607"/>
            <a:ext cx="1397000" cy="394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b="1">
                <a:solidFill>
                  <a:schemeClr val="accent6"/>
                </a:solidFill>
                <a:latin typeface="Ink Free" panose="03080402000500000000" pitchFamily="66" charset="0"/>
              </a:rPr>
              <a:t>Key Metrics</a:t>
            </a:r>
          </a:p>
        </p:txBody>
      </p:sp>
      <p:sp>
        <p:nvSpPr>
          <p:cNvPr id="42" name="Rectangle 41">
            <a:extLst>
              <a:ext uri="{FF2B5EF4-FFF2-40B4-BE49-F238E27FC236}">
                <a16:creationId xmlns:a16="http://schemas.microsoft.com/office/drawing/2014/main" id="{D1ABE552-3E19-3B84-EBF8-11E1F67C2AC8}"/>
              </a:ext>
            </a:extLst>
          </p:cNvPr>
          <p:cNvSpPr/>
          <p:nvPr/>
        </p:nvSpPr>
        <p:spPr>
          <a:xfrm>
            <a:off x="1925117" y="1618958"/>
            <a:ext cx="8341766" cy="394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accent6"/>
                </a:solidFill>
                <a:latin typeface="Ink Free" panose="03080402000500000000" pitchFamily="66" charset="0"/>
              </a:rPr>
              <a:t>Covers Accounts Payable (invoice handling) and Payments (execution &amp; posting)</a:t>
            </a:r>
            <a:endParaRPr lang="en-AE" sz="1400" b="1">
              <a:solidFill>
                <a:schemeClr val="accent6"/>
              </a:solidFill>
              <a:latin typeface="Ink Free" panose="03080402000500000000" pitchFamily="66" charset="0"/>
            </a:endParaRPr>
          </a:p>
        </p:txBody>
      </p:sp>
      <p:sp>
        <p:nvSpPr>
          <p:cNvPr id="7" name="Rectangle 6">
            <a:extLst>
              <a:ext uri="{FF2B5EF4-FFF2-40B4-BE49-F238E27FC236}">
                <a16:creationId xmlns:a16="http://schemas.microsoft.com/office/drawing/2014/main" id="{77F38A53-2BD6-DD10-F40B-958FA485948A}"/>
              </a:ext>
            </a:extLst>
          </p:cNvPr>
          <p:cNvSpPr/>
          <p:nvPr/>
        </p:nvSpPr>
        <p:spPr>
          <a:xfrm>
            <a:off x="-2040637" y="1711842"/>
            <a:ext cx="2136329" cy="15533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Tree>
    <p:extLst>
      <p:ext uri="{BB962C8B-B14F-4D97-AF65-F5344CB8AC3E}">
        <p14:creationId xmlns:p14="http://schemas.microsoft.com/office/powerpoint/2010/main" val="3594417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DBE2F2B-0DC7-50F7-BE63-71A47B52A4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think-cell data - do not delete" hidden="1">
                        <a:extLst>
                          <a:ext uri="{FF2B5EF4-FFF2-40B4-BE49-F238E27FC236}">
                            <a16:creationId xmlns:a16="http://schemas.microsoft.com/office/drawing/2014/main" id="{5DBE2F2B-0DC7-50F7-BE63-71A47B52A4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F5DB927-A222-CEC4-71E4-3332E020EC99}"/>
              </a:ext>
            </a:extLst>
          </p:cNvPr>
          <p:cNvSpPr>
            <a:spLocks noGrp="1"/>
          </p:cNvSpPr>
          <p:nvPr>
            <p:ph type="title"/>
          </p:nvPr>
        </p:nvSpPr>
        <p:spPr/>
        <p:txBody>
          <a:bodyPr vert="horz"/>
          <a:lstStyle/>
          <a:p>
            <a:r>
              <a:rPr lang="en-US"/>
              <a:t>Accounts Payable – Manual Process </a:t>
            </a:r>
          </a:p>
        </p:txBody>
      </p:sp>
      <p:sp>
        <p:nvSpPr>
          <p:cNvPr id="3" name="Slide Number Placeholder 2">
            <a:extLst>
              <a:ext uri="{FF2B5EF4-FFF2-40B4-BE49-F238E27FC236}">
                <a16:creationId xmlns:a16="http://schemas.microsoft.com/office/drawing/2014/main" id="{41F232B5-8151-62BB-4908-635EA4FCA3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cs typeface="Montserrat-Arabic"/>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SA" sz="1200" b="0" i="0" u="none" strike="noStrike" kern="1200" cap="none" spc="0" normalizeH="0" baseline="0" noProof="0">
              <a:ln>
                <a:noFill/>
              </a:ln>
              <a:solidFill>
                <a:srgbClr val="10069E">
                  <a:tint val="82000"/>
                </a:srgbClr>
              </a:solidFill>
              <a:effectLst/>
              <a:uLnTx/>
              <a:uFillTx/>
              <a:latin typeface="Montserrat"/>
              <a:ea typeface="+mn-ea"/>
              <a:cs typeface="Montserrat-Arabic"/>
            </a:endParaRPr>
          </a:p>
        </p:txBody>
      </p:sp>
      <p:sp>
        <p:nvSpPr>
          <p:cNvPr id="67" name="TextBox 66">
            <a:extLst>
              <a:ext uri="{FF2B5EF4-FFF2-40B4-BE49-F238E27FC236}">
                <a16:creationId xmlns:a16="http://schemas.microsoft.com/office/drawing/2014/main" id="{B710B786-3839-953E-2ADB-01627A972877}"/>
              </a:ext>
            </a:extLst>
          </p:cNvPr>
          <p:cNvSpPr txBox="1"/>
          <p:nvPr/>
        </p:nvSpPr>
        <p:spPr>
          <a:xfrm>
            <a:off x="318000" y="1061568"/>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1) Accounts Payables</a:t>
            </a:r>
          </a:p>
        </p:txBody>
      </p:sp>
      <p:graphicFrame>
        <p:nvGraphicFramePr>
          <p:cNvPr id="68" name="Table 67">
            <a:extLst>
              <a:ext uri="{FF2B5EF4-FFF2-40B4-BE49-F238E27FC236}">
                <a16:creationId xmlns:a16="http://schemas.microsoft.com/office/drawing/2014/main" id="{E8B3B2C8-03AF-FF45-AD52-788F812BD2E8}"/>
              </a:ext>
            </a:extLst>
          </p:cNvPr>
          <p:cNvGraphicFramePr>
            <a:graphicFrameLocks noGrp="1"/>
          </p:cNvGraphicFramePr>
          <p:nvPr/>
        </p:nvGraphicFramePr>
        <p:xfrm>
          <a:off x="318000" y="1654498"/>
          <a:ext cx="11249886" cy="1958760"/>
        </p:xfrm>
        <a:graphic>
          <a:graphicData uri="http://schemas.openxmlformats.org/drawingml/2006/table">
            <a:tbl>
              <a:tblPr>
                <a:tableStyleId>{5C22544A-7EE6-4342-B048-85BDC9FD1C3A}</a:tableStyleId>
              </a:tblPr>
              <a:tblGrid>
                <a:gridCol w="1178268">
                  <a:extLst>
                    <a:ext uri="{9D8B030D-6E8A-4147-A177-3AD203B41FA5}">
                      <a16:colId xmlns:a16="http://schemas.microsoft.com/office/drawing/2014/main" val="892190196"/>
                    </a:ext>
                  </a:extLst>
                </a:gridCol>
                <a:gridCol w="1997930">
                  <a:extLst>
                    <a:ext uri="{9D8B030D-6E8A-4147-A177-3AD203B41FA5}">
                      <a16:colId xmlns:a16="http://schemas.microsoft.com/office/drawing/2014/main" val="2096162569"/>
                    </a:ext>
                  </a:extLst>
                </a:gridCol>
                <a:gridCol w="2018422">
                  <a:extLst>
                    <a:ext uri="{9D8B030D-6E8A-4147-A177-3AD203B41FA5}">
                      <a16:colId xmlns:a16="http://schemas.microsoft.com/office/drawing/2014/main" val="1898903935"/>
                    </a:ext>
                  </a:extLst>
                </a:gridCol>
                <a:gridCol w="2018422">
                  <a:extLst>
                    <a:ext uri="{9D8B030D-6E8A-4147-A177-3AD203B41FA5}">
                      <a16:colId xmlns:a16="http://schemas.microsoft.com/office/drawing/2014/main" val="4155716114"/>
                    </a:ext>
                  </a:extLst>
                </a:gridCol>
                <a:gridCol w="2018422">
                  <a:extLst>
                    <a:ext uri="{9D8B030D-6E8A-4147-A177-3AD203B41FA5}">
                      <a16:colId xmlns:a16="http://schemas.microsoft.com/office/drawing/2014/main" val="3469149593"/>
                    </a:ext>
                  </a:extLst>
                </a:gridCol>
                <a:gridCol w="2018422">
                  <a:extLst>
                    <a:ext uri="{9D8B030D-6E8A-4147-A177-3AD203B41FA5}">
                      <a16:colId xmlns:a16="http://schemas.microsoft.com/office/drawing/2014/main" val="564936406"/>
                    </a:ext>
                  </a:extLst>
                </a:gridCol>
              </a:tblGrid>
              <a:tr h="252000">
                <a:tc>
                  <a:txBody>
                    <a:bodyPr/>
                    <a:lstStyle/>
                    <a:p>
                      <a:pPr marL="0" algn="r" defTabSz="914400" rtl="0" eaLnBrk="1" fontAlgn="b" latinLnBrk="0" hangingPunct="1">
                        <a:buNone/>
                      </a:pPr>
                      <a:endParaRPr lang="en-US" sz="1050" u="none" strike="noStrike" kern="1200">
                        <a:solidFill>
                          <a:schemeClr val="bg1"/>
                        </a:solidFill>
                        <a:effectLst/>
                        <a:latin typeface="+mn-lt"/>
                        <a:ea typeface="+mn-ea"/>
                        <a:cs typeface="+mn-cs"/>
                      </a:endParaRPr>
                    </a:p>
                  </a:txBody>
                  <a:tcPr marL="36000" marR="36000" marT="36000" marB="36000" anchor="b">
                    <a:solidFill>
                      <a:schemeClr val="bg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a:t>
                      </a:r>
                    </a:p>
                  </a:txBody>
                  <a:tcPr marL="36000" marR="36000" marT="36000" marB="36000" anchor="b">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- 2</a:t>
                      </a:r>
                    </a:p>
                  </a:txBody>
                  <a:tcPr marL="36000" marR="36000" marT="36000" marB="36000" anchor="b">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- 3</a:t>
                      </a:r>
                    </a:p>
                  </a:txBody>
                  <a:tcPr marL="36000" marR="36000" marT="36000" marB="36000" anchor="b">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- 4</a:t>
                      </a:r>
                    </a:p>
                  </a:txBody>
                  <a:tcPr marL="36000" marR="36000" marT="36000" marB="36000" anchor="b">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- 5</a:t>
                      </a:r>
                    </a:p>
                  </a:txBody>
                  <a:tcPr marL="36000" marR="36000" marT="36000" marB="36000" anchor="b">
                    <a:solidFill>
                      <a:schemeClr val="tx1"/>
                    </a:solidFill>
                  </a:tcPr>
                </a:tc>
                <a:extLst>
                  <a:ext uri="{0D108BD9-81ED-4DB2-BD59-A6C34878D82A}">
                    <a16:rowId xmlns:a16="http://schemas.microsoft.com/office/drawing/2014/main" val="3560566685"/>
                  </a:ext>
                </a:extLst>
              </a:tr>
              <a:tr h="936000">
                <a:tc>
                  <a:txBody>
                    <a:bodyPr/>
                    <a:lstStyle/>
                    <a:p>
                      <a:pPr algn="r" fontAlgn="ctr">
                        <a:buNone/>
                      </a:pPr>
                      <a:r>
                        <a:rPr lang="en-US" sz="900" b="1" u="none" strike="noStrike">
                          <a:solidFill>
                            <a:schemeClr val="bg1"/>
                          </a:solidFill>
                          <a:effectLst/>
                        </a:rPr>
                        <a:t>Task Description</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tx1"/>
                    </a:solidFill>
                  </a:tcPr>
                </a:tc>
                <a:tc>
                  <a:txBody>
                    <a:bodyPr/>
                    <a:lstStyle/>
                    <a:p>
                      <a:pPr algn="ctr" fontAlgn="ctr">
                        <a:buNone/>
                      </a:pPr>
                      <a:r>
                        <a:rPr lang="en-US" sz="900" u="none" strike="noStrike">
                          <a:effectLst/>
                        </a:rPr>
                        <a:t>Share Approved Invoices for processing with Tasama</a:t>
                      </a:r>
                      <a:endParaRPr lang="en-US" sz="900" b="0" i="0" u="none" strike="noStrike">
                        <a:solidFill>
                          <a:srgbClr val="000000"/>
                        </a:solidFill>
                        <a:effectLst/>
                        <a:latin typeface="Arial Nova Light" panose="020B0304020202020204" pitchFamily="34" charset="0"/>
                      </a:endParaRPr>
                    </a:p>
                  </a:txBody>
                  <a:tcPr marL="36000" marR="36000" marT="36000" marB="36000" anchor="ctr">
                    <a:solidFill>
                      <a:schemeClr val="accent2">
                        <a:lumMod val="40000"/>
                        <a:lumOff val="60000"/>
                      </a:schemeClr>
                    </a:solidFill>
                  </a:tcPr>
                </a:tc>
                <a:tc>
                  <a:txBody>
                    <a:bodyPr/>
                    <a:lstStyle/>
                    <a:p>
                      <a:pPr algn="ctr" fontAlgn="ctr">
                        <a:buNone/>
                      </a:pPr>
                      <a:r>
                        <a:rPr lang="en-US" sz="900" u="none" strike="noStrike">
                          <a:effectLst/>
                        </a:rPr>
                        <a:t>Receive supporting documents and emails from Client directly on finance domain email / Service Now and archive the documents in the shared folder</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Review the invoice perform 3 - way match (PO/Contract, COC, Invoice)</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Record the Invoice and update archive</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Validation and Posting of Invoice </a:t>
                      </a:r>
                      <a:endParaRPr lang="en-US" sz="900" b="0" i="0" u="none" strike="noStrike">
                        <a:solidFill>
                          <a:srgbClr val="000000"/>
                        </a:solidFill>
                        <a:effectLst/>
                        <a:latin typeface="Arial Nova Light" panose="020B0304020202020204" pitchFamily="34" charset="0"/>
                      </a:endParaRPr>
                    </a:p>
                  </a:txBody>
                  <a:tcPr marL="36000" marR="36000" marT="36000" marB="36000" anchor="ctr"/>
                </a:tc>
                <a:extLst>
                  <a:ext uri="{0D108BD9-81ED-4DB2-BD59-A6C34878D82A}">
                    <a16:rowId xmlns:a16="http://schemas.microsoft.com/office/drawing/2014/main" val="3795057516"/>
                  </a:ext>
                </a:extLst>
              </a:tr>
              <a:tr h="172108">
                <a:tc>
                  <a:txBody>
                    <a:bodyPr/>
                    <a:lstStyle/>
                    <a:p>
                      <a:pPr algn="r" fontAlgn="b">
                        <a:buNone/>
                      </a:pPr>
                      <a:r>
                        <a:rPr lang="en-US" sz="900" b="1" u="none" strike="noStrike">
                          <a:solidFill>
                            <a:schemeClr val="bg1"/>
                          </a:solidFill>
                          <a:effectLst/>
                        </a:rPr>
                        <a:t>Process Owner</a:t>
                      </a:r>
                      <a:endParaRPr lang="en-US" sz="900" b="1" i="0" u="none" strike="noStrike">
                        <a:solidFill>
                          <a:schemeClr val="bg1"/>
                        </a:solidFill>
                        <a:effectLst/>
                        <a:latin typeface="Arial Nova Light" panose="020B0304020202020204" pitchFamily="34" charset="0"/>
                      </a:endParaRPr>
                    </a:p>
                  </a:txBody>
                  <a:tcPr marL="36000" marR="36000" marT="36000" marB="36000" anchor="b">
                    <a:solidFill>
                      <a:schemeClr val="tx1"/>
                    </a:solidFill>
                  </a:tcPr>
                </a:tc>
                <a:tc>
                  <a:txBody>
                    <a:bodyPr/>
                    <a:lstStyle/>
                    <a:p>
                      <a:pPr algn="ctr" fontAlgn="b">
                        <a:buNone/>
                      </a:pPr>
                      <a:r>
                        <a:rPr lang="en-US" sz="900" u="none" strike="noStrike">
                          <a:effectLst/>
                        </a:rPr>
                        <a:t>Client</a:t>
                      </a:r>
                      <a:endParaRPr lang="en-US" sz="900" b="0" i="0" u="none" strike="noStrike">
                        <a:solidFill>
                          <a:srgbClr val="000000"/>
                        </a:solidFill>
                        <a:effectLst/>
                        <a:latin typeface="Arial Nova Light" panose="020B0304020202020204" pitchFamily="34" charset="0"/>
                      </a:endParaRPr>
                    </a:p>
                  </a:txBody>
                  <a:tcPr marL="36000" marR="36000" marT="36000" marB="36000" anchor="b">
                    <a:solidFill>
                      <a:schemeClr val="accent2">
                        <a:lumMod val="40000"/>
                        <a:lumOff val="60000"/>
                      </a:schemeClr>
                    </a:solidFill>
                  </a:tcPr>
                </a:tc>
                <a:tc>
                  <a:txBody>
                    <a:bodyPr/>
                    <a:lstStyle/>
                    <a:p>
                      <a:pPr algn="ctr" fontAlgn="b">
                        <a:buNone/>
                      </a:pPr>
                      <a:r>
                        <a:rPr lang="en-US" sz="900" u="none" strike="noStrike">
                          <a:effectLst/>
                        </a:rPr>
                        <a:t>Tasama - Accountant</a:t>
                      </a:r>
                      <a:endParaRPr lang="en-US" sz="900" b="0" i="0" u="none" strike="noStrike">
                        <a:solidFill>
                          <a:srgbClr val="000000"/>
                        </a:solidFill>
                        <a:effectLst/>
                        <a:latin typeface="Arial Nova Light" panose="020B0304020202020204" pitchFamily="34" charset="0"/>
                      </a:endParaRPr>
                    </a:p>
                  </a:txBody>
                  <a:tcPr marL="36000" marR="36000" marT="36000" marB="36000" anchor="b"/>
                </a:tc>
                <a:tc>
                  <a:txBody>
                    <a:bodyPr/>
                    <a:lstStyle/>
                    <a:p>
                      <a:pPr algn="ctr" fontAlgn="b">
                        <a:buNone/>
                      </a:pPr>
                      <a:r>
                        <a:rPr lang="en-US" sz="900" u="none" strike="noStrike">
                          <a:effectLst/>
                        </a:rPr>
                        <a:t>Tasama - Accountant</a:t>
                      </a:r>
                      <a:endParaRPr lang="en-US" sz="900" b="0" i="0" u="none" strike="noStrike">
                        <a:solidFill>
                          <a:srgbClr val="000000"/>
                        </a:solidFill>
                        <a:effectLst/>
                        <a:latin typeface="Arial Nova Light" panose="020B0304020202020204" pitchFamily="34" charset="0"/>
                      </a:endParaRPr>
                    </a:p>
                  </a:txBody>
                  <a:tcPr marL="36000" marR="36000" marT="36000" marB="36000" anchor="b"/>
                </a:tc>
                <a:tc>
                  <a:txBody>
                    <a:bodyPr/>
                    <a:lstStyle/>
                    <a:p>
                      <a:pPr algn="ctr" fontAlgn="b">
                        <a:buNone/>
                      </a:pPr>
                      <a:r>
                        <a:rPr lang="en-US" sz="900" u="none" strike="noStrike">
                          <a:effectLst/>
                        </a:rPr>
                        <a:t>Tasama - Accountant</a:t>
                      </a:r>
                      <a:endParaRPr lang="en-US" sz="900" b="0" i="0" u="none" strike="noStrike">
                        <a:solidFill>
                          <a:srgbClr val="000000"/>
                        </a:solidFill>
                        <a:effectLst/>
                        <a:latin typeface="Arial Nova Light" panose="020B0304020202020204" pitchFamily="34" charset="0"/>
                      </a:endParaRPr>
                    </a:p>
                  </a:txBody>
                  <a:tcPr marL="36000" marR="36000" marT="36000" marB="36000" anchor="b"/>
                </a:tc>
                <a:tc>
                  <a:txBody>
                    <a:bodyPr/>
                    <a:lstStyle/>
                    <a:p>
                      <a:pPr algn="ctr" fontAlgn="b">
                        <a:buNone/>
                      </a:pPr>
                      <a:r>
                        <a:rPr lang="en-US" sz="900" u="none" strike="noStrike">
                          <a:effectLst/>
                        </a:rPr>
                        <a:t>Tasama - S. Accountant</a:t>
                      </a:r>
                      <a:endParaRPr lang="en-US" sz="900" b="0" i="0" u="none" strike="noStrike">
                        <a:solidFill>
                          <a:srgbClr val="000000"/>
                        </a:solidFill>
                        <a:effectLst/>
                        <a:latin typeface="Arial Nova Light" panose="020B0304020202020204" pitchFamily="34" charset="0"/>
                      </a:endParaRPr>
                    </a:p>
                  </a:txBody>
                  <a:tcPr marL="36000" marR="36000" marT="36000" marB="36000" anchor="b"/>
                </a:tc>
                <a:extLst>
                  <a:ext uri="{0D108BD9-81ED-4DB2-BD59-A6C34878D82A}">
                    <a16:rowId xmlns:a16="http://schemas.microsoft.com/office/drawing/2014/main" val="690616017"/>
                  </a:ext>
                </a:extLst>
              </a:tr>
              <a:tr h="561600">
                <a:tc>
                  <a:txBody>
                    <a:bodyPr/>
                    <a:lstStyle/>
                    <a:p>
                      <a:pPr algn="r" fontAlgn="ctr">
                        <a:buNone/>
                      </a:pPr>
                      <a:r>
                        <a:rPr lang="en-US" sz="900" b="1" u="none" strike="noStrike">
                          <a:solidFill>
                            <a:schemeClr val="bg1"/>
                          </a:solidFill>
                          <a:effectLst/>
                        </a:rPr>
                        <a:t>Estimated time</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tx1"/>
                    </a:solidFill>
                  </a:tcPr>
                </a:tc>
                <a:tc>
                  <a:txBody>
                    <a:bodyPr/>
                    <a:lstStyle/>
                    <a:p>
                      <a:pPr algn="ctr" fontAlgn="ctr">
                        <a:buNone/>
                      </a:pPr>
                      <a:r>
                        <a:rPr lang="en-US" sz="900" u="none" strike="noStrike">
                          <a:effectLst/>
                        </a:rPr>
                        <a:t>NA</a:t>
                      </a:r>
                      <a:endParaRPr lang="en-US" sz="900" b="0" i="0" u="none" strike="noStrike">
                        <a:solidFill>
                          <a:srgbClr val="000000"/>
                        </a:solidFill>
                        <a:effectLst/>
                        <a:latin typeface="Arial Nova Light" panose="020B0304020202020204" pitchFamily="34" charset="0"/>
                      </a:endParaRPr>
                    </a:p>
                  </a:txBody>
                  <a:tcPr marL="36000" marR="36000" marT="36000" marB="36000" anchor="ctr">
                    <a:pattFill prst="dkUpDiag">
                      <a:fgClr>
                        <a:schemeClr val="accent6">
                          <a:lumMod val="50000"/>
                          <a:lumOff val="50000"/>
                        </a:schemeClr>
                      </a:fgClr>
                      <a:bgClr>
                        <a:schemeClr val="bg1"/>
                      </a:bgClr>
                    </a:pattFill>
                  </a:tcPr>
                </a:tc>
                <a:tc>
                  <a:txBody>
                    <a:bodyPr/>
                    <a:lstStyle/>
                    <a:p>
                      <a:pPr algn="ctr" fontAlgn="ctr">
                        <a:buNone/>
                      </a:pPr>
                      <a:r>
                        <a:rPr lang="en-US" sz="900" u="none" strike="noStrike">
                          <a:effectLst/>
                        </a:rPr>
                        <a:t>5 mins</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8 mins - 20 min (Depending on the nature of invoice)</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5 mins - 20 min (Depending on the nature of invoice)</a:t>
                      </a:r>
                      <a:endParaRPr lang="en-US" sz="9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900" u="none" strike="noStrike">
                          <a:effectLst/>
                        </a:rPr>
                        <a:t>3 mins - 15 min (Depending on the nature of invoice)</a:t>
                      </a:r>
                      <a:endParaRPr lang="en-US" sz="900" b="0" i="0" u="none" strike="noStrike">
                        <a:solidFill>
                          <a:srgbClr val="000000"/>
                        </a:solidFill>
                        <a:effectLst/>
                        <a:latin typeface="Arial Nova Light" panose="020B0304020202020204" pitchFamily="34" charset="0"/>
                      </a:endParaRPr>
                    </a:p>
                  </a:txBody>
                  <a:tcPr marL="36000" marR="36000" marT="36000" marB="36000" anchor="ctr"/>
                </a:tc>
                <a:extLst>
                  <a:ext uri="{0D108BD9-81ED-4DB2-BD59-A6C34878D82A}">
                    <a16:rowId xmlns:a16="http://schemas.microsoft.com/office/drawing/2014/main" val="4119897349"/>
                  </a:ext>
                </a:extLst>
              </a:tr>
            </a:tbl>
          </a:graphicData>
        </a:graphic>
      </p:graphicFrame>
      <p:sp>
        <p:nvSpPr>
          <p:cNvPr id="69" name="TextBox 68">
            <a:extLst>
              <a:ext uri="{FF2B5EF4-FFF2-40B4-BE49-F238E27FC236}">
                <a16:creationId xmlns:a16="http://schemas.microsoft.com/office/drawing/2014/main" id="{6AFB0E3B-EA6F-1859-C352-FD9340A0956A}"/>
              </a:ext>
            </a:extLst>
          </p:cNvPr>
          <p:cNvSpPr txBox="1"/>
          <p:nvPr/>
        </p:nvSpPr>
        <p:spPr>
          <a:xfrm>
            <a:off x="318000" y="3770107"/>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cs typeface="Montserrat-Arabic"/>
              </a:rPr>
              <a:t>2) Payment</a:t>
            </a:r>
          </a:p>
        </p:txBody>
      </p:sp>
      <p:graphicFrame>
        <p:nvGraphicFramePr>
          <p:cNvPr id="71" name="Table 70">
            <a:extLst>
              <a:ext uri="{FF2B5EF4-FFF2-40B4-BE49-F238E27FC236}">
                <a16:creationId xmlns:a16="http://schemas.microsoft.com/office/drawing/2014/main" id="{5C6A32BA-C777-F9F0-1D11-F8B1DD45C5FE}"/>
              </a:ext>
            </a:extLst>
          </p:cNvPr>
          <p:cNvGraphicFramePr>
            <a:graphicFrameLocks noGrp="1"/>
          </p:cNvGraphicFramePr>
          <p:nvPr/>
        </p:nvGraphicFramePr>
        <p:xfrm>
          <a:off x="318000" y="4363037"/>
          <a:ext cx="11177104" cy="1937160"/>
        </p:xfrm>
        <a:graphic>
          <a:graphicData uri="http://schemas.openxmlformats.org/drawingml/2006/table">
            <a:tbl>
              <a:tblPr>
                <a:tableStyleId>{5C22544A-7EE6-4342-B048-85BDC9FD1C3A}</a:tableStyleId>
              </a:tblPr>
              <a:tblGrid>
                <a:gridCol w="1177200">
                  <a:extLst>
                    <a:ext uri="{9D8B030D-6E8A-4147-A177-3AD203B41FA5}">
                      <a16:colId xmlns:a16="http://schemas.microsoft.com/office/drawing/2014/main" val="1830512210"/>
                    </a:ext>
                  </a:extLst>
                </a:gridCol>
                <a:gridCol w="1249988">
                  <a:extLst>
                    <a:ext uri="{9D8B030D-6E8A-4147-A177-3AD203B41FA5}">
                      <a16:colId xmlns:a16="http://schemas.microsoft.com/office/drawing/2014/main" val="2984533365"/>
                    </a:ext>
                  </a:extLst>
                </a:gridCol>
                <a:gridCol w="1249988">
                  <a:extLst>
                    <a:ext uri="{9D8B030D-6E8A-4147-A177-3AD203B41FA5}">
                      <a16:colId xmlns:a16="http://schemas.microsoft.com/office/drawing/2014/main" val="2426419355"/>
                    </a:ext>
                  </a:extLst>
                </a:gridCol>
                <a:gridCol w="1249988">
                  <a:extLst>
                    <a:ext uri="{9D8B030D-6E8A-4147-A177-3AD203B41FA5}">
                      <a16:colId xmlns:a16="http://schemas.microsoft.com/office/drawing/2014/main" val="4017447524"/>
                    </a:ext>
                  </a:extLst>
                </a:gridCol>
                <a:gridCol w="1249988">
                  <a:extLst>
                    <a:ext uri="{9D8B030D-6E8A-4147-A177-3AD203B41FA5}">
                      <a16:colId xmlns:a16="http://schemas.microsoft.com/office/drawing/2014/main" val="2111881197"/>
                    </a:ext>
                  </a:extLst>
                </a:gridCol>
                <a:gridCol w="1249988">
                  <a:extLst>
                    <a:ext uri="{9D8B030D-6E8A-4147-A177-3AD203B41FA5}">
                      <a16:colId xmlns:a16="http://schemas.microsoft.com/office/drawing/2014/main" val="3819864898"/>
                    </a:ext>
                  </a:extLst>
                </a:gridCol>
                <a:gridCol w="1249988">
                  <a:extLst>
                    <a:ext uri="{9D8B030D-6E8A-4147-A177-3AD203B41FA5}">
                      <a16:colId xmlns:a16="http://schemas.microsoft.com/office/drawing/2014/main" val="3479735786"/>
                    </a:ext>
                  </a:extLst>
                </a:gridCol>
                <a:gridCol w="1249988">
                  <a:extLst>
                    <a:ext uri="{9D8B030D-6E8A-4147-A177-3AD203B41FA5}">
                      <a16:colId xmlns:a16="http://schemas.microsoft.com/office/drawing/2014/main" val="233111468"/>
                    </a:ext>
                  </a:extLst>
                </a:gridCol>
                <a:gridCol w="1249988">
                  <a:extLst>
                    <a:ext uri="{9D8B030D-6E8A-4147-A177-3AD203B41FA5}">
                      <a16:colId xmlns:a16="http://schemas.microsoft.com/office/drawing/2014/main" val="2778922615"/>
                    </a:ext>
                  </a:extLst>
                </a:gridCol>
              </a:tblGrid>
              <a:tr h="252000">
                <a:tc>
                  <a:txBody>
                    <a:bodyPr/>
                    <a:lstStyle/>
                    <a:p>
                      <a:pPr marL="0" algn="ctr" defTabSz="914400" rtl="0" eaLnBrk="1" fontAlgn="b" latinLnBrk="0" hangingPunct="1">
                        <a:buNone/>
                      </a:pPr>
                      <a:endParaRPr lang="en-US" sz="1050" u="none" strike="noStrike" kern="1200">
                        <a:solidFill>
                          <a:schemeClr val="bg1"/>
                        </a:solidFill>
                        <a:effectLst/>
                        <a:latin typeface="+mn-lt"/>
                        <a:ea typeface="+mn-ea"/>
                        <a:cs typeface="+mn-cs"/>
                      </a:endParaRPr>
                    </a:p>
                  </a:txBody>
                  <a:tcPr marL="36000" marR="36000" marT="36000" marB="36000" anchor="ctr">
                    <a:solidFill>
                      <a:schemeClr val="bg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6</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7</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8</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9</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10</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11</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12</a:t>
                      </a:r>
                    </a:p>
                  </a:txBody>
                  <a:tcPr marL="36000" marR="36000" marT="36000" marB="3600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13</a:t>
                      </a:r>
                    </a:p>
                  </a:txBody>
                  <a:tcPr marL="36000" marR="36000" marT="36000" marB="36000" anchor="ctr">
                    <a:solidFill>
                      <a:schemeClr val="tx1"/>
                    </a:solidFill>
                  </a:tcPr>
                </a:tc>
                <a:extLst>
                  <a:ext uri="{0D108BD9-81ED-4DB2-BD59-A6C34878D82A}">
                    <a16:rowId xmlns:a16="http://schemas.microsoft.com/office/drawing/2014/main" val="1607044365"/>
                  </a:ext>
                </a:extLst>
              </a:tr>
              <a:tr h="936000">
                <a:tc>
                  <a:txBody>
                    <a:bodyPr/>
                    <a:lstStyle/>
                    <a:p>
                      <a:pPr algn="r" fontAlgn="ctr">
                        <a:buNone/>
                      </a:pPr>
                      <a:r>
                        <a:rPr lang="en-US" sz="900" b="1" u="none" strike="noStrike">
                          <a:solidFill>
                            <a:schemeClr val="bg1"/>
                          </a:solidFill>
                          <a:effectLst/>
                        </a:rPr>
                        <a:t>Task Description</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tx1"/>
                    </a:solidFill>
                  </a:tcPr>
                </a:tc>
                <a:tc>
                  <a:txBody>
                    <a:bodyPr/>
                    <a:lstStyle/>
                    <a:p>
                      <a:pPr algn="ctr" fontAlgn="ctr">
                        <a:buNone/>
                      </a:pPr>
                      <a:r>
                        <a:rPr lang="en-US" sz="800" u="none" strike="noStrike">
                          <a:effectLst/>
                        </a:rPr>
                        <a:t>Share the list of outstanding Accounts payables to client to confirm the invoices to be paid</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Upon client confirmation, Tasama prepares the payment template</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Review the payment template</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Client approved and sign the payment template, to proceed to upload on the bank portal</a:t>
                      </a:r>
                      <a:endParaRPr lang="en-US" sz="800" b="0" i="0" u="none" strike="noStrike">
                        <a:solidFill>
                          <a:srgbClr val="000000"/>
                        </a:solidFill>
                        <a:effectLst/>
                        <a:latin typeface="Arial Nova Light" panose="020B0304020202020204" pitchFamily="34" charset="0"/>
                      </a:endParaRPr>
                    </a:p>
                  </a:txBody>
                  <a:tcPr marL="36000" marR="36000" marT="36000" marB="36000" anchor="ctr">
                    <a:solidFill>
                      <a:schemeClr val="accent2">
                        <a:lumMod val="40000"/>
                        <a:lumOff val="60000"/>
                      </a:schemeClr>
                    </a:solidFill>
                  </a:tcPr>
                </a:tc>
                <a:tc>
                  <a:txBody>
                    <a:bodyPr/>
                    <a:lstStyle/>
                    <a:p>
                      <a:pPr algn="ctr" fontAlgn="ctr">
                        <a:buNone/>
                      </a:pPr>
                      <a:r>
                        <a:rPr lang="en-US" sz="800" u="none" strike="noStrike">
                          <a:effectLst/>
                        </a:rPr>
                        <a:t>Senior Accountant upon confirmation of the client upload the payment in the bank portal and initiate for signatory approvals</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Client approve the payment on the bank portal</a:t>
                      </a:r>
                      <a:endParaRPr lang="en-US" sz="800" b="0" i="0" u="none" strike="noStrike">
                        <a:solidFill>
                          <a:srgbClr val="000000"/>
                        </a:solidFill>
                        <a:effectLst/>
                        <a:latin typeface="Arial Nova Light" panose="020B0304020202020204" pitchFamily="34" charset="0"/>
                      </a:endParaRPr>
                    </a:p>
                  </a:txBody>
                  <a:tcPr marL="36000" marR="36000" marT="36000" marB="36000" anchor="ctr">
                    <a:solidFill>
                      <a:schemeClr val="accent2">
                        <a:lumMod val="40000"/>
                        <a:lumOff val="60000"/>
                      </a:schemeClr>
                    </a:solidFill>
                  </a:tcPr>
                </a:tc>
                <a:tc>
                  <a:txBody>
                    <a:bodyPr/>
                    <a:lstStyle/>
                    <a:p>
                      <a:pPr algn="ctr" fontAlgn="ctr">
                        <a:buNone/>
                      </a:pPr>
                      <a:r>
                        <a:rPr lang="en-US" sz="800" u="none" strike="noStrike">
                          <a:effectLst/>
                        </a:rPr>
                        <a:t>Upon approval, Tasama record the Payment transaction </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Validate and post the payment Transaction</a:t>
                      </a:r>
                      <a:endParaRPr lang="en-US" sz="800" b="0" i="0" u="none" strike="noStrike">
                        <a:solidFill>
                          <a:srgbClr val="000000"/>
                        </a:solidFill>
                        <a:effectLst/>
                        <a:latin typeface="Arial Nova Light" panose="020B0304020202020204" pitchFamily="34" charset="0"/>
                      </a:endParaRPr>
                    </a:p>
                  </a:txBody>
                  <a:tcPr marL="36000" marR="36000" marT="36000" marB="36000" anchor="ctr"/>
                </a:tc>
                <a:extLst>
                  <a:ext uri="{0D108BD9-81ED-4DB2-BD59-A6C34878D82A}">
                    <a16:rowId xmlns:a16="http://schemas.microsoft.com/office/drawing/2014/main" val="2691525898"/>
                  </a:ext>
                </a:extLst>
              </a:tr>
              <a:tr h="208800">
                <a:tc>
                  <a:txBody>
                    <a:bodyPr/>
                    <a:lstStyle/>
                    <a:p>
                      <a:pPr algn="r" fontAlgn="b">
                        <a:buNone/>
                      </a:pPr>
                      <a:r>
                        <a:rPr lang="en-US" sz="900" b="1" u="none" strike="noStrike">
                          <a:solidFill>
                            <a:schemeClr val="bg1"/>
                          </a:solidFill>
                          <a:effectLst/>
                        </a:rPr>
                        <a:t>Process Owner</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tx1"/>
                    </a:solidFill>
                  </a:tcPr>
                </a:tc>
                <a:tc>
                  <a:txBody>
                    <a:bodyPr/>
                    <a:lstStyle/>
                    <a:p>
                      <a:pPr algn="ctr" fontAlgn="b">
                        <a:buNone/>
                      </a:pPr>
                      <a:r>
                        <a:rPr lang="en-US" sz="800" u="none" strike="noStrike">
                          <a:effectLst/>
                        </a:rPr>
                        <a:t>Tasama -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tc>
                  <a:txBody>
                    <a:bodyPr/>
                    <a:lstStyle/>
                    <a:p>
                      <a:pPr algn="ctr" fontAlgn="b">
                        <a:buNone/>
                      </a:pPr>
                      <a:r>
                        <a:rPr lang="en-US" sz="800" u="none" strike="noStrike">
                          <a:effectLst/>
                        </a:rPr>
                        <a:t>Tasama -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tc>
                  <a:txBody>
                    <a:bodyPr/>
                    <a:lstStyle/>
                    <a:p>
                      <a:pPr algn="ctr" fontAlgn="b">
                        <a:buNone/>
                      </a:pPr>
                      <a:r>
                        <a:rPr lang="en-US" sz="800" u="none" strike="noStrike">
                          <a:effectLst/>
                        </a:rPr>
                        <a:t>Tasama - S.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tc>
                  <a:txBody>
                    <a:bodyPr/>
                    <a:lstStyle/>
                    <a:p>
                      <a:pPr algn="ctr" fontAlgn="b">
                        <a:buNone/>
                      </a:pPr>
                      <a:r>
                        <a:rPr lang="en-US" sz="800" u="none" strike="noStrike">
                          <a:effectLst/>
                        </a:rPr>
                        <a:t>Client</a:t>
                      </a:r>
                      <a:endParaRPr lang="en-US" sz="800" b="0" i="0" u="none" strike="noStrike">
                        <a:solidFill>
                          <a:srgbClr val="000000"/>
                        </a:solidFill>
                        <a:effectLst/>
                        <a:latin typeface="Arial Nova Light" panose="020B0304020202020204" pitchFamily="34" charset="0"/>
                      </a:endParaRPr>
                    </a:p>
                  </a:txBody>
                  <a:tcPr marL="0" marR="0" marT="36000" marB="36000" anchor="ctr">
                    <a:solidFill>
                      <a:schemeClr val="accent2">
                        <a:lumMod val="40000"/>
                        <a:lumOff val="60000"/>
                      </a:schemeClr>
                    </a:solidFill>
                  </a:tcPr>
                </a:tc>
                <a:tc>
                  <a:txBody>
                    <a:bodyPr/>
                    <a:lstStyle/>
                    <a:p>
                      <a:pPr algn="ctr" fontAlgn="b">
                        <a:buNone/>
                      </a:pPr>
                      <a:r>
                        <a:rPr lang="en-US" sz="800" u="none" strike="noStrike">
                          <a:effectLst/>
                        </a:rPr>
                        <a:t>Tasama - S.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tc>
                  <a:txBody>
                    <a:bodyPr/>
                    <a:lstStyle/>
                    <a:p>
                      <a:pPr algn="ctr" fontAlgn="b">
                        <a:buNone/>
                      </a:pPr>
                      <a:r>
                        <a:rPr lang="en-US" sz="800" u="none" strike="noStrike">
                          <a:effectLst/>
                        </a:rPr>
                        <a:t>Client</a:t>
                      </a:r>
                      <a:endParaRPr lang="en-US" sz="800" b="0" i="0" u="none" strike="noStrike">
                        <a:solidFill>
                          <a:srgbClr val="000000"/>
                        </a:solidFill>
                        <a:effectLst/>
                        <a:latin typeface="Arial Nova Light" panose="020B0304020202020204" pitchFamily="34" charset="0"/>
                      </a:endParaRPr>
                    </a:p>
                  </a:txBody>
                  <a:tcPr marL="0" marR="0" marT="36000" marB="36000" anchor="ctr">
                    <a:solidFill>
                      <a:schemeClr val="accent2">
                        <a:lumMod val="40000"/>
                        <a:lumOff val="60000"/>
                      </a:schemeClr>
                    </a:solidFill>
                  </a:tcPr>
                </a:tc>
                <a:tc>
                  <a:txBody>
                    <a:bodyPr/>
                    <a:lstStyle/>
                    <a:p>
                      <a:pPr algn="ctr" fontAlgn="b">
                        <a:buNone/>
                      </a:pPr>
                      <a:r>
                        <a:rPr lang="en-US" sz="800" u="none" strike="noStrike">
                          <a:effectLst/>
                        </a:rPr>
                        <a:t>Tasama -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tc>
                  <a:txBody>
                    <a:bodyPr/>
                    <a:lstStyle/>
                    <a:p>
                      <a:pPr algn="ctr" fontAlgn="b">
                        <a:buNone/>
                      </a:pPr>
                      <a:r>
                        <a:rPr lang="en-US" sz="800" u="none" strike="noStrike">
                          <a:effectLst/>
                        </a:rPr>
                        <a:t>Tasama - S. Accountant</a:t>
                      </a:r>
                      <a:endParaRPr lang="en-US" sz="800" b="0" i="0" u="none" strike="noStrike">
                        <a:solidFill>
                          <a:srgbClr val="000000"/>
                        </a:solidFill>
                        <a:effectLst/>
                        <a:latin typeface="Arial Nova Light" panose="020B0304020202020204" pitchFamily="34" charset="0"/>
                      </a:endParaRPr>
                    </a:p>
                  </a:txBody>
                  <a:tcPr marL="0" marR="0" marT="36000" marB="36000" anchor="ctr"/>
                </a:tc>
                <a:extLst>
                  <a:ext uri="{0D108BD9-81ED-4DB2-BD59-A6C34878D82A}">
                    <a16:rowId xmlns:a16="http://schemas.microsoft.com/office/drawing/2014/main" val="3421878735"/>
                  </a:ext>
                </a:extLst>
              </a:tr>
              <a:tr h="540000">
                <a:tc>
                  <a:txBody>
                    <a:bodyPr/>
                    <a:lstStyle/>
                    <a:p>
                      <a:pPr algn="r" fontAlgn="ctr">
                        <a:buNone/>
                      </a:pPr>
                      <a:r>
                        <a:rPr lang="en-US" sz="900" b="1" u="none" strike="noStrike">
                          <a:solidFill>
                            <a:schemeClr val="bg1"/>
                          </a:solidFill>
                          <a:effectLst/>
                        </a:rPr>
                        <a:t>Estimated time</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tx1"/>
                    </a:solidFill>
                  </a:tcPr>
                </a:tc>
                <a:tc>
                  <a:txBody>
                    <a:bodyPr/>
                    <a:lstStyle/>
                    <a:p>
                      <a:pPr algn="ctr" fontAlgn="ctr">
                        <a:buNone/>
                      </a:pPr>
                      <a:r>
                        <a:rPr lang="en-US" sz="800" u="none" strike="noStrike">
                          <a:effectLst/>
                        </a:rPr>
                        <a:t>5-20 mins (Depending on the nature of invoice)</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15-20 mins (Depending on the amount of transactions)</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15-20 mins (Depending on the amount of transactions)</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NA</a:t>
                      </a:r>
                      <a:endParaRPr lang="en-US" sz="800" b="0" i="0" u="none" strike="noStrike">
                        <a:solidFill>
                          <a:srgbClr val="000000"/>
                        </a:solidFill>
                        <a:effectLst/>
                        <a:latin typeface="Arial Nova Light" panose="020B0304020202020204" pitchFamily="34" charset="0"/>
                      </a:endParaRPr>
                    </a:p>
                  </a:txBody>
                  <a:tcPr marL="36000" marR="36000" marT="36000" marB="36000" anchor="ctr">
                    <a:pattFill prst="dkUpDiag">
                      <a:fgClr>
                        <a:schemeClr val="accent6">
                          <a:lumMod val="50000"/>
                          <a:lumOff val="50000"/>
                        </a:schemeClr>
                      </a:fgClr>
                      <a:bgClr>
                        <a:schemeClr val="bg1"/>
                      </a:bgClr>
                    </a:pattFill>
                  </a:tcPr>
                </a:tc>
                <a:tc>
                  <a:txBody>
                    <a:bodyPr/>
                    <a:lstStyle/>
                    <a:p>
                      <a:pPr algn="ctr" fontAlgn="ctr">
                        <a:buNone/>
                      </a:pPr>
                      <a:r>
                        <a:rPr lang="en-US" sz="800" u="none" strike="noStrike">
                          <a:effectLst/>
                        </a:rPr>
                        <a:t>15-20 mins (Depending on the amount of transactions)</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NA</a:t>
                      </a:r>
                      <a:endParaRPr lang="en-US" sz="800" b="0" i="0" u="none" strike="noStrike">
                        <a:solidFill>
                          <a:srgbClr val="000000"/>
                        </a:solidFill>
                        <a:effectLst/>
                        <a:latin typeface="Arial Nova Light" panose="020B0304020202020204" pitchFamily="34" charset="0"/>
                      </a:endParaRPr>
                    </a:p>
                  </a:txBody>
                  <a:tcPr marL="36000" marR="36000" marT="36000" marB="36000" anchor="ctr">
                    <a:pattFill prst="dkUpDiag">
                      <a:fgClr>
                        <a:schemeClr val="accent6">
                          <a:lumMod val="50000"/>
                          <a:lumOff val="50000"/>
                        </a:schemeClr>
                      </a:fgClr>
                      <a:bgClr>
                        <a:schemeClr val="bg1"/>
                      </a:bgClr>
                    </a:pattFill>
                  </a:tcPr>
                </a:tc>
                <a:tc>
                  <a:txBody>
                    <a:bodyPr/>
                    <a:lstStyle/>
                    <a:p>
                      <a:pPr algn="ctr" fontAlgn="ctr">
                        <a:buNone/>
                      </a:pPr>
                      <a:r>
                        <a:rPr lang="en-US" sz="800" u="none" strike="noStrike">
                          <a:effectLst/>
                        </a:rPr>
                        <a:t>5-10 mins (Depending on the amount of transactions)</a:t>
                      </a:r>
                      <a:endParaRPr lang="en-US" sz="800" b="0" i="0" u="none" strike="noStrike">
                        <a:solidFill>
                          <a:srgbClr val="000000"/>
                        </a:solidFill>
                        <a:effectLst/>
                        <a:latin typeface="Arial Nova Light" panose="020B0304020202020204" pitchFamily="34" charset="0"/>
                      </a:endParaRPr>
                    </a:p>
                  </a:txBody>
                  <a:tcPr marL="36000" marR="36000" marT="36000" marB="36000" anchor="ctr"/>
                </a:tc>
                <a:tc>
                  <a:txBody>
                    <a:bodyPr/>
                    <a:lstStyle/>
                    <a:p>
                      <a:pPr algn="ctr" fontAlgn="ctr">
                        <a:buNone/>
                      </a:pPr>
                      <a:r>
                        <a:rPr lang="en-US" sz="800" u="none" strike="noStrike">
                          <a:effectLst/>
                        </a:rPr>
                        <a:t>5-10 mins (Depending on the amount of transactions)</a:t>
                      </a:r>
                      <a:endParaRPr lang="en-US" sz="800" b="0" i="0" u="none" strike="noStrike">
                        <a:solidFill>
                          <a:srgbClr val="000000"/>
                        </a:solidFill>
                        <a:effectLst/>
                        <a:latin typeface="Arial Nova Light" panose="020B0304020202020204" pitchFamily="34" charset="0"/>
                      </a:endParaRPr>
                    </a:p>
                  </a:txBody>
                  <a:tcPr marL="36000" marR="36000" marT="36000" marB="36000" anchor="ctr"/>
                </a:tc>
                <a:extLst>
                  <a:ext uri="{0D108BD9-81ED-4DB2-BD59-A6C34878D82A}">
                    <a16:rowId xmlns:a16="http://schemas.microsoft.com/office/drawing/2014/main" val="4109897049"/>
                  </a:ext>
                </a:extLst>
              </a:tr>
            </a:tbl>
          </a:graphicData>
        </a:graphic>
      </p:graphicFrame>
    </p:spTree>
    <p:extLst>
      <p:ext uri="{BB962C8B-B14F-4D97-AF65-F5344CB8AC3E}">
        <p14:creationId xmlns:p14="http://schemas.microsoft.com/office/powerpoint/2010/main" val="2703288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1CEC89-E142-CAD7-8659-7E627D53C287}"/>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E53FEB3-B486-E4D2-B676-8D54BAC2E3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think-cell data - do not delete" hidden="1">
                        <a:extLst>
                          <a:ext uri="{FF2B5EF4-FFF2-40B4-BE49-F238E27FC236}">
                            <a16:creationId xmlns:a16="http://schemas.microsoft.com/office/drawing/2014/main" id="{EE53FEB3-B486-E4D2-B676-8D54BAC2E3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BDD6589-146C-F14E-757D-F558869D06BB}"/>
              </a:ext>
            </a:extLst>
          </p:cNvPr>
          <p:cNvSpPr>
            <a:spLocks noGrp="1"/>
          </p:cNvSpPr>
          <p:nvPr>
            <p:ph type="title"/>
          </p:nvPr>
        </p:nvSpPr>
        <p:spPr/>
        <p:txBody>
          <a:bodyPr vert="horz"/>
          <a:lstStyle/>
          <a:p>
            <a:r>
              <a:rPr lang="en-US"/>
              <a:t>Accounts Payable – ERP Process </a:t>
            </a:r>
          </a:p>
        </p:txBody>
      </p:sp>
      <p:sp>
        <p:nvSpPr>
          <p:cNvPr id="3" name="Slide Number Placeholder 2">
            <a:extLst>
              <a:ext uri="{FF2B5EF4-FFF2-40B4-BE49-F238E27FC236}">
                <a16:creationId xmlns:a16="http://schemas.microsoft.com/office/drawing/2014/main" id="{01AD7744-29A5-4F96-18FC-B11D2EEFFB1F}"/>
              </a:ext>
            </a:extLst>
          </p:cNvPr>
          <p:cNvSpPr>
            <a:spLocks noGrp="1"/>
          </p:cNvSpPr>
          <p:nvPr>
            <p:ph type="sldNum" sz="quarter" idx="12"/>
          </p:nvPr>
        </p:nvSpPr>
        <p:spPr/>
        <p:txBody>
          <a:bodyPr/>
          <a:lstStyle/>
          <a:p>
            <a:fld id="{0B5D68DA-F15D-0F40-9055-781099452C22}" type="slidenum">
              <a:rPr lang="en-SA" smtClean="0"/>
              <a:t>22</a:t>
            </a:fld>
            <a:endParaRPr lang="en-SA"/>
          </a:p>
        </p:txBody>
      </p:sp>
      <p:sp>
        <p:nvSpPr>
          <p:cNvPr id="67" name="TextBox 66">
            <a:extLst>
              <a:ext uri="{FF2B5EF4-FFF2-40B4-BE49-F238E27FC236}">
                <a16:creationId xmlns:a16="http://schemas.microsoft.com/office/drawing/2014/main" id="{A09FE751-E585-C504-42E3-9B180CDED8C9}"/>
              </a:ext>
            </a:extLst>
          </p:cNvPr>
          <p:cNvSpPr txBox="1"/>
          <p:nvPr/>
        </p:nvSpPr>
        <p:spPr>
          <a:xfrm>
            <a:off x="318000" y="1061568"/>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600">
                <a:solidFill>
                  <a:schemeClr val="tx1"/>
                </a:solidFill>
              </a:rPr>
              <a:t>1) Accounts Payables</a:t>
            </a:r>
          </a:p>
        </p:txBody>
      </p:sp>
      <p:sp>
        <p:nvSpPr>
          <p:cNvPr id="69" name="TextBox 68">
            <a:extLst>
              <a:ext uri="{FF2B5EF4-FFF2-40B4-BE49-F238E27FC236}">
                <a16:creationId xmlns:a16="http://schemas.microsoft.com/office/drawing/2014/main" id="{C7F07F6A-7686-FA86-D9C4-092DE50C08EA}"/>
              </a:ext>
            </a:extLst>
          </p:cNvPr>
          <p:cNvSpPr txBox="1"/>
          <p:nvPr/>
        </p:nvSpPr>
        <p:spPr>
          <a:xfrm>
            <a:off x="318000" y="3651443"/>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600">
                <a:solidFill>
                  <a:schemeClr val="tx1"/>
                </a:solidFill>
              </a:rPr>
              <a:t>2) Payment</a:t>
            </a:r>
          </a:p>
        </p:txBody>
      </p:sp>
      <p:graphicFrame>
        <p:nvGraphicFramePr>
          <p:cNvPr id="6" name="Table 5">
            <a:extLst>
              <a:ext uri="{FF2B5EF4-FFF2-40B4-BE49-F238E27FC236}">
                <a16:creationId xmlns:a16="http://schemas.microsoft.com/office/drawing/2014/main" id="{DCF7A341-4257-C51E-95DE-FB9AC3FF6181}"/>
              </a:ext>
            </a:extLst>
          </p:cNvPr>
          <p:cNvGraphicFramePr>
            <a:graphicFrameLocks noGrp="1"/>
          </p:cNvGraphicFramePr>
          <p:nvPr/>
        </p:nvGraphicFramePr>
        <p:xfrm>
          <a:off x="318000" y="1535593"/>
          <a:ext cx="11249889" cy="2077906"/>
        </p:xfrm>
        <a:graphic>
          <a:graphicData uri="http://schemas.openxmlformats.org/drawingml/2006/table">
            <a:tbl>
              <a:tblPr>
                <a:tableStyleId>{5C22544A-7EE6-4342-B048-85BDC9FD1C3A}</a:tableStyleId>
              </a:tblPr>
              <a:tblGrid>
                <a:gridCol w="1168959">
                  <a:extLst>
                    <a:ext uri="{9D8B030D-6E8A-4147-A177-3AD203B41FA5}">
                      <a16:colId xmlns:a16="http://schemas.microsoft.com/office/drawing/2014/main" val="3086852150"/>
                    </a:ext>
                  </a:extLst>
                </a:gridCol>
                <a:gridCol w="1680155">
                  <a:extLst>
                    <a:ext uri="{9D8B030D-6E8A-4147-A177-3AD203B41FA5}">
                      <a16:colId xmlns:a16="http://schemas.microsoft.com/office/drawing/2014/main" val="1932322274"/>
                    </a:ext>
                  </a:extLst>
                </a:gridCol>
                <a:gridCol w="1680155">
                  <a:extLst>
                    <a:ext uri="{9D8B030D-6E8A-4147-A177-3AD203B41FA5}">
                      <a16:colId xmlns:a16="http://schemas.microsoft.com/office/drawing/2014/main" val="4247742583"/>
                    </a:ext>
                  </a:extLst>
                </a:gridCol>
                <a:gridCol w="1680155">
                  <a:extLst>
                    <a:ext uri="{9D8B030D-6E8A-4147-A177-3AD203B41FA5}">
                      <a16:colId xmlns:a16="http://schemas.microsoft.com/office/drawing/2014/main" val="655293602"/>
                    </a:ext>
                  </a:extLst>
                </a:gridCol>
                <a:gridCol w="1680155">
                  <a:extLst>
                    <a:ext uri="{9D8B030D-6E8A-4147-A177-3AD203B41FA5}">
                      <a16:colId xmlns:a16="http://schemas.microsoft.com/office/drawing/2014/main" val="568654053"/>
                    </a:ext>
                  </a:extLst>
                </a:gridCol>
                <a:gridCol w="1680155">
                  <a:extLst>
                    <a:ext uri="{9D8B030D-6E8A-4147-A177-3AD203B41FA5}">
                      <a16:colId xmlns:a16="http://schemas.microsoft.com/office/drawing/2014/main" val="3592065122"/>
                    </a:ext>
                  </a:extLst>
                </a:gridCol>
                <a:gridCol w="1680155">
                  <a:extLst>
                    <a:ext uri="{9D8B030D-6E8A-4147-A177-3AD203B41FA5}">
                      <a16:colId xmlns:a16="http://schemas.microsoft.com/office/drawing/2014/main" val="3010212905"/>
                    </a:ext>
                  </a:extLst>
                </a:gridCol>
              </a:tblGrid>
              <a:tr h="209667">
                <a:tc>
                  <a:txBody>
                    <a:bodyPr/>
                    <a:lstStyle/>
                    <a:p>
                      <a:pPr algn="ctr" fontAlgn="b">
                        <a:buNone/>
                      </a:pPr>
                      <a:endParaRPr lang="en-US" sz="800" b="1" i="0" u="none" strike="noStrike">
                        <a:solidFill>
                          <a:srgbClr val="FFFFFF"/>
                        </a:solidFill>
                        <a:effectLst/>
                        <a:latin typeface="Arial Nova Light" panose="020B0304020202020204" pitchFamily="34" charset="0"/>
                      </a:endParaRPr>
                    </a:p>
                  </a:txBody>
                  <a:tcPr marL="3977" marR="3977" marT="3977" marB="0" anchor="ctr">
                    <a:solidFill>
                      <a:srgbClr val="FEFFFE"/>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a:t>
                      </a:r>
                    </a:p>
                  </a:txBody>
                  <a:tcPr marL="3977" marR="3977" marT="3977" marB="0" anchor="ctr">
                    <a:solidFill>
                      <a:schemeClr val="bg2"/>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- 2</a:t>
                      </a:r>
                    </a:p>
                  </a:txBody>
                  <a:tcPr marL="3977" marR="3977" marT="3977" marB="0" anchor="ctr">
                    <a:solidFill>
                      <a:schemeClr val="bg2"/>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- 3</a:t>
                      </a:r>
                    </a:p>
                  </a:txBody>
                  <a:tcPr marL="3977" marR="3977" marT="3977" marB="0" anchor="ctr">
                    <a:solidFill>
                      <a:schemeClr val="bg2"/>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- 4</a:t>
                      </a:r>
                    </a:p>
                  </a:txBody>
                  <a:tcPr marL="3977" marR="3977" marT="3977" marB="0" anchor="ctr">
                    <a:solidFill>
                      <a:schemeClr val="bg2"/>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- 5</a:t>
                      </a:r>
                    </a:p>
                  </a:txBody>
                  <a:tcPr marL="3977" marR="3977" marT="3977" marB="0" anchor="ctr">
                    <a:solidFill>
                      <a:schemeClr val="bg2"/>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- 6</a:t>
                      </a:r>
                    </a:p>
                  </a:txBody>
                  <a:tcPr marL="3977" marR="3977" marT="3977" marB="0" anchor="ctr">
                    <a:solidFill>
                      <a:schemeClr val="bg2"/>
                    </a:solidFill>
                  </a:tcPr>
                </a:tc>
                <a:extLst>
                  <a:ext uri="{0D108BD9-81ED-4DB2-BD59-A6C34878D82A}">
                    <a16:rowId xmlns:a16="http://schemas.microsoft.com/office/drawing/2014/main" val="279986062"/>
                  </a:ext>
                </a:extLst>
              </a:tr>
              <a:tr h="1332000">
                <a:tc>
                  <a:txBody>
                    <a:bodyPr/>
                    <a:lstStyle/>
                    <a:p>
                      <a:pPr marL="0" algn="r" defTabSz="914400" rtl="0" eaLnBrk="1" fontAlgn="ctr" latinLnBrk="0" hangingPunct="1">
                        <a:buNone/>
                      </a:pPr>
                      <a:r>
                        <a:rPr lang="en-US" sz="900" b="1" u="none" strike="noStrike" kern="1200">
                          <a:solidFill>
                            <a:schemeClr val="bg1"/>
                          </a:solidFill>
                          <a:effectLst/>
                          <a:latin typeface="+mn-lt"/>
                          <a:ea typeface="+mn-ea"/>
                          <a:cs typeface="+mn-cs"/>
                        </a:rPr>
                        <a:t>Task Description</a:t>
                      </a:r>
                    </a:p>
                  </a:txBody>
                  <a:tcPr marL="3977" marR="3977" marT="3977" marB="0" anchor="ctr">
                    <a:solidFill>
                      <a:schemeClr val="bg2"/>
                    </a:solidFill>
                  </a:tcPr>
                </a:tc>
                <a:tc>
                  <a:txBody>
                    <a:bodyPr/>
                    <a:lstStyle/>
                    <a:p>
                      <a:pPr algn="l" fontAlgn="ctr">
                        <a:buNone/>
                      </a:pPr>
                      <a:r>
                        <a:rPr lang="en-US" sz="900" u="none" strike="noStrike" kern="1200">
                          <a:solidFill>
                            <a:schemeClr val="dk1"/>
                          </a:solidFill>
                          <a:effectLst/>
                          <a:latin typeface="+mn-lt"/>
                          <a:ea typeface="+mn-ea"/>
                          <a:cs typeface="+mn-cs"/>
                        </a:rPr>
                        <a:t>Client share the invokes to be recorded through email / service now:</a:t>
                      </a:r>
                      <a:br>
                        <a:rPr lang="en-US" sz="900" u="none" strike="noStrike" kern="1200">
                          <a:solidFill>
                            <a:schemeClr val="dk1"/>
                          </a:solidFill>
                          <a:effectLst/>
                          <a:latin typeface="+mn-lt"/>
                          <a:ea typeface="+mn-ea"/>
                          <a:cs typeface="+mn-cs"/>
                        </a:rPr>
                      </a:br>
                      <a:r>
                        <a:rPr lang="en-US" sz="900" u="none" strike="noStrike" kern="1200">
                          <a:solidFill>
                            <a:schemeClr val="dk1"/>
                          </a:solidFill>
                          <a:effectLst/>
                          <a:latin typeface="+mn-lt"/>
                          <a:ea typeface="+mn-ea"/>
                          <a:cs typeface="+mn-cs"/>
                        </a:rPr>
                        <a:t>i) Client confirms if CoC is done in the system if invoice relates to PO.</a:t>
                      </a:r>
                      <a:br>
                        <a:rPr lang="en-US" sz="900" u="none" strike="noStrike" kern="1200">
                          <a:solidFill>
                            <a:schemeClr val="dk1"/>
                          </a:solidFill>
                          <a:effectLst/>
                          <a:latin typeface="+mn-lt"/>
                          <a:ea typeface="+mn-ea"/>
                          <a:cs typeface="+mn-cs"/>
                        </a:rPr>
                      </a:br>
                      <a:r>
                        <a:rPr lang="en-US" sz="900" u="none" strike="noStrike" kern="1200">
                          <a:solidFill>
                            <a:schemeClr val="dk1"/>
                          </a:solidFill>
                          <a:effectLst/>
                          <a:latin typeface="+mn-lt"/>
                          <a:ea typeface="+mn-ea"/>
                          <a:cs typeface="+mn-cs"/>
                        </a:rPr>
                        <a:t>ii) For Non PO, client confirms the GL code to record the invoice.</a:t>
                      </a:r>
                    </a:p>
                  </a:txBody>
                  <a:tcPr marL="36000" marR="36000" marT="3977" marB="0" anchor="ctr">
                    <a:solidFill>
                      <a:schemeClr val="accent2">
                        <a:lumMod val="40000"/>
                        <a:lumOff val="60000"/>
                      </a:schemeClr>
                    </a:solidFill>
                  </a:tcPr>
                </a:tc>
                <a:tc>
                  <a:txBody>
                    <a:bodyPr/>
                    <a:lstStyle/>
                    <a:p>
                      <a:pPr algn="ctr" fontAlgn="ctr">
                        <a:buNone/>
                      </a:pPr>
                      <a:r>
                        <a:rPr lang="en-US" sz="900" u="none" strike="noStrike" kern="1200">
                          <a:solidFill>
                            <a:schemeClr val="dk1"/>
                          </a:solidFill>
                          <a:effectLst/>
                          <a:latin typeface="+mn-lt"/>
                          <a:ea typeface="+mn-ea"/>
                          <a:cs typeface="+mn-cs"/>
                        </a:rPr>
                        <a:t>Review the invoice perform 3 - way match (PO/Contract, COC, Invoice).</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Record and validate the Invoice in ERP and initiate for the approval process. </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Review - Tasama</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Review Client</a:t>
                      </a:r>
                    </a:p>
                  </a:txBody>
                  <a:tcPr marL="36000" marR="36000" marT="3977" marB="0" anchor="ctr">
                    <a:solidFill>
                      <a:schemeClr val="accent2">
                        <a:lumMod val="40000"/>
                        <a:lumOff val="60000"/>
                      </a:schemeClr>
                    </a:solidFill>
                  </a:tcPr>
                </a:tc>
                <a:tc>
                  <a:txBody>
                    <a:bodyPr/>
                    <a:lstStyle/>
                    <a:p>
                      <a:pPr algn="ctr" fontAlgn="ctr">
                        <a:buNone/>
                      </a:pPr>
                      <a:r>
                        <a:rPr lang="en-US" sz="900" u="none" strike="noStrike" kern="1200">
                          <a:solidFill>
                            <a:schemeClr val="dk1"/>
                          </a:solidFill>
                          <a:effectLst/>
                          <a:latin typeface="+mn-lt"/>
                          <a:ea typeface="+mn-ea"/>
                          <a:cs typeface="+mn-cs"/>
                        </a:rPr>
                        <a:t>Workflow approved and auto posted</a:t>
                      </a:r>
                    </a:p>
                  </a:txBody>
                  <a:tcPr marL="36000" marR="36000" marT="3977" marB="0" anchor="ctr"/>
                </a:tc>
                <a:extLst>
                  <a:ext uri="{0D108BD9-81ED-4DB2-BD59-A6C34878D82A}">
                    <a16:rowId xmlns:a16="http://schemas.microsoft.com/office/drawing/2014/main" val="3858522967"/>
                  </a:ext>
                </a:extLst>
              </a:tr>
              <a:tr h="180441">
                <a:tc>
                  <a:txBody>
                    <a:bodyPr/>
                    <a:lstStyle/>
                    <a:p>
                      <a:pPr marL="0" algn="r" defTabSz="914400" rtl="0" eaLnBrk="1" fontAlgn="ctr" latinLnBrk="0" hangingPunct="1">
                        <a:buNone/>
                      </a:pPr>
                      <a:r>
                        <a:rPr lang="en-US" sz="900" b="1" u="none" strike="noStrike" kern="1200">
                          <a:solidFill>
                            <a:schemeClr val="bg1"/>
                          </a:solidFill>
                          <a:effectLst/>
                          <a:latin typeface="+mn-lt"/>
                          <a:ea typeface="+mn-ea"/>
                          <a:cs typeface="+mn-cs"/>
                        </a:rPr>
                        <a:t>Process Owner</a:t>
                      </a:r>
                    </a:p>
                  </a:txBody>
                  <a:tcPr marL="3977" marR="3977" marT="3977" marB="0" anchor="ctr">
                    <a:solidFill>
                      <a:schemeClr val="bg2"/>
                    </a:solidFill>
                  </a:tcPr>
                </a:tc>
                <a:tc>
                  <a:txBody>
                    <a:bodyPr/>
                    <a:lstStyle/>
                    <a:p>
                      <a:pPr algn="ctr" fontAlgn="b">
                        <a:buNone/>
                      </a:pPr>
                      <a:r>
                        <a:rPr lang="en-US" sz="900" u="none" strike="noStrike" kern="1200">
                          <a:solidFill>
                            <a:schemeClr val="dk1"/>
                          </a:solidFill>
                          <a:effectLst/>
                          <a:latin typeface="+mn-lt"/>
                          <a:ea typeface="+mn-ea"/>
                          <a:cs typeface="+mn-cs"/>
                        </a:rPr>
                        <a:t>Client</a:t>
                      </a:r>
                    </a:p>
                  </a:txBody>
                  <a:tcPr marL="36000" marR="36000" marT="3977" marB="0" anchor="ctr">
                    <a:solidFill>
                      <a:schemeClr val="accent2">
                        <a:lumMod val="40000"/>
                        <a:lumOff val="60000"/>
                      </a:schemeClr>
                    </a:solidFill>
                  </a:tcPr>
                </a:tc>
                <a:tc>
                  <a:txBody>
                    <a:bodyPr/>
                    <a:lstStyle/>
                    <a:p>
                      <a:pPr algn="ctr" fontAlgn="b">
                        <a:buNone/>
                      </a:pPr>
                      <a:r>
                        <a:rPr lang="en-US" sz="900" u="none" strike="noStrike" kern="1200">
                          <a:solidFill>
                            <a:schemeClr val="dk1"/>
                          </a:solidFill>
                          <a:effectLst/>
                          <a:latin typeface="+mn-lt"/>
                          <a:ea typeface="+mn-ea"/>
                          <a:cs typeface="+mn-cs"/>
                        </a:rPr>
                        <a:t>Tasama - Accountant</a:t>
                      </a:r>
                    </a:p>
                  </a:txBody>
                  <a:tcPr marL="36000" marR="36000" marT="3977" marB="0" anchor="ctr"/>
                </a:tc>
                <a:tc>
                  <a:txBody>
                    <a:bodyPr/>
                    <a:lstStyle/>
                    <a:p>
                      <a:pPr algn="ctr" fontAlgn="b">
                        <a:buNone/>
                      </a:pPr>
                      <a:r>
                        <a:rPr lang="en-US" sz="900" u="none" strike="noStrike" kern="1200">
                          <a:solidFill>
                            <a:schemeClr val="dk1"/>
                          </a:solidFill>
                          <a:effectLst/>
                          <a:latin typeface="+mn-lt"/>
                          <a:ea typeface="+mn-ea"/>
                          <a:cs typeface="+mn-cs"/>
                        </a:rPr>
                        <a:t>Tasama - Accountant</a:t>
                      </a:r>
                    </a:p>
                  </a:txBody>
                  <a:tcPr marL="36000" marR="36000" marT="3977" marB="0" anchor="ctr"/>
                </a:tc>
                <a:tc>
                  <a:txBody>
                    <a:bodyPr/>
                    <a:lstStyle/>
                    <a:p>
                      <a:pPr algn="ctr" fontAlgn="b">
                        <a:buNone/>
                      </a:pPr>
                      <a:r>
                        <a:rPr lang="en-US" sz="900" u="none" strike="noStrike" kern="1200">
                          <a:solidFill>
                            <a:schemeClr val="dk1"/>
                          </a:solidFill>
                          <a:effectLst/>
                          <a:latin typeface="+mn-lt"/>
                          <a:ea typeface="+mn-ea"/>
                          <a:cs typeface="+mn-cs"/>
                        </a:rPr>
                        <a:t>Tasama - S. Accountant</a:t>
                      </a:r>
                    </a:p>
                  </a:txBody>
                  <a:tcPr marL="36000" marR="36000" marT="3977" marB="0" anchor="ctr"/>
                </a:tc>
                <a:tc>
                  <a:txBody>
                    <a:bodyPr/>
                    <a:lstStyle/>
                    <a:p>
                      <a:pPr algn="ctr" fontAlgn="b">
                        <a:buNone/>
                      </a:pPr>
                      <a:r>
                        <a:rPr lang="en-US" sz="900" u="none" strike="noStrike" kern="1200">
                          <a:solidFill>
                            <a:schemeClr val="dk1"/>
                          </a:solidFill>
                          <a:effectLst/>
                          <a:latin typeface="+mn-lt"/>
                          <a:ea typeface="+mn-ea"/>
                          <a:cs typeface="+mn-cs"/>
                        </a:rPr>
                        <a:t>Client</a:t>
                      </a:r>
                    </a:p>
                  </a:txBody>
                  <a:tcPr marL="36000" marR="36000" marT="3977" marB="0" anchor="ctr">
                    <a:solidFill>
                      <a:schemeClr val="accent2">
                        <a:lumMod val="40000"/>
                        <a:lumOff val="60000"/>
                      </a:schemeClr>
                    </a:solidFill>
                  </a:tcPr>
                </a:tc>
                <a:tc>
                  <a:txBody>
                    <a:bodyPr/>
                    <a:lstStyle/>
                    <a:p>
                      <a:pPr algn="ctr" fontAlgn="b">
                        <a:buNone/>
                      </a:pPr>
                      <a:r>
                        <a:rPr lang="en-US" sz="900" u="none" strike="noStrike" kern="1200">
                          <a:solidFill>
                            <a:schemeClr val="dk1"/>
                          </a:solidFill>
                          <a:effectLst/>
                          <a:latin typeface="+mn-lt"/>
                          <a:ea typeface="+mn-ea"/>
                          <a:cs typeface="+mn-cs"/>
                        </a:rPr>
                        <a:t>System</a:t>
                      </a:r>
                    </a:p>
                  </a:txBody>
                  <a:tcPr marL="36000" marR="36000" marT="3977" marB="0" anchor="ctr"/>
                </a:tc>
                <a:extLst>
                  <a:ext uri="{0D108BD9-81ED-4DB2-BD59-A6C34878D82A}">
                    <a16:rowId xmlns:a16="http://schemas.microsoft.com/office/drawing/2014/main" val="1136047673"/>
                  </a:ext>
                </a:extLst>
              </a:tr>
              <a:tr h="355798">
                <a:tc>
                  <a:txBody>
                    <a:bodyPr/>
                    <a:lstStyle/>
                    <a:p>
                      <a:pPr marL="0" algn="r" defTabSz="914400" rtl="0" eaLnBrk="1" fontAlgn="ctr" latinLnBrk="0" hangingPunct="1">
                        <a:buNone/>
                      </a:pPr>
                      <a:r>
                        <a:rPr lang="en-US" sz="900" b="1" u="none" strike="noStrike" kern="1200">
                          <a:solidFill>
                            <a:schemeClr val="bg1"/>
                          </a:solidFill>
                          <a:effectLst/>
                          <a:latin typeface="+mn-lt"/>
                          <a:ea typeface="+mn-ea"/>
                          <a:cs typeface="+mn-cs"/>
                        </a:rPr>
                        <a:t>Estimated time</a:t>
                      </a:r>
                    </a:p>
                  </a:txBody>
                  <a:tcPr marL="3977" marR="3977" marT="3977" marB="0" anchor="ctr">
                    <a:solidFill>
                      <a:schemeClr val="bg2"/>
                    </a:solidFill>
                  </a:tcPr>
                </a:tc>
                <a:tc>
                  <a:txBody>
                    <a:bodyPr/>
                    <a:lstStyle/>
                    <a:p>
                      <a:pPr algn="ctr" fontAlgn="ctr">
                        <a:buNone/>
                      </a:pPr>
                      <a:r>
                        <a:rPr lang="en-US" sz="900" u="none" strike="noStrike" kern="1200">
                          <a:solidFill>
                            <a:schemeClr val="dk1"/>
                          </a:solidFill>
                          <a:effectLst/>
                          <a:latin typeface="+mn-lt"/>
                          <a:ea typeface="+mn-ea"/>
                          <a:cs typeface="+mn-cs"/>
                        </a:rPr>
                        <a:t>NA</a:t>
                      </a:r>
                    </a:p>
                  </a:txBody>
                  <a:tcPr marL="36000" marR="36000" marT="3977" marB="0" anchor="ctr">
                    <a:pattFill prst="dkUpDiag">
                      <a:fgClr>
                        <a:schemeClr val="accent6">
                          <a:lumMod val="50000"/>
                          <a:lumOff val="50000"/>
                        </a:schemeClr>
                      </a:fgClr>
                      <a:bgClr>
                        <a:schemeClr val="bg1"/>
                      </a:bgClr>
                    </a:pattFill>
                  </a:tcPr>
                </a:tc>
                <a:tc>
                  <a:txBody>
                    <a:bodyPr/>
                    <a:lstStyle/>
                    <a:p>
                      <a:pPr algn="ctr" fontAlgn="ctr">
                        <a:buNone/>
                      </a:pPr>
                      <a:r>
                        <a:rPr lang="en-US" sz="900" u="none" strike="noStrike" kern="1200">
                          <a:solidFill>
                            <a:schemeClr val="dk1"/>
                          </a:solidFill>
                          <a:effectLst/>
                          <a:latin typeface="+mn-lt"/>
                          <a:ea typeface="+mn-ea"/>
                          <a:cs typeface="+mn-cs"/>
                        </a:rPr>
                        <a:t>5 mins - 10 min (Depending on the nature of invoice)</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3 min - 15 mins (Depending on the line of multiperiod)</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5 mins (Depending on the nature of invoice)</a:t>
                      </a:r>
                    </a:p>
                  </a:txBody>
                  <a:tcPr marL="36000" marR="36000" marT="3977" marB="0" anchor="ctr"/>
                </a:tc>
                <a:tc>
                  <a:txBody>
                    <a:bodyPr/>
                    <a:lstStyle/>
                    <a:p>
                      <a:pPr algn="ctr" fontAlgn="ctr">
                        <a:buNone/>
                      </a:pPr>
                      <a:r>
                        <a:rPr lang="en-US" sz="900" u="none" strike="noStrike" kern="1200">
                          <a:solidFill>
                            <a:schemeClr val="dk1"/>
                          </a:solidFill>
                          <a:effectLst/>
                          <a:latin typeface="+mn-lt"/>
                          <a:ea typeface="+mn-ea"/>
                          <a:cs typeface="+mn-cs"/>
                        </a:rPr>
                        <a:t>NA</a:t>
                      </a:r>
                    </a:p>
                  </a:txBody>
                  <a:tcPr marL="36000" marR="36000" marT="3977" marB="0" anchor="ctr">
                    <a:pattFill prst="dkUpDiag">
                      <a:fgClr>
                        <a:schemeClr val="accent6">
                          <a:lumMod val="50000"/>
                          <a:lumOff val="50000"/>
                        </a:schemeClr>
                      </a:fgClr>
                      <a:bgClr>
                        <a:schemeClr val="bg1"/>
                      </a:bgClr>
                    </a:pattFill>
                  </a:tcPr>
                </a:tc>
                <a:tc>
                  <a:txBody>
                    <a:bodyPr/>
                    <a:lstStyle/>
                    <a:p>
                      <a:pPr algn="ctr" fontAlgn="ctr">
                        <a:buNone/>
                      </a:pPr>
                      <a:r>
                        <a:rPr lang="en-US" sz="900" u="none" strike="noStrike" kern="1200">
                          <a:solidFill>
                            <a:schemeClr val="dk1"/>
                          </a:solidFill>
                          <a:effectLst/>
                          <a:latin typeface="+mn-lt"/>
                          <a:ea typeface="+mn-ea"/>
                          <a:cs typeface="+mn-cs"/>
                        </a:rPr>
                        <a:t>NA</a:t>
                      </a:r>
                    </a:p>
                  </a:txBody>
                  <a:tcPr marL="36000" marR="36000" marT="3977" marB="0" anchor="ctr">
                    <a:pattFill prst="dkUpDiag">
                      <a:fgClr>
                        <a:schemeClr val="accent6">
                          <a:lumMod val="50000"/>
                          <a:lumOff val="50000"/>
                        </a:schemeClr>
                      </a:fgClr>
                      <a:bgClr>
                        <a:schemeClr val="bg1"/>
                      </a:bgClr>
                    </a:pattFill>
                  </a:tcPr>
                </a:tc>
                <a:extLst>
                  <a:ext uri="{0D108BD9-81ED-4DB2-BD59-A6C34878D82A}">
                    <a16:rowId xmlns:a16="http://schemas.microsoft.com/office/drawing/2014/main" val="3641208933"/>
                  </a:ext>
                </a:extLst>
              </a:tr>
            </a:tbl>
          </a:graphicData>
        </a:graphic>
      </p:graphicFrame>
      <p:graphicFrame>
        <p:nvGraphicFramePr>
          <p:cNvPr id="8" name="Table 7">
            <a:extLst>
              <a:ext uri="{FF2B5EF4-FFF2-40B4-BE49-F238E27FC236}">
                <a16:creationId xmlns:a16="http://schemas.microsoft.com/office/drawing/2014/main" id="{3D055A6A-AE6E-3212-C8A0-E8FEE55F3ED8}"/>
              </a:ext>
            </a:extLst>
          </p:cNvPr>
          <p:cNvGraphicFramePr>
            <a:graphicFrameLocks noGrp="1"/>
          </p:cNvGraphicFramePr>
          <p:nvPr/>
        </p:nvGraphicFramePr>
        <p:xfrm>
          <a:off x="317999" y="4125468"/>
          <a:ext cx="11246148" cy="2306951"/>
        </p:xfrm>
        <a:graphic>
          <a:graphicData uri="http://schemas.openxmlformats.org/drawingml/2006/table">
            <a:tbl>
              <a:tblPr>
                <a:tableStyleId>{5C22544A-7EE6-4342-B048-85BDC9FD1C3A}</a:tableStyleId>
              </a:tblPr>
              <a:tblGrid>
                <a:gridCol w="1170000">
                  <a:extLst>
                    <a:ext uri="{9D8B030D-6E8A-4147-A177-3AD203B41FA5}">
                      <a16:colId xmlns:a16="http://schemas.microsoft.com/office/drawing/2014/main" val="2372861261"/>
                    </a:ext>
                  </a:extLst>
                </a:gridCol>
                <a:gridCol w="1119572">
                  <a:extLst>
                    <a:ext uri="{9D8B030D-6E8A-4147-A177-3AD203B41FA5}">
                      <a16:colId xmlns:a16="http://schemas.microsoft.com/office/drawing/2014/main" val="154335429"/>
                    </a:ext>
                  </a:extLst>
                </a:gridCol>
                <a:gridCol w="1119572">
                  <a:extLst>
                    <a:ext uri="{9D8B030D-6E8A-4147-A177-3AD203B41FA5}">
                      <a16:colId xmlns:a16="http://schemas.microsoft.com/office/drawing/2014/main" val="592894143"/>
                    </a:ext>
                  </a:extLst>
                </a:gridCol>
                <a:gridCol w="1119572">
                  <a:extLst>
                    <a:ext uri="{9D8B030D-6E8A-4147-A177-3AD203B41FA5}">
                      <a16:colId xmlns:a16="http://schemas.microsoft.com/office/drawing/2014/main" val="4087544686"/>
                    </a:ext>
                  </a:extLst>
                </a:gridCol>
                <a:gridCol w="1119572">
                  <a:extLst>
                    <a:ext uri="{9D8B030D-6E8A-4147-A177-3AD203B41FA5}">
                      <a16:colId xmlns:a16="http://schemas.microsoft.com/office/drawing/2014/main" val="2128878056"/>
                    </a:ext>
                  </a:extLst>
                </a:gridCol>
                <a:gridCol w="1119572">
                  <a:extLst>
                    <a:ext uri="{9D8B030D-6E8A-4147-A177-3AD203B41FA5}">
                      <a16:colId xmlns:a16="http://schemas.microsoft.com/office/drawing/2014/main" val="1020487561"/>
                    </a:ext>
                  </a:extLst>
                </a:gridCol>
                <a:gridCol w="1119572">
                  <a:extLst>
                    <a:ext uri="{9D8B030D-6E8A-4147-A177-3AD203B41FA5}">
                      <a16:colId xmlns:a16="http://schemas.microsoft.com/office/drawing/2014/main" val="869289022"/>
                    </a:ext>
                  </a:extLst>
                </a:gridCol>
                <a:gridCol w="1119572">
                  <a:extLst>
                    <a:ext uri="{9D8B030D-6E8A-4147-A177-3AD203B41FA5}">
                      <a16:colId xmlns:a16="http://schemas.microsoft.com/office/drawing/2014/main" val="3451955710"/>
                    </a:ext>
                  </a:extLst>
                </a:gridCol>
                <a:gridCol w="1119572">
                  <a:extLst>
                    <a:ext uri="{9D8B030D-6E8A-4147-A177-3AD203B41FA5}">
                      <a16:colId xmlns:a16="http://schemas.microsoft.com/office/drawing/2014/main" val="4224778276"/>
                    </a:ext>
                  </a:extLst>
                </a:gridCol>
                <a:gridCol w="1119572">
                  <a:extLst>
                    <a:ext uri="{9D8B030D-6E8A-4147-A177-3AD203B41FA5}">
                      <a16:colId xmlns:a16="http://schemas.microsoft.com/office/drawing/2014/main" val="2772261817"/>
                    </a:ext>
                  </a:extLst>
                </a:gridCol>
              </a:tblGrid>
              <a:tr h="185731">
                <a:tc>
                  <a:txBody>
                    <a:bodyPr/>
                    <a:lstStyle/>
                    <a:p>
                      <a:pPr marL="0" algn="ctr" defTabSz="914400" rtl="0" eaLnBrk="1" fontAlgn="b" latinLnBrk="0" hangingPunct="1">
                        <a:buNone/>
                      </a:pPr>
                      <a:endParaRPr lang="en-US" sz="1050" u="none" strike="noStrike" kern="1200">
                        <a:solidFill>
                          <a:schemeClr val="bg1"/>
                        </a:solidFill>
                        <a:effectLst/>
                        <a:latin typeface="+mn-lt"/>
                        <a:ea typeface="+mn-ea"/>
                        <a:cs typeface="+mn-cs"/>
                      </a:endParaRPr>
                    </a:p>
                  </a:txBody>
                  <a:tcPr marL="36000" marR="36000" marT="36000" marB="36000" anchor="ctr">
                    <a:solidFill>
                      <a:schemeClr val="bg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- 7</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- 8</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- 9</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- 10</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- 11</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- 12</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- 13</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- 14</a:t>
                      </a:r>
                    </a:p>
                  </a:txBody>
                  <a:tcPr marL="3223" marR="3223" marT="3223" marB="0" anchor="ctr">
                    <a:solidFill>
                      <a:schemeClr val="tx1"/>
                    </a:solidFill>
                  </a:tcPr>
                </a:tc>
                <a:tc>
                  <a:txBody>
                    <a:bodyPr/>
                    <a:lstStyle/>
                    <a:p>
                      <a:pPr marL="0" algn="ctr" defTabSz="914400" rtl="0" eaLnBrk="1" fontAlgn="b" latinLnBrk="0" hangingPunct="1">
                        <a:buNone/>
                      </a:pPr>
                      <a:r>
                        <a:rPr lang="en-US" sz="1050" u="none" strike="noStrike" kern="1200">
                          <a:solidFill>
                            <a:schemeClr val="bg1"/>
                          </a:solidFill>
                          <a:effectLst/>
                          <a:latin typeface="+mn-lt"/>
                          <a:ea typeface="+mn-ea"/>
                          <a:cs typeface="+mn-cs"/>
                        </a:rPr>
                        <a:t>Step - 15</a:t>
                      </a:r>
                    </a:p>
                  </a:txBody>
                  <a:tcPr marL="3223" marR="3223" marT="3223" marB="0" anchor="ctr">
                    <a:solidFill>
                      <a:schemeClr val="tx1"/>
                    </a:solidFill>
                  </a:tcPr>
                </a:tc>
                <a:extLst>
                  <a:ext uri="{0D108BD9-81ED-4DB2-BD59-A6C34878D82A}">
                    <a16:rowId xmlns:a16="http://schemas.microsoft.com/office/drawing/2014/main" val="2566043185"/>
                  </a:ext>
                </a:extLst>
              </a:tr>
              <a:tr h="1437911">
                <a:tc>
                  <a:txBody>
                    <a:bodyPr/>
                    <a:lstStyle/>
                    <a:p>
                      <a:pPr algn="r" fontAlgn="ctr">
                        <a:buNone/>
                      </a:pPr>
                      <a:r>
                        <a:rPr lang="en-US" sz="900" b="1" u="none" strike="noStrike">
                          <a:solidFill>
                            <a:schemeClr val="bg1"/>
                          </a:solidFill>
                          <a:effectLst/>
                        </a:rPr>
                        <a:t>Task Description</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bg2"/>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Work flow approved invoices are shared with client to confirm on the payment to be initiated</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 confirms on the invoices to be paid through bank</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Upon confirmation, payment process is initiated for the confirmed invoices in ERP</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 approve the payment batch in the ERP</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Upon approval of payments in the ERP, Tasama accountant upload the payment in the bank portal</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 then execute the payment in bank portal.</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Upon approval of payments in the bank, Tasama accountant extract the bank statement from bank portal</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Upload in ERP to reconcile the payment with bank statement lines.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Create accounting for Payables module and cash </a:t>
                      </a:r>
                      <a:r>
                        <a:rPr lang="en-US" sz="900" u="none" strike="noStrike" kern="1200" err="1">
                          <a:solidFill>
                            <a:schemeClr val="dk1"/>
                          </a:solidFill>
                          <a:effectLst/>
                          <a:latin typeface="+mn-lt"/>
                          <a:ea typeface="+mn-ea"/>
                          <a:cs typeface="+mn-cs"/>
                        </a:rPr>
                        <a:t>mangement</a:t>
                      </a:r>
                      <a:r>
                        <a:rPr lang="en-US" sz="900" u="none" strike="noStrike" kern="1200">
                          <a:solidFill>
                            <a:schemeClr val="dk1"/>
                          </a:solidFill>
                          <a:effectLst/>
                          <a:latin typeface="+mn-lt"/>
                          <a:ea typeface="+mn-ea"/>
                          <a:cs typeface="+mn-cs"/>
                        </a:rPr>
                        <a:t> in ERP to post the payments.</a:t>
                      </a:r>
                    </a:p>
                  </a:txBody>
                  <a:tcPr marL="36000" marR="36000" marT="3223" marB="0" anchor="ctr"/>
                </a:tc>
                <a:extLst>
                  <a:ext uri="{0D108BD9-81ED-4DB2-BD59-A6C34878D82A}">
                    <a16:rowId xmlns:a16="http://schemas.microsoft.com/office/drawing/2014/main" val="2725138769"/>
                  </a:ext>
                </a:extLst>
              </a:tr>
              <a:tr h="179739">
                <a:tc>
                  <a:txBody>
                    <a:bodyPr/>
                    <a:lstStyle/>
                    <a:p>
                      <a:pPr algn="r" fontAlgn="b">
                        <a:buNone/>
                      </a:pPr>
                      <a:r>
                        <a:rPr lang="en-US" sz="900" b="1" u="none" strike="noStrike">
                          <a:solidFill>
                            <a:schemeClr val="bg1"/>
                          </a:solidFill>
                          <a:effectLst/>
                        </a:rPr>
                        <a:t>Process Owner</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bg2"/>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Client</a:t>
                      </a:r>
                    </a:p>
                  </a:txBody>
                  <a:tcPr marL="36000" marR="36000" marT="3223" marB="0" anchor="ctr">
                    <a:solidFill>
                      <a:schemeClr val="accent2">
                        <a:lumMod val="40000"/>
                        <a:lumOff val="60000"/>
                      </a:schemeClr>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Tasama - Accountant</a:t>
                      </a:r>
                    </a:p>
                  </a:txBody>
                  <a:tcPr marL="36000" marR="36000" marT="3223" marB="0" anchor="ctr"/>
                </a:tc>
                <a:extLst>
                  <a:ext uri="{0D108BD9-81ED-4DB2-BD59-A6C34878D82A}">
                    <a16:rowId xmlns:a16="http://schemas.microsoft.com/office/drawing/2014/main" val="1833040657"/>
                  </a:ext>
                </a:extLst>
              </a:tr>
              <a:tr h="359477">
                <a:tc>
                  <a:txBody>
                    <a:bodyPr/>
                    <a:lstStyle/>
                    <a:p>
                      <a:pPr algn="r" fontAlgn="ctr">
                        <a:buNone/>
                      </a:pPr>
                      <a:r>
                        <a:rPr lang="en-US" sz="900" b="1" u="none" strike="noStrike">
                          <a:solidFill>
                            <a:schemeClr val="bg1"/>
                          </a:solidFill>
                          <a:effectLst/>
                        </a:rPr>
                        <a:t>Estimated time</a:t>
                      </a:r>
                      <a:endParaRPr lang="en-US" sz="900" b="1" i="0" u="none" strike="noStrike">
                        <a:solidFill>
                          <a:schemeClr val="bg1"/>
                        </a:solidFill>
                        <a:effectLst/>
                        <a:latin typeface="Arial Nova Light" panose="020B0304020202020204" pitchFamily="34" charset="0"/>
                      </a:endParaRPr>
                    </a:p>
                  </a:txBody>
                  <a:tcPr marL="36000" marR="36000" marT="36000" marB="36000" anchor="ctr">
                    <a:solidFill>
                      <a:schemeClr val="bg2"/>
                    </a:solid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5-10 mins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NA</a:t>
                      </a:r>
                    </a:p>
                  </a:txBody>
                  <a:tcPr marL="36000" marR="36000" marT="3223" marB="0" anchor="ctr">
                    <a:pattFill prst="dkDnDiag">
                      <a:fgClr>
                        <a:schemeClr val="accent6">
                          <a:lumMod val="50000"/>
                          <a:lumOff val="50000"/>
                        </a:schemeClr>
                      </a:fgClr>
                      <a:bgClr>
                        <a:schemeClr val="bg1"/>
                      </a:bgClr>
                    </a:patt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5-10 mins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NA</a:t>
                      </a:r>
                    </a:p>
                  </a:txBody>
                  <a:tcPr marL="36000" marR="36000" marT="3223" marB="0" anchor="ctr">
                    <a:pattFill prst="dkUpDiag">
                      <a:fgClr>
                        <a:schemeClr val="accent6">
                          <a:lumMod val="50000"/>
                          <a:lumOff val="50000"/>
                        </a:schemeClr>
                      </a:fgClr>
                      <a:bgClr>
                        <a:schemeClr val="bg1"/>
                      </a:bgClr>
                    </a:patt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 mins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NA</a:t>
                      </a:r>
                    </a:p>
                  </a:txBody>
                  <a:tcPr marL="36000" marR="36000" marT="3223" marB="0" anchor="ctr">
                    <a:pattFill prst="dkUpDiag">
                      <a:fgClr>
                        <a:schemeClr val="accent6">
                          <a:lumMod val="50000"/>
                          <a:lumOff val="50000"/>
                        </a:schemeClr>
                      </a:fgClr>
                      <a:bgClr>
                        <a:schemeClr val="bg1"/>
                      </a:bgClr>
                    </a:pattFill>
                  </a:tcP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 mins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 mins</a:t>
                      </a:r>
                    </a:p>
                  </a:txBody>
                  <a:tcPr marL="36000" marR="36000" marT="3223" marB="0" anchor="ctr"/>
                </a:tc>
                <a:tc>
                  <a:txBody>
                    <a:bodyPr/>
                    <a:lstStyle/>
                    <a:p>
                      <a:pPr marL="0" algn="ctr" defTabSz="914400" rtl="0" eaLnBrk="1" fontAlgn="ctr" latinLnBrk="0" hangingPunct="1">
                        <a:buNone/>
                      </a:pPr>
                      <a:r>
                        <a:rPr lang="en-US" sz="900" u="none" strike="noStrike" kern="1200">
                          <a:solidFill>
                            <a:schemeClr val="dk1"/>
                          </a:solidFill>
                          <a:effectLst/>
                          <a:latin typeface="+mn-lt"/>
                          <a:ea typeface="+mn-ea"/>
                          <a:cs typeface="+mn-cs"/>
                        </a:rPr>
                        <a:t>5 mins</a:t>
                      </a:r>
                    </a:p>
                  </a:txBody>
                  <a:tcPr marL="36000" marR="36000" marT="3223" marB="0" anchor="ctr"/>
                </a:tc>
                <a:extLst>
                  <a:ext uri="{0D108BD9-81ED-4DB2-BD59-A6C34878D82A}">
                    <a16:rowId xmlns:a16="http://schemas.microsoft.com/office/drawing/2014/main" val="3218533231"/>
                  </a:ext>
                </a:extLst>
              </a:tr>
            </a:tbl>
          </a:graphicData>
        </a:graphic>
      </p:graphicFrame>
    </p:spTree>
    <p:extLst>
      <p:ext uri="{BB962C8B-B14F-4D97-AF65-F5344CB8AC3E}">
        <p14:creationId xmlns:p14="http://schemas.microsoft.com/office/powerpoint/2010/main" val="110895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DBE2F2B-0DC7-50F7-BE63-71A47B52A4BC}"/>
              </a:ext>
            </a:extLst>
          </p:cNvPr>
          <p:cNvGraphicFramePr>
            <a:graphicFrameLocks noChangeAspect="1"/>
          </p:cNvGraphicFramePr>
          <p:nvPr>
            <p:custDataLst>
              <p:tags r:id="rId1"/>
            </p:custDataLst>
            <p:extLst>
              <p:ext uri="{D42A27DB-BD31-4B8C-83A1-F6EECF244321}">
                <p14:modId xmlns:p14="http://schemas.microsoft.com/office/powerpoint/2010/main" val="5657758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think-cell data - do not delete" hidden="1">
                        <a:extLst>
                          <a:ext uri="{FF2B5EF4-FFF2-40B4-BE49-F238E27FC236}">
                            <a16:creationId xmlns:a16="http://schemas.microsoft.com/office/drawing/2014/main" id="{5DBE2F2B-0DC7-50F7-BE63-71A47B52A4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9" name="Picture 58">
            <a:extLst>
              <a:ext uri="{FF2B5EF4-FFF2-40B4-BE49-F238E27FC236}">
                <a16:creationId xmlns:a16="http://schemas.microsoft.com/office/drawing/2014/main" id="{BAC83514-962E-9627-01D1-875BB88C67D4}"/>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0" y="4624194"/>
            <a:ext cx="12192000" cy="1286056"/>
          </a:xfrm>
          <a:prstGeom prst="rect">
            <a:avLst/>
          </a:prstGeom>
          <a:solidFill>
            <a:srgbClr val="FFFFFF"/>
          </a:solidFill>
          <a:ln>
            <a:noFill/>
          </a:ln>
        </p:spPr>
      </p:pic>
      <p:pic>
        <p:nvPicPr>
          <p:cNvPr id="54" name="Picture 53">
            <a:extLst>
              <a:ext uri="{FF2B5EF4-FFF2-40B4-BE49-F238E27FC236}">
                <a16:creationId xmlns:a16="http://schemas.microsoft.com/office/drawing/2014/main" id="{A9DC3B80-E37A-70D9-87EC-BA132DF9AA1A}"/>
              </a:ext>
            </a:extLst>
          </p:cNvPr>
          <p:cNvPicPr>
            <a:picLocks noChangeAspect="1"/>
          </p:cNvPicPr>
          <p:nvPr/>
        </p:nvPicPr>
        <p:blipFill rotWithShape="1">
          <a:blip r:embed="rId5" cstate="screen">
            <a:alphaModFix amt="44000"/>
            <a:duotone>
              <a:schemeClr val="bg2">
                <a:shade val="45000"/>
                <a:satMod val="135000"/>
              </a:schemeClr>
              <a:prstClr val="white"/>
            </a:duotone>
            <a:extLst>
              <a:ext uri="{BEBA8EAE-BF5A-486C-A8C5-ECC9F3942E4B}">
                <a14:imgProps xmlns:a14="http://schemas.microsoft.com/office/drawing/2010/main">
                  <a14:imgLayer r:embed="rId6">
                    <a14:imgEffect>
                      <a14:saturation sat="300000"/>
                    </a14:imgEffect>
                  </a14:imgLayer>
                </a14:imgProps>
              </a:ext>
              <a:ext uri="{28A0092B-C50C-407E-A947-70E740481C1C}">
                <a14:useLocalDpi xmlns:a14="http://schemas.microsoft.com/office/drawing/2010/main"/>
              </a:ext>
            </a:extLst>
          </a:blip>
          <a:srcRect l="19344" t="-1" r="12354" b="-5666"/>
          <a:stretch/>
        </p:blipFill>
        <p:spPr bwMode="auto">
          <a:xfrm>
            <a:off x="0" y="2040769"/>
            <a:ext cx="12192000" cy="502530"/>
          </a:xfrm>
          <a:prstGeom prst="rect">
            <a:avLst/>
          </a:prstGeom>
          <a:solidFill>
            <a:srgbClr val="FFFFFF"/>
          </a:solidFill>
          <a:ln>
            <a:noFill/>
          </a:ln>
        </p:spPr>
      </p:pic>
      <p:sp>
        <p:nvSpPr>
          <p:cNvPr id="2" name="Title 1">
            <a:extLst>
              <a:ext uri="{FF2B5EF4-FFF2-40B4-BE49-F238E27FC236}">
                <a16:creationId xmlns:a16="http://schemas.microsoft.com/office/drawing/2014/main" id="{8F5DB927-A222-CEC4-71E4-3332E020EC99}"/>
              </a:ext>
            </a:extLst>
          </p:cNvPr>
          <p:cNvSpPr>
            <a:spLocks noGrp="1"/>
          </p:cNvSpPr>
          <p:nvPr>
            <p:ph type="title"/>
          </p:nvPr>
        </p:nvSpPr>
        <p:spPr/>
        <p:txBody>
          <a:bodyPr vert="horz"/>
          <a:lstStyle/>
          <a:p>
            <a:r>
              <a:rPr lang="en-US"/>
              <a:t>Finance Baseline Overview</a:t>
            </a:r>
            <a:endParaRPr lang="en-AE"/>
          </a:p>
        </p:txBody>
      </p:sp>
      <p:sp>
        <p:nvSpPr>
          <p:cNvPr id="3" name="Slide Number Placeholder 2">
            <a:extLst>
              <a:ext uri="{FF2B5EF4-FFF2-40B4-BE49-F238E27FC236}">
                <a16:creationId xmlns:a16="http://schemas.microsoft.com/office/drawing/2014/main" id="{41F232B5-8151-62BB-4908-635EA4FCA3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5D68DA-F15D-0F40-9055-781099452C22}" type="slidenum">
              <a:rPr kumimoji="0" lang="en-SA" sz="1200" b="0" i="0" u="none" strike="noStrike" kern="1200" cap="none" spc="0" normalizeH="0" baseline="0" noProof="0" smtClean="0">
                <a:ln>
                  <a:noFill/>
                </a:ln>
                <a:solidFill>
                  <a:srgbClr val="10069E">
                    <a:tint val="82000"/>
                  </a:srgbClr>
                </a:solidFill>
                <a:effectLst/>
                <a:uLnTx/>
                <a:uFillTx/>
                <a:latin typeface="Montserrat"/>
                <a:ea typeface="+mn-ea"/>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SA" sz="1200" b="0" i="0" u="none" strike="noStrike" kern="1200" cap="none" spc="0" normalizeH="0" baseline="0" noProof="0">
              <a:ln>
                <a:noFill/>
              </a:ln>
              <a:solidFill>
                <a:srgbClr val="10069E">
                  <a:tint val="82000"/>
                </a:srgbClr>
              </a:solidFill>
              <a:effectLst/>
              <a:uLnTx/>
              <a:uFillTx/>
              <a:latin typeface="Montserrat"/>
              <a:ea typeface="+mn-ea"/>
            </a:endParaRPr>
          </a:p>
        </p:txBody>
      </p:sp>
      <p:sp>
        <p:nvSpPr>
          <p:cNvPr id="46" name="TextBox 45">
            <a:extLst>
              <a:ext uri="{FF2B5EF4-FFF2-40B4-BE49-F238E27FC236}">
                <a16:creationId xmlns:a16="http://schemas.microsoft.com/office/drawing/2014/main" id="{36B1E9F8-C2C5-68BC-058A-F19515D8D3AD}"/>
              </a:ext>
            </a:extLst>
          </p:cNvPr>
          <p:cNvSpPr txBox="1"/>
          <p:nvPr/>
        </p:nvSpPr>
        <p:spPr>
          <a:xfrm>
            <a:off x="318000" y="1180458"/>
            <a:ext cx="3958215" cy="436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algn="ctr">
              <a:defRPr sz="1400" b="1">
                <a:solidFill>
                  <a:srgbClr val="FF0000"/>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0069E"/>
                </a:solidFill>
                <a:effectLst/>
                <a:uLnTx/>
                <a:uFillTx/>
                <a:latin typeface="Montserrat SemiBold"/>
                <a:ea typeface="+mn-ea"/>
              </a:rPr>
              <a:t>Key metrics</a:t>
            </a:r>
          </a:p>
        </p:txBody>
      </p:sp>
      <p:cxnSp>
        <p:nvCxnSpPr>
          <p:cNvPr id="47" name="Straight Connector 46">
            <a:extLst>
              <a:ext uri="{FF2B5EF4-FFF2-40B4-BE49-F238E27FC236}">
                <a16:creationId xmlns:a16="http://schemas.microsoft.com/office/drawing/2014/main" id="{E758C55F-44CC-7206-7E97-65B8E424EE85}"/>
              </a:ext>
            </a:extLst>
          </p:cNvPr>
          <p:cNvCxnSpPr>
            <a:cxnSpLocks/>
          </p:cNvCxnSpPr>
          <p:nvPr/>
        </p:nvCxnSpPr>
        <p:spPr>
          <a:xfrm flipH="1">
            <a:off x="449421" y="1616834"/>
            <a:ext cx="491373" cy="0"/>
          </a:xfrm>
          <a:prstGeom prst="line">
            <a:avLst/>
          </a:prstGeom>
          <a:ln w="5715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A3DD6AA3-7463-1D22-BDA3-063D0131CCBB}"/>
              </a:ext>
            </a:extLst>
          </p:cNvPr>
          <p:cNvSpPr/>
          <p:nvPr/>
        </p:nvSpPr>
        <p:spPr>
          <a:xfrm>
            <a:off x="1063352" y="1924665"/>
            <a:ext cx="2343859"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4</a:t>
            </a:r>
            <a:r>
              <a:rPr kumimoji="0" lang="en-US" sz="1200" b="0" i="0" u="none" strike="noStrike" kern="1200" cap="none" spc="0" normalizeH="0" baseline="0" noProof="0">
                <a:ln>
                  <a:noFill/>
                </a:ln>
                <a:solidFill>
                  <a:srgbClr val="10069E"/>
                </a:solidFill>
                <a:effectLst/>
                <a:uLnTx/>
                <a:uFillTx/>
                <a:latin typeface="Montserrat"/>
                <a:ea typeface="+mn-ea"/>
              </a:rPr>
              <a:t> dedicated FTEs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0069E"/>
                </a:solidFill>
                <a:latin typeface="Montserrat"/>
              </a:rPr>
              <a:t>7</a:t>
            </a:r>
            <a:r>
              <a:rPr lang="en-US" sz="1200">
                <a:solidFill>
                  <a:srgbClr val="10069E"/>
                </a:solidFill>
                <a:latin typeface="Montserrat"/>
              </a:rPr>
              <a:t> consultants</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51" name="Rectangle: Rounded Corners 50">
            <a:extLst>
              <a:ext uri="{FF2B5EF4-FFF2-40B4-BE49-F238E27FC236}">
                <a16:creationId xmlns:a16="http://schemas.microsoft.com/office/drawing/2014/main" id="{52ACFAF3-36D9-466B-E3F1-DCAE6B4D3F31}"/>
              </a:ext>
            </a:extLst>
          </p:cNvPr>
          <p:cNvSpPr/>
          <p:nvPr/>
        </p:nvSpPr>
        <p:spPr>
          <a:xfrm>
            <a:off x="6373306" y="1924665"/>
            <a:ext cx="2343859"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0069E"/>
                </a:solidFill>
                <a:effectLst/>
                <a:uLnTx/>
                <a:uFillTx/>
                <a:latin typeface="Montserrat"/>
                <a:ea typeface="+mn-ea"/>
              </a:rPr>
              <a:t>total finance transactions annually</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56" name="Rectangle: Rounded Corners 55">
            <a:extLst>
              <a:ext uri="{FF2B5EF4-FFF2-40B4-BE49-F238E27FC236}">
                <a16:creationId xmlns:a16="http://schemas.microsoft.com/office/drawing/2014/main" id="{88FD9FE3-0FA5-0168-C64B-0AAFE5DB65DF}"/>
              </a:ext>
            </a:extLst>
          </p:cNvPr>
          <p:cNvSpPr/>
          <p:nvPr/>
        </p:nvSpPr>
        <p:spPr>
          <a:xfrm>
            <a:off x="3718329" y="1924665"/>
            <a:ext cx="2343859"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20</a:t>
            </a:r>
            <a:r>
              <a:rPr kumimoji="0" lang="en-US" sz="1200" b="0" i="0" u="none" strike="noStrike" kern="1200" cap="none" spc="0" normalizeH="0" baseline="0" noProof="0">
                <a:ln>
                  <a:noFill/>
                </a:ln>
                <a:solidFill>
                  <a:srgbClr val="10069E"/>
                </a:solidFill>
                <a:effectLst/>
                <a:uLnTx/>
                <a:uFillTx/>
                <a:latin typeface="Montserrat"/>
                <a:ea typeface="+mn-ea"/>
              </a:rPr>
              <a:t> clients in total</a:t>
            </a:r>
            <a:endParaRPr kumimoji="0" lang="en-AE" sz="1200" b="0" i="0" u="none" strike="noStrike" kern="1200" cap="none" spc="0" normalizeH="0" baseline="0" noProof="0">
              <a:ln>
                <a:noFill/>
              </a:ln>
              <a:solidFill>
                <a:srgbClr val="10069E"/>
              </a:solidFill>
              <a:effectLst/>
              <a:uLnTx/>
              <a:uFillTx/>
              <a:latin typeface="Montserrat"/>
              <a:ea typeface="+mn-ea"/>
            </a:endParaRPr>
          </a:p>
        </p:txBody>
      </p:sp>
      <p:sp>
        <p:nvSpPr>
          <p:cNvPr id="52" name="Rectangle 51">
            <a:extLst>
              <a:ext uri="{FF2B5EF4-FFF2-40B4-BE49-F238E27FC236}">
                <a16:creationId xmlns:a16="http://schemas.microsoft.com/office/drawing/2014/main" id="{C3464F4C-9B92-826A-9D5D-27CE45FDAF69}"/>
              </a:ext>
            </a:extLst>
          </p:cNvPr>
          <p:cNvSpPr/>
          <p:nvPr/>
        </p:nvSpPr>
        <p:spPr>
          <a:xfrm>
            <a:off x="847553" y="4507980"/>
            <a:ext cx="4354035" cy="1621151"/>
          </a:xfrm>
          <a:prstGeom prst="rect">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Font typeface="Arial" panose="020B0604020202020204" pitchFamily="34" charset="0"/>
              <a:buChar char="•"/>
            </a:pPr>
            <a:r>
              <a:rPr lang="en-US" sz="1200">
                <a:solidFill>
                  <a:schemeClr val="tx1"/>
                </a:solidFill>
              </a:rPr>
              <a:t>~9,000 AP &amp; Payment transactions annually</a:t>
            </a:r>
          </a:p>
          <a:p>
            <a:pPr marL="285750" indent="-285750">
              <a:spcAft>
                <a:spcPts val="600"/>
              </a:spcAft>
              <a:buFont typeface="Arial" panose="020B0604020202020204" pitchFamily="34" charset="0"/>
              <a:buChar char="•"/>
            </a:pPr>
            <a:r>
              <a:rPr lang="en-US" sz="1200">
                <a:solidFill>
                  <a:schemeClr val="tx1"/>
                </a:solidFill>
              </a:rPr>
              <a:t>13 steps (5 AP + 8 Payment)</a:t>
            </a:r>
          </a:p>
          <a:p>
            <a:pPr marL="285750" indent="-285750">
              <a:spcAft>
                <a:spcPts val="600"/>
              </a:spcAft>
              <a:buFont typeface="Arial" panose="020B0604020202020204" pitchFamily="34" charset="0"/>
              <a:buChar char="•"/>
            </a:pPr>
            <a:r>
              <a:rPr lang="en-US" sz="1200">
                <a:solidFill>
                  <a:schemeClr val="tx1"/>
                </a:solidFill>
              </a:rPr>
              <a:t>Avg. 80–120 mins per transaction</a:t>
            </a:r>
          </a:p>
          <a:p>
            <a:pPr marL="285750" indent="-285750">
              <a:spcAft>
                <a:spcPts val="600"/>
              </a:spcAft>
              <a:buFont typeface="Arial" panose="020B0604020202020204" pitchFamily="34" charset="0"/>
              <a:buChar char="•"/>
            </a:pPr>
            <a:r>
              <a:rPr lang="en-US" sz="1200">
                <a:solidFill>
                  <a:schemeClr val="tx1"/>
                </a:solidFill>
              </a:rPr>
              <a:t>Fully dependent on client + Tasama manual effort</a:t>
            </a:r>
            <a:endParaRPr lang="en-AE" sz="1200">
              <a:solidFill>
                <a:schemeClr val="tx1"/>
              </a:solidFill>
            </a:endParaRPr>
          </a:p>
        </p:txBody>
      </p:sp>
      <p:sp>
        <p:nvSpPr>
          <p:cNvPr id="53" name="Rectangle 52">
            <a:extLst>
              <a:ext uri="{FF2B5EF4-FFF2-40B4-BE49-F238E27FC236}">
                <a16:creationId xmlns:a16="http://schemas.microsoft.com/office/drawing/2014/main" id="{276DFE59-EF84-5DED-461F-2AF5E49371CA}"/>
              </a:ext>
            </a:extLst>
          </p:cNvPr>
          <p:cNvSpPr/>
          <p:nvPr/>
        </p:nvSpPr>
        <p:spPr>
          <a:xfrm>
            <a:off x="6990414" y="4507980"/>
            <a:ext cx="4354035" cy="1621151"/>
          </a:xfrm>
          <a:prstGeom prst="rect">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Font typeface="Arial" panose="020B0604020202020204" pitchFamily="34" charset="0"/>
              <a:buChar char="•"/>
            </a:pPr>
            <a:r>
              <a:rPr lang="en-US" sz="1200">
                <a:solidFill>
                  <a:schemeClr val="tx1"/>
                </a:solidFill>
              </a:rPr>
              <a:t>~9,000 AP &amp; Payment transactions annually</a:t>
            </a:r>
          </a:p>
          <a:p>
            <a:pPr marL="285750" indent="-285750">
              <a:spcAft>
                <a:spcPts val="600"/>
              </a:spcAft>
              <a:buFont typeface="Arial" panose="020B0604020202020204" pitchFamily="34" charset="0"/>
              <a:buChar char="•"/>
            </a:pPr>
            <a:r>
              <a:rPr lang="en-US" sz="1200">
                <a:solidFill>
                  <a:schemeClr val="tx1"/>
                </a:solidFill>
              </a:rPr>
              <a:t>15 steps (6 AP + 9 Payment)</a:t>
            </a:r>
          </a:p>
          <a:p>
            <a:pPr marL="285750" indent="-285750">
              <a:spcAft>
                <a:spcPts val="600"/>
              </a:spcAft>
              <a:buFont typeface="Arial" panose="020B0604020202020204" pitchFamily="34" charset="0"/>
              <a:buChar char="•"/>
            </a:pPr>
            <a:r>
              <a:rPr lang="en-US" sz="1200">
                <a:solidFill>
                  <a:schemeClr val="tx1"/>
                </a:solidFill>
              </a:rPr>
              <a:t>Avg. 30–60 mins per transaction</a:t>
            </a:r>
          </a:p>
          <a:p>
            <a:pPr marL="285750" indent="-285750">
              <a:spcAft>
                <a:spcPts val="600"/>
              </a:spcAft>
              <a:buFont typeface="Arial" panose="020B0604020202020204" pitchFamily="34" charset="0"/>
              <a:buChar char="•"/>
            </a:pPr>
            <a:r>
              <a:rPr lang="en-US" sz="1200">
                <a:solidFill>
                  <a:schemeClr val="tx1"/>
                </a:solidFill>
              </a:rPr>
              <a:t>Automated workflow approval, posting &amp; reconciliation</a:t>
            </a:r>
            <a:endParaRPr lang="en-AE" sz="1200">
              <a:solidFill>
                <a:schemeClr val="tx1"/>
              </a:solidFill>
            </a:endParaRPr>
          </a:p>
        </p:txBody>
      </p:sp>
      <p:sp>
        <p:nvSpPr>
          <p:cNvPr id="57" name="Rectangle 56">
            <a:extLst>
              <a:ext uri="{FF2B5EF4-FFF2-40B4-BE49-F238E27FC236}">
                <a16:creationId xmlns:a16="http://schemas.microsoft.com/office/drawing/2014/main" id="{A38E3E47-C45D-BC02-44B6-C0CD995837B1}"/>
              </a:ext>
            </a:extLst>
          </p:cNvPr>
          <p:cNvSpPr/>
          <p:nvPr/>
        </p:nvSpPr>
        <p:spPr>
          <a:xfrm>
            <a:off x="847553" y="3979716"/>
            <a:ext cx="4354035" cy="3442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E" sz="1400" b="1">
                <a:solidFill>
                  <a:schemeClr val="bg1"/>
                </a:solidFill>
              </a:rPr>
              <a:t>Manual process </a:t>
            </a:r>
          </a:p>
        </p:txBody>
      </p:sp>
      <p:sp>
        <p:nvSpPr>
          <p:cNvPr id="58" name="Rectangle 57">
            <a:extLst>
              <a:ext uri="{FF2B5EF4-FFF2-40B4-BE49-F238E27FC236}">
                <a16:creationId xmlns:a16="http://schemas.microsoft.com/office/drawing/2014/main" id="{856076E4-3160-7068-754A-75027E4BA01E}"/>
              </a:ext>
            </a:extLst>
          </p:cNvPr>
          <p:cNvSpPr/>
          <p:nvPr/>
        </p:nvSpPr>
        <p:spPr>
          <a:xfrm>
            <a:off x="6990414" y="3979716"/>
            <a:ext cx="4354035" cy="3442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E" sz="1400" b="1">
                <a:solidFill>
                  <a:schemeClr val="bg1"/>
                </a:solidFill>
              </a:rPr>
              <a:t>ERP Process</a:t>
            </a:r>
          </a:p>
        </p:txBody>
      </p:sp>
      <p:sp>
        <p:nvSpPr>
          <p:cNvPr id="61" name="Rectangle: Rounded Corners 60">
            <a:extLst>
              <a:ext uri="{FF2B5EF4-FFF2-40B4-BE49-F238E27FC236}">
                <a16:creationId xmlns:a16="http://schemas.microsoft.com/office/drawing/2014/main" id="{4543D2DF-88AF-83BC-BEA3-E2B1F4AFC01A}"/>
              </a:ext>
            </a:extLst>
          </p:cNvPr>
          <p:cNvSpPr/>
          <p:nvPr/>
        </p:nvSpPr>
        <p:spPr>
          <a:xfrm>
            <a:off x="9028282" y="1924665"/>
            <a:ext cx="2343859" cy="734738"/>
          </a:xfrm>
          <a:prstGeom prst="roundRect">
            <a:avLst>
              <a:gd name="adj" fmla="val 9307"/>
            </a:avLst>
          </a:prstGeom>
          <a:solidFill>
            <a:schemeClr val="bg1"/>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0069E"/>
                </a:solidFill>
                <a:effectLst/>
                <a:uLnTx/>
                <a:uFillTx/>
                <a:latin typeface="Montserrat"/>
                <a:ea typeface="+mn-ea"/>
              </a:rPr>
              <a:t>~60% (≈18,000) </a:t>
            </a:r>
            <a:r>
              <a:rPr lang="en-US" sz="1200">
                <a:solidFill>
                  <a:srgbClr val="10069E"/>
                </a:solidFill>
                <a:latin typeface="Montserrat"/>
              </a:rPr>
              <a:t>are Accounts Payable &amp; Payments</a:t>
            </a:r>
            <a:endParaRPr lang="en-AE" sz="1200">
              <a:solidFill>
                <a:srgbClr val="10069E"/>
              </a:solidFill>
              <a:latin typeface="Montserrat"/>
            </a:endParaRPr>
          </a:p>
        </p:txBody>
      </p:sp>
      <p:sp>
        <p:nvSpPr>
          <p:cNvPr id="62" name="Arc 61">
            <a:extLst>
              <a:ext uri="{FF2B5EF4-FFF2-40B4-BE49-F238E27FC236}">
                <a16:creationId xmlns:a16="http://schemas.microsoft.com/office/drawing/2014/main" id="{8D7F75A9-9670-0046-8C63-4D16EE41E219}"/>
              </a:ext>
            </a:extLst>
          </p:cNvPr>
          <p:cNvSpPr/>
          <p:nvPr/>
        </p:nvSpPr>
        <p:spPr>
          <a:xfrm>
            <a:off x="8247911" y="1707039"/>
            <a:ext cx="938507" cy="596208"/>
          </a:xfrm>
          <a:prstGeom prst="arc">
            <a:avLst>
              <a:gd name="adj1" fmla="val 12949568"/>
              <a:gd name="adj2" fmla="val 19749779"/>
            </a:avLst>
          </a:prstGeom>
          <a:ln w="12700">
            <a:solidFill>
              <a:schemeClr val="accent1"/>
            </a:solidFill>
            <a:prstDash val="sysDot"/>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6"/>
              </a:solidFill>
              <a:effectLst/>
              <a:uLnTx/>
              <a:uFillTx/>
              <a:ea typeface="+mn-ea"/>
            </a:endParaRPr>
          </a:p>
        </p:txBody>
      </p:sp>
      <p:sp>
        <p:nvSpPr>
          <p:cNvPr id="66" name="Rectangle 65">
            <a:extLst>
              <a:ext uri="{FF2B5EF4-FFF2-40B4-BE49-F238E27FC236}">
                <a16:creationId xmlns:a16="http://schemas.microsoft.com/office/drawing/2014/main" id="{0CBC725E-24B7-1986-AE49-78E9E945049D}"/>
              </a:ext>
            </a:extLst>
          </p:cNvPr>
          <p:cNvSpPr/>
          <p:nvPr/>
        </p:nvSpPr>
        <p:spPr>
          <a:xfrm>
            <a:off x="926928" y="2930522"/>
            <a:ext cx="10338145" cy="5247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Out of ~30,000 annual finance transactions, ~60% (~18,000) relate to Accounts Payable and Payments. This baseline focuses only on these processes. Around half of the clients (~9,000 transactions) are processed manually and half (~9,000 transactions) through ERP</a:t>
            </a:r>
            <a:endParaRPr lang="en-AE" sz="1200">
              <a:solidFill>
                <a:schemeClr val="tx1"/>
              </a:solidFill>
            </a:endParaRPr>
          </a:p>
        </p:txBody>
      </p:sp>
    </p:spTree>
    <p:extLst>
      <p:ext uri="{BB962C8B-B14F-4D97-AF65-F5344CB8AC3E}">
        <p14:creationId xmlns:p14="http://schemas.microsoft.com/office/powerpoint/2010/main" val="19132979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44">
      <a:dk1>
        <a:srgbClr val="10069E"/>
      </a:dk1>
      <a:lt1>
        <a:srgbClr val="FEFFFE"/>
      </a:lt1>
      <a:dk2>
        <a:srgbClr val="FEFFFE"/>
      </a:dk2>
      <a:lt2>
        <a:srgbClr val="10069E"/>
      </a:lt2>
      <a:accent1>
        <a:srgbClr val="10069E"/>
      </a:accent1>
      <a:accent2>
        <a:srgbClr val="B59D5E"/>
      </a:accent2>
      <a:accent3>
        <a:srgbClr val="8DC7E8"/>
      </a:accent3>
      <a:accent4>
        <a:srgbClr val="E77622"/>
      </a:accent4>
      <a:accent5>
        <a:srgbClr val="ADDC91"/>
      </a:accent5>
      <a:accent6>
        <a:srgbClr val="000000"/>
      </a:accent6>
      <a:hlink>
        <a:srgbClr val="10069E"/>
      </a:hlink>
      <a:folHlink>
        <a:srgbClr val="E77622"/>
      </a:folHlink>
    </a:clrScheme>
    <a:fontScheme name="TASAMA">
      <a:majorFont>
        <a:latin typeface="Montserrat SemiBold"/>
        <a:ea typeface=""/>
        <a:cs typeface="Montserrat-Arabic SemiBold"/>
      </a:majorFont>
      <a:minorFont>
        <a:latin typeface="Montserrat"/>
        <a:ea typeface=""/>
        <a:cs typeface="Montserrat-Arab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Custom 44">
      <a:dk1>
        <a:srgbClr val="10069E"/>
      </a:dk1>
      <a:lt1>
        <a:srgbClr val="FEFFFE"/>
      </a:lt1>
      <a:dk2>
        <a:srgbClr val="FEFFFE"/>
      </a:dk2>
      <a:lt2>
        <a:srgbClr val="10069E"/>
      </a:lt2>
      <a:accent1>
        <a:srgbClr val="10069E"/>
      </a:accent1>
      <a:accent2>
        <a:srgbClr val="B59D5E"/>
      </a:accent2>
      <a:accent3>
        <a:srgbClr val="8DC7E8"/>
      </a:accent3>
      <a:accent4>
        <a:srgbClr val="E77622"/>
      </a:accent4>
      <a:accent5>
        <a:srgbClr val="ADDC91"/>
      </a:accent5>
      <a:accent6>
        <a:srgbClr val="000000"/>
      </a:accent6>
      <a:hlink>
        <a:srgbClr val="10069E"/>
      </a:hlink>
      <a:folHlink>
        <a:srgbClr val="E77622"/>
      </a:folHlink>
    </a:clrScheme>
    <a:fontScheme name="TASAMA">
      <a:majorFont>
        <a:latin typeface="Montserrat SemiBold"/>
        <a:ea typeface=""/>
        <a:cs typeface="Montserrat-Arabic SemiBold"/>
      </a:majorFont>
      <a:minorFont>
        <a:latin typeface="Montserrat"/>
        <a:ea typeface=""/>
        <a:cs typeface="Montserrat-Arab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BB4F47B96B8941830C1450786EA862" ma:contentTypeVersion="10" ma:contentTypeDescription="Create a new document." ma:contentTypeScope="" ma:versionID="57daeae7f835a3f9a5994f5f682b20f5">
  <xsd:schema xmlns:xsd="http://www.w3.org/2001/XMLSchema" xmlns:xs="http://www.w3.org/2001/XMLSchema" xmlns:p="http://schemas.microsoft.com/office/2006/metadata/properties" xmlns:ns2="c4a3730b-58e3-4551-8993-70dd74205637" xmlns:ns3="523addb5-77fa-49f1-bfbd-9e7ab34d8e2d" targetNamespace="http://schemas.microsoft.com/office/2006/metadata/properties" ma:root="true" ma:fieldsID="7efff71ff5d10bc3cbf66267297d2a73" ns2:_="" ns3:_="">
    <xsd:import namespace="c4a3730b-58e3-4551-8993-70dd74205637"/>
    <xsd:import namespace="523addb5-77fa-49f1-bfbd-9e7ab34d8e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3730b-58e3-4551-8993-70dd742056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23addb5-77fa-49f1-bfbd-9e7ab34d8e2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96adde-87da-4e87-9c46-92c87229975b}" ma:internalName="TaxCatchAll" ma:showField="CatchAllData" ma:web="523addb5-77fa-49f1-bfbd-9e7ab34d8e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4a3730b-58e3-4551-8993-70dd74205637" xsi:nil="true"/>
    <TaxCatchAll xmlns="523addb5-77fa-49f1-bfbd-9e7ab34d8e2d" xsi:nil="true"/>
  </documentManagement>
</p:properties>
</file>

<file path=customXml/itemProps1.xml><?xml version="1.0" encoding="utf-8"?>
<ds:datastoreItem xmlns:ds="http://schemas.openxmlformats.org/officeDocument/2006/customXml" ds:itemID="{E8771436-382C-42EF-9061-9661D5A3A0D4}">
  <ds:schemaRefs>
    <ds:schemaRef ds:uri="523addb5-77fa-49f1-bfbd-9e7ab34d8e2d"/>
    <ds:schemaRef ds:uri="c4a3730b-58e3-4551-8993-70dd742056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77E69CC-B006-45CD-B663-C40623545D49}">
  <ds:schemaRefs>
    <ds:schemaRef ds:uri="http://schemas.microsoft.com/sharepoint/v3/contenttype/forms"/>
  </ds:schemaRefs>
</ds:datastoreItem>
</file>

<file path=customXml/itemProps3.xml><?xml version="1.0" encoding="utf-8"?>
<ds:datastoreItem xmlns:ds="http://schemas.openxmlformats.org/officeDocument/2006/customXml" ds:itemID="{44819BB2-F728-4584-BF24-8A2FC086104E}">
  <ds:schemaRefs>
    <ds:schemaRef ds:uri="523addb5-77fa-49f1-bfbd-9e7ab34d8e2d"/>
    <ds:schemaRef ds:uri="c4a3730b-58e3-4551-8993-70dd7420563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2719</Words>
  <Application>Microsoft Office PowerPoint</Application>
  <PresentationFormat>Widescreen</PresentationFormat>
  <Paragraphs>543</Paragraphs>
  <Slides>23</Slides>
  <Notes>10</Notes>
  <HiddenSlides>4</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23</vt:i4>
      </vt:variant>
    </vt:vector>
  </HeadingPairs>
  <TitlesOfParts>
    <vt:vector size="36" baseType="lpstr">
      <vt:lpstr>Alexandria SemiBold</vt:lpstr>
      <vt:lpstr>Aptos</vt:lpstr>
      <vt:lpstr>Arial</vt:lpstr>
      <vt:lpstr>Arial Nova Light</vt:lpstr>
      <vt:lpstr>Fund Light</vt:lpstr>
      <vt:lpstr>Ink Free</vt:lpstr>
      <vt:lpstr>Montserrat</vt:lpstr>
      <vt:lpstr>Montserrat SemiBold</vt:lpstr>
      <vt:lpstr>Montserrat-Arabic</vt:lpstr>
      <vt:lpstr>Open Sans Light</vt:lpstr>
      <vt:lpstr>Wingdings</vt:lpstr>
      <vt:lpstr>1_Office Theme</vt:lpstr>
      <vt:lpstr>2_Office Theme</vt:lpstr>
      <vt:lpstr>Finance Baseline</vt:lpstr>
      <vt:lpstr>Finance Baseline Overview</vt:lpstr>
      <vt:lpstr>1. Detailed process for manual clients</vt:lpstr>
      <vt:lpstr>1a. Accounts Payable – Manual </vt:lpstr>
      <vt:lpstr>1b. Payment – Manual </vt:lpstr>
      <vt:lpstr>2. Detailed process for ERP clients</vt:lpstr>
      <vt:lpstr>2a. Accounts Payable – ERP   </vt:lpstr>
      <vt:lpstr>2b. Payment – ERP </vt:lpstr>
      <vt:lpstr>F&amp;A Workflows</vt:lpstr>
      <vt:lpstr>Finance &amp; Accounting Processes – General Ledger</vt:lpstr>
      <vt:lpstr>Finance &amp; Accounting Processes – General Ledger</vt:lpstr>
      <vt:lpstr>Finance &amp; Accounting Processes – General Ledger</vt:lpstr>
      <vt:lpstr>Finance &amp; Accounting Processes – Accounts Payable and Accounts Receivable</vt:lpstr>
      <vt:lpstr>Finance &amp; Accounting Processes – Accounts Payable and Accounts Receivable</vt:lpstr>
      <vt:lpstr>Finance &amp; Accounting Processes – Period End Closing and Financial Reporting</vt:lpstr>
      <vt:lpstr>Finance &amp; Accounting Processes – Period End Closing and Financial Reporting</vt:lpstr>
      <vt:lpstr>Finance &amp; Accounting Processes – Period End Closing and Financial Reporting</vt:lpstr>
      <vt:lpstr>Finance &amp; Accounting Processes – ZATCA</vt:lpstr>
      <vt:lpstr>Finance &amp; Accounting Processes – ZATCA</vt:lpstr>
      <vt:lpstr>Finance Baseline Overview</vt:lpstr>
      <vt:lpstr>Accounts Payable – Manual Process </vt:lpstr>
      <vt:lpstr>Accounts Payable – ERP Process </vt:lpstr>
      <vt:lpstr>Finance Baseline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MESHAL ALMUIJEL</dc:creator>
  <cp:lastModifiedBy>Firat Sik</cp:lastModifiedBy>
  <cp:revision>1</cp:revision>
  <dcterms:created xsi:type="dcterms:W3CDTF">2025-03-06T11:52:29Z</dcterms:created>
  <dcterms:modified xsi:type="dcterms:W3CDTF">2025-11-17T14:16:12Z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0x01010037BB4F47B96B8941830C1450786EA862</vt:lpwstr>
  </property>
</Properties>
</file>